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81563afe0496e" /><Relationship Type="http://schemas.openxmlformats.org/officeDocument/2006/relationships/extended-properties" Target="/docProps/app.xml" Id="Rb69f7d86742142bf" /><Relationship Type="http://schemas.openxmlformats.org/officeDocument/2006/relationships/officeDocument" Target="/ppt/presentation.xml" Id="Rc9c04e7b790448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d546f16fb249ef"/>
  </p:sldMasterIdLst>
  <p:notesMasterIdLst>
    <p:notesMasterId xmlns:r="http://schemas.openxmlformats.org/officeDocument/2006/relationships" r:id="Rbac6a2cad01c498e"/>
  </p:notesMasterIdLst>
  <p:sldIdLst>
    <p:sldId xmlns:r="http://schemas.openxmlformats.org/officeDocument/2006/relationships" id="256" r:id="R6fead28688c84e80"/>
    <p:sldId xmlns:r="http://schemas.openxmlformats.org/officeDocument/2006/relationships" id="257" r:id="Rb6adbc09b24d4d10"/>
    <p:sldId xmlns:r="http://schemas.openxmlformats.org/officeDocument/2006/relationships" id="258" r:id="Rdad7ebd922344253"/>
    <p:sldId xmlns:r="http://schemas.openxmlformats.org/officeDocument/2006/relationships" id="259" r:id="R28836d0532f14660"/>
    <p:sldId xmlns:r="http://schemas.openxmlformats.org/officeDocument/2006/relationships" id="260" r:id="Rcc1cbcd2c0cb4db7"/>
    <p:sldId xmlns:r="http://schemas.openxmlformats.org/officeDocument/2006/relationships" id="261" r:id="R3f4cf95a13ad4773"/>
    <p:sldId xmlns:r="http://schemas.openxmlformats.org/officeDocument/2006/relationships" id="262" r:id="Rd4c0ea28dfd44a2f"/>
    <p:sldId xmlns:r="http://schemas.openxmlformats.org/officeDocument/2006/relationships" id="263" r:id="R4bd64619f6db4af8"/>
    <p:sldId xmlns:r="http://schemas.openxmlformats.org/officeDocument/2006/relationships" id="264" r:id="R30585c40db6f45e9"/>
    <p:sldId xmlns:r="http://schemas.openxmlformats.org/officeDocument/2006/relationships" id="265" r:id="R53eb02172c5a4e25"/>
    <p:sldId xmlns:r="http://schemas.openxmlformats.org/officeDocument/2006/relationships" id="266" r:id="R97f67f28db8a4ccf"/>
    <p:sldId xmlns:r="http://schemas.openxmlformats.org/officeDocument/2006/relationships" id="267" r:id="R1b0587f933cd47cd"/>
    <p:sldId xmlns:r="http://schemas.openxmlformats.org/officeDocument/2006/relationships" id="268" r:id="Rda28f65d79c74bae"/>
    <p:sldId xmlns:r="http://schemas.openxmlformats.org/officeDocument/2006/relationships" id="269" r:id="R67aef8c211ec4328"/>
    <p:sldId xmlns:r="http://schemas.openxmlformats.org/officeDocument/2006/relationships" id="270" r:id="R159b645bb85e4373"/>
    <p:sldId xmlns:r="http://schemas.openxmlformats.org/officeDocument/2006/relationships" id="271" r:id="R124930b8fb924404"/>
    <p:sldId xmlns:r="http://schemas.openxmlformats.org/officeDocument/2006/relationships" id="272" r:id="Rfc6fcd79c2c947bd"/>
    <p:sldId xmlns:r="http://schemas.openxmlformats.org/officeDocument/2006/relationships" id="273" r:id="Rfe4fc63f10db40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ddeee803ef44dd" /><Relationship Type="http://schemas.openxmlformats.org/officeDocument/2006/relationships/slideMaster" Target="/ppt/slideMasters/slideMaster1.xml" Id="Rf2d546f16fb249ef" /><Relationship Type="http://schemas.openxmlformats.org/officeDocument/2006/relationships/notesMaster" Target="/ppt/notesMasters/notesMaster1.xml" Id="Rbac6a2cad01c498e" /><Relationship Type="http://schemas.openxmlformats.org/officeDocument/2006/relationships/presProps" Target="/ppt/presProps.xml" Id="R8346966314ff4f81" /><Relationship Type="http://schemas.openxmlformats.org/officeDocument/2006/relationships/tableStyles" Target="/ppt/tableStyles.xml" Id="Rf886f482fd5a441c" /><Relationship Type="http://schemas.openxmlformats.org/officeDocument/2006/relationships/slide" Target="/ppt/slides/slide1.xml" Id="R6fead28688c84e80" /><Relationship Type="http://schemas.openxmlformats.org/officeDocument/2006/relationships/slide" Target="/ppt/slides/slide2.xml" Id="Rb6adbc09b24d4d10" /><Relationship Type="http://schemas.openxmlformats.org/officeDocument/2006/relationships/slide" Target="/ppt/slides/slide3.xml" Id="Rdad7ebd922344253" /><Relationship Type="http://schemas.openxmlformats.org/officeDocument/2006/relationships/slide" Target="/ppt/slides/slide4.xml" Id="R28836d0532f14660" /><Relationship Type="http://schemas.openxmlformats.org/officeDocument/2006/relationships/slide" Target="/ppt/slides/slide5.xml" Id="Rcc1cbcd2c0cb4db7" /><Relationship Type="http://schemas.openxmlformats.org/officeDocument/2006/relationships/slide" Target="/ppt/slides/slide6.xml" Id="R3f4cf95a13ad4773" /><Relationship Type="http://schemas.openxmlformats.org/officeDocument/2006/relationships/slide" Target="/ppt/slides/slide7.xml" Id="Rd4c0ea28dfd44a2f" /><Relationship Type="http://schemas.openxmlformats.org/officeDocument/2006/relationships/slide" Target="/ppt/slides/slide8.xml" Id="R4bd64619f6db4af8" /><Relationship Type="http://schemas.openxmlformats.org/officeDocument/2006/relationships/slide" Target="/ppt/slides/slide9.xml" Id="R30585c40db6f45e9" /><Relationship Type="http://schemas.openxmlformats.org/officeDocument/2006/relationships/slide" Target="/ppt/slides/slide10.xml" Id="R53eb02172c5a4e25" /><Relationship Type="http://schemas.openxmlformats.org/officeDocument/2006/relationships/slide" Target="/ppt/slides/slide11.xml" Id="R97f67f28db8a4ccf" /><Relationship Type="http://schemas.openxmlformats.org/officeDocument/2006/relationships/slide" Target="/ppt/slides/slide12.xml" Id="R1b0587f933cd47cd" /><Relationship Type="http://schemas.openxmlformats.org/officeDocument/2006/relationships/slide" Target="/ppt/slides/slide13.xml" Id="Rda28f65d79c74bae" /><Relationship Type="http://schemas.openxmlformats.org/officeDocument/2006/relationships/slide" Target="/ppt/slides/slide14.xml" Id="R67aef8c211ec4328" /><Relationship Type="http://schemas.openxmlformats.org/officeDocument/2006/relationships/slide" Target="/ppt/slides/slide15.xml" Id="R159b645bb85e4373" /><Relationship Type="http://schemas.openxmlformats.org/officeDocument/2006/relationships/slide" Target="/ppt/slides/slide16.xml" Id="R124930b8fb924404" /><Relationship Type="http://schemas.openxmlformats.org/officeDocument/2006/relationships/slide" Target="/ppt/slides/slide17.xml" Id="Rfc6fcd79c2c947bd" /><Relationship Type="http://schemas.openxmlformats.org/officeDocument/2006/relationships/slide" Target="/ppt/slides/slide18.xml" Id="Rfe4fc63f10db40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88ca002ce9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4bd10b4fc4ae9" /><Relationship Type="http://schemas.openxmlformats.org/officeDocument/2006/relationships/notesMaster" Target="/ppt/notesMasters/notesMaster1.xml" Id="Re6fdd722182147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ccdd2dd76b419b" /><Relationship Type="http://schemas.openxmlformats.org/officeDocument/2006/relationships/notesMaster" Target="/ppt/notesMasters/notesMaster1.xml" Id="Re36f405aab66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8a2f8ed6404a03" /><Relationship Type="http://schemas.openxmlformats.org/officeDocument/2006/relationships/notesMaster" Target="/ppt/notesMasters/notesMaster1.xml" Id="Ra5c80ecaf4504a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6157e0b34f46a1" /><Relationship Type="http://schemas.openxmlformats.org/officeDocument/2006/relationships/notesMaster" Target="/ppt/notesMasters/notesMaster1.xml" Id="R862a545381d549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db3448da24b09" /><Relationship Type="http://schemas.openxmlformats.org/officeDocument/2006/relationships/notesMaster" Target="/ppt/notesMasters/notesMaster1.xml" Id="Rf6360def38674d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ed55cb8e5b4edf" /><Relationship Type="http://schemas.openxmlformats.org/officeDocument/2006/relationships/notesMaster" Target="/ppt/notesMasters/notesMaster1.xml" Id="R7f3782ee8d454c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ccda287bac41c4" /><Relationship Type="http://schemas.openxmlformats.org/officeDocument/2006/relationships/notesMaster" Target="/ppt/notesMasters/notesMaster1.xml" Id="R8ea26da618c247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d0e567d9f14e32" /><Relationship Type="http://schemas.openxmlformats.org/officeDocument/2006/relationships/notesMaster" Target="/ppt/notesMasters/notesMaster1.xml" Id="R9053ae6d398c44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367d9d33ed40f9" /><Relationship Type="http://schemas.openxmlformats.org/officeDocument/2006/relationships/notesMaster" Target="/ppt/notesMasters/notesMaster1.xml" Id="Ra9706ddb16d743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e7b3f3a81a4b4b" /><Relationship Type="http://schemas.openxmlformats.org/officeDocument/2006/relationships/notesMaster" Target="/ppt/notesMasters/notesMaster1.xml" Id="R90ee3223442c4d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1f406c95ac4e3c" /><Relationship Type="http://schemas.openxmlformats.org/officeDocument/2006/relationships/notesMaster" Target="/ppt/notesMasters/notesMaster1.xml" Id="Rec77d1f1705949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6c9adf626e49ed" /><Relationship Type="http://schemas.openxmlformats.org/officeDocument/2006/relationships/notesMaster" Target="/ppt/notesMasters/notesMaster1.xml" Id="Rc101d9de2dda41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e6520418314496" /><Relationship Type="http://schemas.openxmlformats.org/officeDocument/2006/relationships/notesMaster" Target="/ppt/notesMasters/notesMaster1.xml" Id="R5a327ff6cd6346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a5c165c47d4fa9" /><Relationship Type="http://schemas.openxmlformats.org/officeDocument/2006/relationships/notesMaster" Target="/ppt/notesMasters/notesMaster1.xml" Id="R00cb8243688b4c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a2a45b324a4181" /><Relationship Type="http://schemas.openxmlformats.org/officeDocument/2006/relationships/notesMaster" Target="/ppt/notesMasters/notesMaster1.xml" Id="R631812851d7d40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bab73d355946b9" /><Relationship Type="http://schemas.openxmlformats.org/officeDocument/2006/relationships/notesMaster" Target="/ppt/notesMasters/notesMaster1.xml" Id="Rf7ddbc59c64c4e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ce7ffabc014d5b" /><Relationship Type="http://schemas.openxmlformats.org/officeDocument/2006/relationships/notesMaster" Target="/ppt/notesMasters/notesMaster1.xml" Id="R5d712233fb164a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050f56474d48af" /><Relationship Type="http://schemas.openxmlformats.org/officeDocument/2006/relationships/notesMaster" Target="/ppt/notesMasters/notesMaster1.xml" Id="R33772e605beb49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e12a96ea743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8eb8ce65145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ff7177bf44b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26e739f0b42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ceb8025c246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ee591c1b44a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C4C6D6-F929-40A2-9568-33CB6FA39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13F275-0B08-4DE8-8E16-34940D68E6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3460A5-0F37-4F46-B639-B2101025C3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C1DD52-F5D2-4A40-BA2A-0753FF3FF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79E787-B867-44B2-8BED-AB6D75C32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EC44B0-8046-4B54-A606-E6ADEE8F99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9EF0BD-29C2-4C17-B873-B726002CD5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9CB75F-4F15-40B1-B635-16E3D62A80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54E9DB-1222-4EEE-97C1-756D1E983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F718EC-39AE-412B-961A-7856B6148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cfce1208824a9b" /><Relationship Type="http://schemas.openxmlformats.org/officeDocument/2006/relationships/slideLayout" Target="/ppt/slideLayouts/slideLayout1.xml" Id="Ref47ec2239fa4be1" /><Relationship Type="http://schemas.openxmlformats.org/officeDocument/2006/relationships/slideLayout" Target="/ppt/slideLayouts/slideLayout2.xml" Id="Rf92c4775abad4ffd" /><Relationship Type="http://schemas.openxmlformats.org/officeDocument/2006/relationships/slideLayout" Target="/ppt/slideLayouts/slideLayout3.xml" Id="R2c799572b7844736" /><Relationship Type="http://schemas.openxmlformats.org/officeDocument/2006/relationships/slideLayout" Target="/ppt/slideLayouts/slideLayout4.xml" Id="Rce3cf991a7c04b21" /><Relationship Type="http://schemas.openxmlformats.org/officeDocument/2006/relationships/slideLayout" Target="/ppt/slideLayouts/slideLayout5.xml" Id="R4d2aed2ce2374d2a" /><Relationship Type="http://schemas.openxmlformats.org/officeDocument/2006/relationships/slideLayout" Target="/ppt/slideLayouts/slideLayout6.xml" Id="R43105cb2e09a41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7ec2239fa4be1"/>
    <p:sldLayoutId xmlns:r="http://schemas.openxmlformats.org/officeDocument/2006/relationships" id="2147483650" r:id="Rf92c4775abad4ffd"/>
    <p:sldLayoutId xmlns:r="http://schemas.openxmlformats.org/officeDocument/2006/relationships" id="2147483651" r:id="R2c799572b7844736"/>
    <p:sldLayoutId xmlns:r="http://schemas.openxmlformats.org/officeDocument/2006/relationships" id="2147483652" r:id="Rce3cf991a7c04b21"/>
    <p:sldLayoutId xmlns:r="http://schemas.openxmlformats.org/officeDocument/2006/relationships" id="2147483653" r:id="R4d2aed2ce2374d2a"/>
    <p:sldLayoutId xmlns:r="http://schemas.openxmlformats.org/officeDocument/2006/relationships" id="2147483654" r:id="R43105cb2e09a41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697eb88064908" /><Relationship Type="http://schemas.openxmlformats.org/officeDocument/2006/relationships/notesSlide" Target="/ppt/notesSlides/notesSlide1.xml" Id="R0cb537df3f2d45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a21872ce24304" /><Relationship Type="http://schemas.openxmlformats.org/officeDocument/2006/relationships/notesSlide" Target="/ppt/notesSlides/notesSlide2.xml" Id="Rfd722f4dd9d84b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27e00a40547b8" /><Relationship Type="http://schemas.openxmlformats.org/officeDocument/2006/relationships/notesSlide" Target="/ppt/notesSlides/notesSlide3.xml" Id="Re8862200047349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639ba11334566" /><Relationship Type="http://schemas.openxmlformats.org/officeDocument/2006/relationships/notesSlide" Target="/ppt/notesSlides/notesSlide4.xml" Id="R054359b12d8b4f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1ff7a93a64545" /><Relationship Type="http://schemas.openxmlformats.org/officeDocument/2006/relationships/notesSlide" Target="/ppt/notesSlides/notesSlide5.xml" Id="Rd9a66329e0dd46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d1feb48cc49d7" /><Relationship Type="http://schemas.openxmlformats.org/officeDocument/2006/relationships/notesSlide" Target="/ppt/notesSlides/notesSlide6.xml" Id="Rd9bb520ebc0c48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f175ebb364f2b" /><Relationship Type="http://schemas.openxmlformats.org/officeDocument/2006/relationships/notesSlide" Target="/ppt/notesSlides/notesSlide7.xml" Id="R1fca4fa99c6e41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0af254291468e" /><Relationship Type="http://schemas.openxmlformats.org/officeDocument/2006/relationships/notesSlide" Target="/ppt/notesSlides/notesSlide8.xml" Id="R70c50c4b4ec94c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40cf03c3e4da5" /><Relationship Type="http://schemas.openxmlformats.org/officeDocument/2006/relationships/notesSlide" Target="/ppt/notesSlides/notesSlide9.xml" Id="R9c59d135964943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0824867c1424a" /><Relationship Type="http://schemas.openxmlformats.org/officeDocument/2006/relationships/notesSlide" Target="/ppt/notesSlides/notesSlide10.xml" Id="R98aab0e2581241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280f9c10a4fbc" /><Relationship Type="http://schemas.openxmlformats.org/officeDocument/2006/relationships/notesSlide" Target="/ppt/notesSlides/notesSlide11.xml" Id="R91ae84b2827e40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ef87992854e43" /><Relationship Type="http://schemas.openxmlformats.org/officeDocument/2006/relationships/notesSlide" Target="/ppt/notesSlides/notesSlide12.xml" Id="R1d4d71519dc743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29cf883f84840" /><Relationship Type="http://schemas.openxmlformats.org/officeDocument/2006/relationships/notesSlide" Target="/ppt/notesSlides/notesSlide13.xml" Id="R356dfea722bb4f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86bc28c404014" /><Relationship Type="http://schemas.openxmlformats.org/officeDocument/2006/relationships/notesSlide" Target="/ppt/notesSlides/notesSlide14.xml" Id="Ra3ebb930b5204c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46496fa6f4b7f" /><Relationship Type="http://schemas.openxmlformats.org/officeDocument/2006/relationships/notesSlide" Target="/ppt/notesSlides/notesSlide15.xml" Id="R8df26d3343e944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e0dee9a5d4534" /><Relationship Type="http://schemas.openxmlformats.org/officeDocument/2006/relationships/notesSlide" Target="/ppt/notesSlides/notesSlide16.xml" Id="Rfcdd6b721a574e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332743dc84864" /><Relationship Type="http://schemas.openxmlformats.org/officeDocument/2006/relationships/notesSlide" Target="/ppt/notesSlides/notesSlide17.xml" Id="R7c9ffb49001b48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0f36f694d4615" /><Relationship Type="http://schemas.openxmlformats.org/officeDocument/2006/relationships/notesSlide" Target="/ppt/notesSlides/notesSlide18.xml" Id="R2681ee98361340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42679-32C9-4724-BC8C-3DE505B7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B12FC-D5AB-4591-80E1-696D806C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  <a:lvl1pPr algn="l">
              <a:defRPr sz="3750" b="1">
                <a:solidFill>
                  <a:srgbClr val="FFFFFF"/>
                </a:solidFill>
              </a:defRPr>
            </a:lvl1pPr>
            <a:lvl2pPr algn="l">
              <a:defRPr sz="3750" b="1">
                <a:solidFill>
                  <a:srgbClr val="FFFFFF"/>
                </a:solidFill>
              </a:defRPr>
            </a:lvl2pPr>
            <a:lvl3pPr algn="l">
              <a:defRPr sz="3750" b="1">
                <a:solidFill>
                  <a:srgbClr val="FFFFFF"/>
                </a:solidFill>
              </a:defRPr>
            </a:lvl3pPr>
            <a:lvl4pPr algn="l">
              <a:defRPr sz="3750" b="1">
                <a:solidFill>
                  <a:srgbClr val="FFFFFF"/>
                </a:solidFill>
              </a:defRPr>
            </a:lvl4pPr>
            <a:lvl5pPr algn="l">
              <a:defRPr sz="3750" b="1">
                <a:solidFill>
                  <a:srgbClr val="FFFFFF"/>
                </a:solidFill>
              </a:defRPr>
            </a:lvl5pPr>
            <a:lvl6pPr algn="l">
              <a:defRPr sz="3750" b="1">
                <a:solidFill>
                  <a:srgbClr val="FFFFFF"/>
                </a:solidFill>
              </a:defRPr>
            </a:lvl6pPr>
            <a:lvl7pPr algn="l">
              <a:defRPr sz="3750" b="1">
                <a:solidFill>
                  <a:srgbClr val="FFFFFF"/>
                </a:solidFill>
              </a:defRPr>
            </a:lvl7pPr>
            <a:lvl8pPr algn="l">
              <a:defRPr sz="3750" b="1">
                <a:solidFill>
                  <a:srgbClr val="FFFFFF"/>
                </a:solidFill>
              </a:defRPr>
            </a:lvl8pPr>
            <a:lvl9pPr algn="l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Python Foundations for Engineers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E937A-B346-4771-8E7F-E2C8AFE2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review before the team 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354A2-DA35-4021-933C-9CB22F00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5: Mario review and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334257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B8B86-E636-4561-B701-7BFFC58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E7C04-333F-4020-8B76-52408576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862AC-2214-4346-A345-0622AE22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C26FC-0613-400B-B96A-2611CD6D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083B7-7B75-4994-A406-29A0FD77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ADF06-64E0-4A3D-B0A2-57876403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80CF4-0DA9-40DA-8495-612A0BB6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8F3E2-4C8D-4FCD-A98A-A59BE4CA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9:15–9:22  Fast engineering concept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16899-4B49-44B0-A7AD-814FD40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3032C-0C41-4161-96B1-D6C2A877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9:22–9:40  Mario Python review game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8C5DF-E795-48FE-A384-90423F47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7098E-787F-4887-8868-47F0533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9:40–10:25  Super Mario Debug Quest in Module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A0F6E-E306-4939-A0B4-5E9A41CC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97291-DD72-4BC0-BB2A-8B00EE9D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07D8C-D2E2-409C-B7FC-0F3E120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F9DB2-60C8-44A2-863A-386E5C2B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142F3-A919-47DB-A0DD-AEB64356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08626-9950-42E2-BCD4-8D380EB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FA35A-10DA-4E92-8DDA-6A6575FB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8F4F6-CA3D-435D-9238-05C70406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11:30–12:35  Module 3 and boss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53AA0-8FA8-49DD-9673-E23101BC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0BBCA-F391-45F8-B5E2-82682100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12:35–12:50  Quick preview: classes and objects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7BAC6-349D-4EAE-AAFE-9CD3BF9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5B19E-0AD2-41CC-952E-488526BC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12:50–1:00  Exit ticket and notebook download</a:t>
            </a:r>
          </a:p>
        </p:txBody>
      </p:sp>
    </p:spTree>
    <p:extLst>
      <p:ext uri="{BB962C8B-B14F-4D97-AF65-F5344CB8AC3E}">
        <p14:creationId xmlns:p14="http://schemas.microsoft.com/office/powerpoint/2010/main" val="517222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4C15F-9758-4B95-BE28-5A33F300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DE829-A461-4A07-9B74-3DA2875D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is a software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27445-1EA5-4394-83D4-BAE5436A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Every game action depends on the same foundations engineers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2635A-3036-4A87-80BC-978681A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233DC-B2FC-45CA-B008-246ECD57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B738F-F48B-478D-A569-8EA906C1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Store Mario’s lives, coins, speed, and power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DD2F3-AF2B-4649-909A-6A22841C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9315C-9D18-434B-ADB9-45BDE4E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Keep enemies, questions, platforms, and collected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66CEB-706E-48CA-AC58-A472FA65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C0A7C-1804-4102-BB9E-2CA9989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Choose what happens after a collision or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EDD4B-D742-4029-B37C-9A1C3B30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LOOPS +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57964-AE99-4959-B821-C9959943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Update the world repeatedly and reuse reliable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569C8-5E4D-47CF-A63C-A358694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71A33"/>
                </a:solidFill>
              </a:defRPr>
            </a:defPPr>
            <a:lvl1pPr algn="ctr">
              <a:defRPr sz="2100" b="1">
                <a:solidFill>
                  <a:srgbClr val="071A33"/>
                </a:solidFill>
              </a:defRPr>
            </a:lvl1pPr>
            <a:lvl2pPr algn="ctr">
              <a:defRPr sz="2100" b="1">
                <a:solidFill>
                  <a:srgbClr val="071A33"/>
                </a:solidFill>
              </a:defRPr>
            </a:lvl2pPr>
            <a:lvl3pPr algn="ctr">
              <a:defRPr sz="2100" b="1">
                <a:solidFill>
                  <a:srgbClr val="071A33"/>
                </a:solidFill>
              </a:defRPr>
            </a:lvl3pPr>
            <a:lvl4pPr algn="ctr">
              <a:defRPr sz="2100" b="1">
                <a:solidFill>
                  <a:srgbClr val="071A33"/>
                </a:solidFill>
              </a:defRPr>
            </a:lvl4pPr>
            <a:lvl5pPr algn="ctr">
              <a:defRPr sz="2100" b="1">
                <a:solidFill>
                  <a:srgbClr val="071A33"/>
                </a:solidFill>
              </a:defRPr>
            </a:lvl5pPr>
            <a:lvl6pPr algn="ctr">
              <a:defRPr sz="2100" b="1">
                <a:solidFill>
                  <a:srgbClr val="071A33"/>
                </a:solidFill>
              </a:defRPr>
            </a:lvl6pPr>
            <a:lvl7pPr algn="ctr">
              <a:defRPr sz="2100" b="1">
                <a:solidFill>
                  <a:srgbClr val="071A33"/>
                </a:solidFill>
              </a:defRPr>
            </a:lvl7pPr>
            <a:lvl8pPr algn="ctr">
              <a:defRPr sz="2100" b="1">
                <a:solidFill>
                  <a:srgbClr val="071A33"/>
                </a:solidFill>
              </a:defRPr>
            </a:lvl8pPr>
            <a:lvl9pPr algn="ctr">
              <a:defRPr sz="21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Engineering starts by turning a real situation into data, rules, repetition, and reusable jobs.</a:t>
            </a:r>
          </a:p>
        </p:txBody>
      </p:sp>
    </p:spTree>
    <p:extLst>
      <p:ext uri="{BB962C8B-B14F-4D97-AF65-F5344CB8AC3E}">
        <p14:creationId xmlns:p14="http://schemas.microsoft.com/office/powerpoint/2010/main" val="1843574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CC5D5-F996-4E85-B0D3-47728DC1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A2BBD-551A-40A4-802A-9A36C63B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Engineers debug with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4DE44-B532-4325-A2BD-824CEC6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 failure shows which assumption or value needs another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D2A61-2638-4D34-A15D-463A86BE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74F3D-8AEA-4C1B-B412-9CE86CC5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79385-EBAD-44F6-A900-993367C4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Predict the result before running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9962C-E3A9-495A-97E3-391B69DB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88E58-24E1-431D-8CF7-8A67C227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050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Run one test and read the actual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D8A21-E8AC-474D-A817-675D9843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7C070-7896-41B7-BCFF-545DF01E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9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Find the first value that differs from the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C7B33-2FB2-4CE8-9AC7-1D1B05D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1EB9D-6344-40EB-A3D1-F0E870F9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148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Change one thing, then run the same test again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A604D-031E-4E97-A1E4-341D1CE3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E85D4A"/>
                </a:solidFill>
              </a:defRPr>
            </a:defPPr>
            <a:lvl1pPr algn="ctr">
              <a:defRPr sz="1650" b="1">
                <a:solidFill>
                  <a:srgbClr val="E85D4A"/>
                </a:solidFill>
              </a:defRPr>
            </a:lvl1pPr>
            <a:lvl2pPr algn="ctr">
              <a:defRPr sz="1650" b="1">
                <a:solidFill>
                  <a:srgbClr val="E85D4A"/>
                </a:solidFill>
              </a:defRPr>
            </a:lvl2pPr>
            <a:lvl3pPr algn="ctr">
              <a:defRPr sz="1650" b="1">
                <a:solidFill>
                  <a:srgbClr val="E85D4A"/>
                </a:solidFill>
              </a:defRPr>
            </a:lvl3pPr>
            <a:lvl4pPr algn="ctr">
              <a:defRPr sz="1650" b="1">
                <a:solidFill>
                  <a:srgbClr val="E85D4A"/>
                </a:solidFill>
              </a:defRPr>
            </a:lvl4pPr>
            <a:lvl5pPr algn="ctr">
              <a:defRPr sz="1650" b="1">
                <a:solidFill>
                  <a:srgbClr val="E85D4A"/>
                </a:solidFill>
              </a:defRPr>
            </a:lvl5pPr>
            <a:lvl6pPr algn="ctr">
              <a:defRPr sz="1650" b="1">
                <a:solidFill>
                  <a:srgbClr val="E85D4A"/>
                </a:solidFill>
              </a:defRPr>
            </a:lvl6pPr>
            <a:lvl7pPr algn="ctr">
              <a:defRPr sz="1650" b="1">
                <a:solidFill>
                  <a:srgbClr val="E85D4A"/>
                </a:solidFill>
              </a:defRPr>
            </a:lvl7pPr>
            <a:lvl8pPr algn="ctr">
              <a:defRPr sz="1650" b="1">
                <a:solidFill>
                  <a:srgbClr val="E85D4A"/>
                </a:solidFill>
              </a:defRPr>
            </a:lvl8pPr>
            <a:lvl9pPr algn="ctr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The Mario labs use failure animations because engineers learn by testing and repairing systems.</a:t>
            </a:r>
          </a:p>
        </p:txBody>
      </p:sp>
    </p:spTree>
    <p:extLst>
      <p:ext uri="{BB962C8B-B14F-4D97-AF65-F5344CB8AC3E}">
        <p14:creationId xmlns:p14="http://schemas.microsoft.com/office/powerpoint/2010/main" val="788344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6FB98-2CD2-4332-9737-0A7494C3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EA79F-9BB0-48DF-A0CC-26C9D008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Python review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79DA1-2253-4F7D-B9CA-036695DC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Use the game to identify which concepts need practice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4915C-378E-47CC-A6A8-7261A77C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FAC9C-CA96-4A6A-8EA8-800503A8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E73F8-7D27-4D24-ACEF-07FB49CC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811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We play together on the projector as one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914C1-70B1-4EC3-B5CB-7F627A63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37B03-EDB2-45E9-AF8F-78358C9B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6217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One student controls the answer while everyone votes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218F2-B96E-4764-9C77-60B2EF43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73FB2-750D-4E1E-BA05-3E82AB74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Vote before the 20-second timer ends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24194-387F-4F8B-B314-D681F56C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35CE4-AA25-4EDD-91D3-A86A7432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Name the concept after every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FA3FE-1634-4222-8551-50667FAC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43A11-66EA-489A-A8BB-C5C80DDA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Rotate the controller after each Python world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3AF2F-643A-4D42-A6EE-EE076CF6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E85D4A"/>
                </a:solidFill>
              </a:defRPr>
            </a:defPPr>
            <a:lvl1pPr algn="ctr">
              <a:defRPr sz="1950" b="1">
                <a:solidFill>
                  <a:srgbClr val="E85D4A"/>
                </a:solidFill>
              </a:defRPr>
            </a:lvl1pPr>
            <a:lvl2pPr algn="ctr">
              <a:defRPr sz="1950" b="1">
                <a:solidFill>
                  <a:srgbClr val="E85D4A"/>
                </a:solidFill>
              </a:defRPr>
            </a:lvl2pPr>
            <a:lvl3pPr algn="ctr">
              <a:defRPr sz="1950" b="1">
                <a:solidFill>
                  <a:srgbClr val="E85D4A"/>
                </a:solidFill>
              </a:defRPr>
            </a:lvl3pPr>
            <a:lvl4pPr algn="ctr">
              <a:defRPr sz="1950" b="1">
                <a:solidFill>
                  <a:srgbClr val="E85D4A"/>
                </a:solidFill>
              </a:defRPr>
            </a:lvl4pPr>
            <a:lvl5pPr algn="ctr">
              <a:defRPr sz="1950" b="1">
                <a:solidFill>
                  <a:srgbClr val="E85D4A"/>
                </a:solidFill>
              </a:defRPr>
            </a:lvl5pPr>
            <a:lvl6pPr algn="ctr">
              <a:defRPr sz="1950" b="1">
                <a:solidFill>
                  <a:srgbClr val="E85D4A"/>
                </a:solidFill>
              </a:defRPr>
            </a:lvl6pPr>
            <a:lvl7pPr algn="ctr">
              <a:defRPr sz="1950" b="1">
                <a:solidFill>
                  <a:srgbClr val="E85D4A"/>
                </a:solidFill>
              </a:defRPr>
            </a:lvl7pPr>
            <a:lvl8pPr algn="ctr">
              <a:defRPr sz="1950" b="1">
                <a:solidFill>
                  <a:srgbClr val="E85D4A"/>
                </a:solidFill>
              </a:defRPr>
            </a:lvl8pPr>
            <a:lvl9pPr algn="ctr">
              <a:defRPr sz="19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E85D4A"/>
                </a:solidFill>
              </a:defRPr>
            </a:pPr>
            <a:r>
              <a:rPr sz="1950" b="1">
                <a:solidFill>
                  <a:srgbClr val="E85D4A"/>
                </a:solidFill>
              </a:rPr>
              <a:t>After the final gate, form teams of 3 or 4 for Module 1.</a:t>
            </a:r>
          </a:p>
        </p:txBody>
      </p:sp>
    </p:spTree>
    <p:extLst>
      <p:ext uri="{BB962C8B-B14F-4D97-AF65-F5344CB8AC3E}">
        <p14:creationId xmlns:p14="http://schemas.microsoft.com/office/powerpoint/2010/main" val="364523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11522-0D64-426C-AA14-988D7C95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8EC4C-C2F8-4D8F-96D6-8B2D879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Google Colab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75375-08AB-4BD5-87BF-4344088F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whole-class Mario game leads into the first team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8D6C2-6269-4FC7-A36D-432A6BFE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A4EAB-EE06-45C0-881A-2A86AFCB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C3282-69A8-435E-9EEF-AD2F2342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Form a team of 3 or 4 after the review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11F74-CF5F-4DEA-8C18-F202359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EB750-D098-489E-BC54-BB9256C7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Open Module 1 from the Week 5 GitHub README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D874B-21DD-4F80-A759-20242938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B25F0-836A-408E-A439-6F4EC2CC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Sign into the Google account you will use for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B75E9-A6AD-4765-A4EC-C382A4C1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61D5E-8495-4E6F-97B9-814FFD4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File, then Save a copy in Drive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2D3A3-FA16-4743-B3B6-520F9A2C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722E2-A852-4E1C-A1D3-B1B9FABB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Rename the copy with your name and module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D872C-C69F-4133-A028-A6499F89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85D4A"/>
                </a:solidFill>
              </a:defRPr>
            </a:defPPr>
            <a:lvl1pPr algn="l">
              <a:defRPr sz="1575" b="1">
                <a:solidFill>
                  <a:srgbClr val="E85D4A"/>
                </a:solidFill>
              </a:defRPr>
            </a:lvl1pPr>
            <a:lvl2pPr algn="l">
              <a:defRPr sz="1575" b="1">
                <a:solidFill>
                  <a:srgbClr val="E85D4A"/>
                </a:solidFill>
              </a:defRPr>
            </a:lvl2pPr>
            <a:lvl3pPr algn="l">
              <a:defRPr sz="1575" b="1">
                <a:solidFill>
                  <a:srgbClr val="E85D4A"/>
                </a:solidFill>
              </a:defRPr>
            </a:lvl3pPr>
            <a:lvl4pPr algn="l">
              <a:defRPr sz="1575" b="1">
                <a:solidFill>
                  <a:srgbClr val="E85D4A"/>
                </a:solidFill>
              </a:defRPr>
            </a:lvl4pPr>
            <a:lvl5pPr algn="l">
              <a:defRPr sz="1575" b="1">
                <a:solidFill>
                  <a:srgbClr val="E85D4A"/>
                </a:solidFill>
              </a:defRPr>
            </a:lvl5pPr>
            <a:lvl6pPr algn="l">
              <a:defRPr sz="1575" b="1">
                <a:solidFill>
                  <a:srgbClr val="E85D4A"/>
                </a:solidFill>
              </a:defRPr>
            </a:lvl6pPr>
            <a:lvl7pPr algn="l">
              <a:defRPr sz="1575" b="1">
                <a:solidFill>
                  <a:srgbClr val="E85D4A"/>
                </a:solidFill>
              </a:defRPr>
            </a:lvl7pPr>
            <a:lvl8pPr algn="l">
              <a:defRPr sz="1575" b="1">
                <a:solidFill>
                  <a:srgbClr val="E85D4A"/>
                </a:solidFill>
              </a:defRPr>
            </a:lvl8pPr>
            <a:lvl9pPr algn="l">
              <a:defRPr sz="15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85D4A"/>
                </a:solidFill>
              </a:defRPr>
            </a:pPr>
            <a:r>
              <a:rPr sz="1575" b="1">
                <a:solidFill>
                  <a:srgbClr val="E85D4A"/>
                </a:solidFill>
              </a:rPr>
              <a:t>git pull updates a repository on a local computer. You do not need it for today’s Colab lesson.</a:t>
            </a:r>
          </a:p>
        </p:txBody>
      </p:sp>
    </p:spTree>
    <p:extLst>
      <p:ext uri="{BB962C8B-B14F-4D97-AF65-F5344CB8AC3E}">
        <p14:creationId xmlns:p14="http://schemas.microsoft.com/office/powerpoint/2010/main" val="1203687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D059A-EFA6-43FD-959C-861B8200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3C261-C4A2-4CB9-9205-7E4BECF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Super Mario Debug 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6EB77-18AE-459A-AA3E-16FA709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Module 1 continues the same concepts and team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A0CBE-4B22-4AD5-BB52-549326CB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BFA13-11F3-4EEF-B30F-3C7A1DC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71B95-084A-4040-A17E-1796CED5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049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Work in the team you formed after the class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29010-380D-4CFD-AAD4-53FFAFD5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46E4B-06EE-47B6-AF0F-0BA62AF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Driver, Navigator, Predictor, and Debugger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DA167-07E1-4A6E-9988-084C4FED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9E986-623A-496F-A984-7D829AA4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Run each broken mission once and watch Mario 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2EC02-1F7F-4A1F-8CF7-C7DF438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93DD0-7440-4D0A-992B-4BE4288B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Use the tips to repair variables, lists, and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C54D7-AFA2-4309-98BC-0BD75DAE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C9664-689A-43FD-B140-8947CDB2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81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Finish with the Mario versus Bowser coding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DE54D-6009-4BE2-B8F1-502B41EE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83044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77ADD-8B94-484C-9251-8B09109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6C6D6-09D5-4A49-AE5B-D175F2BC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0F35B-8978-4A03-A03D-7592225A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E9CCE-0D56-4928-9A1C-7724387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992E7-BD5D-4AAD-A92E-FFD0ED1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1754395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1C763-284A-4C0C-8CD0-C46B1F9D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6E103-C945-41C7-A14B-BB80362F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teams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DE598-02B2-41FC-B9CE-E0642EBF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Teams of 3 or 4 act out every loop before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D2432-F174-4216-9022-DE1FF70B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50B56-9A7D-49EC-A782-F8F75BDF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451DD-DE05-4912-8E81-115193F1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Driver edits and runs after the human 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61176-7C0E-402D-AA18-EFB4C95D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69E0C-6EFA-4BE8-96CC-3E44151D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Loop Variable points to the current list 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2AB37-3971-4300-A795-6058080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7421F-929E-418C-B551-8365BA52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Accumulator announces each updated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4078C-74E3-4409-9614-C40BCB1E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894CA-AD5B-4363-B403-7C071524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Condition Checker says True or False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CC265-DDF0-4760-AF52-7965C608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9611D-B1EA-40B1-815B-BE06134A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With 3 students, Accumulator also checks conditions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74EE7-9FF2-48A6-BD1A-B1E7B85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1B465-9732-437D-9AB0-41D98952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Rotate roles after every level</a:t>
            </a:r>
          </a:p>
        </p:txBody>
      </p:sp>
    </p:spTree>
    <p:extLst>
      <p:ext uri="{BB962C8B-B14F-4D97-AF65-F5344CB8AC3E}">
        <p14:creationId xmlns:p14="http://schemas.microsoft.com/office/powerpoint/2010/main" val="916430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DADCA-58D2-454A-9139-8F56DD86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72540-6593-4F74-86CE-6E5EF41E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5C43D-94A3-4CE8-B629-0B91D324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0F938-A71C-46A0-B6F0-2CCB5A28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EBB9F-AB5E-4874-B4CF-28A99206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FFB60-8A38-476D-8294-18D5BE99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DA573-55A6-48DE-9BE5-567872E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F358B-9FB3-420A-B067-BEE12A8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4331979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6FBD5-F957-477D-933B-E9A0F4A2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A95A5-5BE1-40E8-9197-89C1F258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D87F8-33B3-4617-8195-EF8BD20E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1A9E1-58D9-4728-87B9-42F79B51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93542-286C-425B-96EC-E6872DB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731262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C764F-2552-4462-81D8-150A1C26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3871D-7C82-46A5-9525-2893401A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teams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A8EEE-2432-468D-A699-AF870A85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Teams of 3 or 4 act out each function call before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63E98-FAB7-4E0B-805E-A3D70BD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5E614-65D8-40D2-ADD8-1A1BAD3B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5BABA-D7C6-4698-A7ED-F8173198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57F5E-A80C-4376-9EFE-1054669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Team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27C9F-7533-4C48-8AAB-AC51A32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Caller reads the arguments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Parameter matches the names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Function Runner traces each 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Return Tester checks the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23E48-7F17-4A9E-826A-778AA61F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E85D4A"/>
                </a:solidFill>
              </a:defRPr>
            </a:defPPr>
            <a:lvl1pPr algn="ctr">
              <a:defRPr sz="1650" b="1">
                <a:solidFill>
                  <a:srgbClr val="E85D4A"/>
                </a:solidFill>
              </a:defRPr>
            </a:lvl1pPr>
            <a:lvl2pPr algn="ctr">
              <a:defRPr sz="1650" b="1">
                <a:solidFill>
                  <a:srgbClr val="E85D4A"/>
                </a:solidFill>
              </a:defRPr>
            </a:lvl2pPr>
            <a:lvl3pPr algn="ctr">
              <a:defRPr sz="1650" b="1">
                <a:solidFill>
                  <a:srgbClr val="E85D4A"/>
                </a:solidFill>
              </a:defRPr>
            </a:lvl3pPr>
            <a:lvl4pPr algn="ctr">
              <a:defRPr sz="1650" b="1">
                <a:solidFill>
                  <a:srgbClr val="E85D4A"/>
                </a:solidFill>
              </a:defRPr>
            </a:lvl4pPr>
            <a:lvl5pPr algn="ctr">
              <a:defRPr sz="1650" b="1">
                <a:solidFill>
                  <a:srgbClr val="E85D4A"/>
                </a:solidFill>
              </a:defRPr>
            </a:lvl5pPr>
            <a:lvl6pPr algn="ctr">
              <a:defRPr sz="1650" b="1">
                <a:solidFill>
                  <a:srgbClr val="E85D4A"/>
                </a:solidFill>
              </a:defRPr>
            </a:lvl6pPr>
            <a:lvl7pPr algn="ctr">
              <a:defRPr sz="1650" b="1">
                <a:solidFill>
                  <a:srgbClr val="E85D4A"/>
                </a:solidFill>
              </a:defRPr>
            </a:lvl7pPr>
            <a:lvl8pPr algn="ctr">
              <a:defRPr sz="1650" b="1">
                <a:solidFill>
                  <a:srgbClr val="E85D4A"/>
                </a:solidFill>
              </a:defRPr>
            </a:lvl8pPr>
            <a:lvl9pPr algn="ctr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With 3 students, Caller also tests the return. Rotate after every level.</a:t>
            </a:r>
          </a:p>
        </p:txBody>
      </p:sp>
    </p:spTree>
    <p:extLst>
      <p:ext uri="{BB962C8B-B14F-4D97-AF65-F5344CB8AC3E}">
        <p14:creationId xmlns:p14="http://schemas.microsoft.com/office/powerpoint/2010/main" val="1603619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B323D-6D5B-478A-9D18-C7C8D5F4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2B56A-F488-4BCB-BF19-E67834BB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C2583-E1E4-4A62-A8CD-C594BB49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E7CF5-6889-4641-B4F0-C41DF037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3688F-CA4D-41A6-9F36-5DB59D6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48E03-1CC1-45D7-A5C1-52D8786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456FB-1636-474A-95D5-1D2061E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D6A17-06E1-48E2-BC6C-7E7106C4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2342647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12CE1-B5E7-4C77-B332-D6340AD1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CD023-6619-4874-9DAF-1DE1674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Classes and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F0C1C-36E1-4014-8A09-1A178EEE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 short preview for future lessons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3C603-E522-4DA2-A1C2-DF63BF6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D6988-101C-4A9F-871D-329E6970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663EE-7F11-4D3B-A95E-1AF2246A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A blueprint that describes shared data and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C4045-4980-4FE9-919E-BC893DE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7510D-93C4-4EA3-82E3-2DF35B26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One independent thing created from the blueprint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837C1-B6E1-4C7A-AA05-9A262BFC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ATTRIBUTES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3A363-BEE7-4CF2-B062-56B6FC08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Values stored on an object, such as name or health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78BC1-882E-445A-9D78-A89130B3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METHODS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A407B-F2AF-4C98-A45B-489D80DB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Actions an object can perform, such as jump or take damage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DD2C4-8100-4BAF-B581-04A60739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71A33"/>
                </a:solidFill>
              </a:defRPr>
            </a:defPPr>
            <a:lvl1pPr algn="ctr">
              <a:defRPr sz="1875" b="1">
                <a:solidFill>
                  <a:srgbClr val="071A33"/>
                </a:solidFill>
              </a:defRPr>
            </a:lvl1pPr>
            <a:lvl2pPr algn="ctr">
              <a:defRPr sz="1875" b="1">
                <a:solidFill>
                  <a:srgbClr val="071A33"/>
                </a:solidFill>
              </a:defRPr>
            </a:lvl2pPr>
            <a:lvl3pPr algn="ctr">
              <a:defRPr sz="1875" b="1">
                <a:solidFill>
                  <a:srgbClr val="071A33"/>
                </a:solidFill>
              </a:defRPr>
            </a:lvl3pPr>
            <a:lvl4pPr algn="ctr">
              <a:defRPr sz="1875" b="1">
                <a:solidFill>
                  <a:srgbClr val="071A33"/>
                </a:solidFill>
              </a:defRPr>
            </a:lvl4pPr>
            <a:lvl5pPr algn="ctr">
              <a:defRPr sz="1875" b="1">
                <a:solidFill>
                  <a:srgbClr val="071A33"/>
                </a:solidFill>
              </a:defRPr>
            </a:lvl5pPr>
            <a:lvl6pPr algn="ctr">
              <a:defRPr sz="1875" b="1">
                <a:solidFill>
                  <a:srgbClr val="071A33"/>
                </a:solidFill>
              </a:defRPr>
            </a:lvl6pPr>
            <a:lvl7pPr algn="ctr">
              <a:defRPr sz="1875" b="1">
                <a:solidFill>
                  <a:srgbClr val="071A33"/>
                </a:solidFill>
              </a:defRPr>
            </a:lvl7pPr>
            <a:lvl8pPr algn="ctr">
              <a:defRPr sz="1875" b="1">
                <a:solidFill>
                  <a:srgbClr val="071A33"/>
                </a:solidFill>
              </a:defRPr>
            </a:lvl8pPr>
            <a:lvl9pPr algn="ctr">
              <a:defRPr sz="1875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71A33"/>
                </a:solidFill>
              </a:defRPr>
            </a:pPr>
            <a:r>
              <a:rPr sz="1875" b="1">
                <a:solidFill>
                  <a:srgbClr val="071A33"/>
                </a:solidFill>
              </a:rPr>
              <a:t>Classes organize concepts you already know. They still use variables, conditions, loops, and functions.</a:t>
            </a:r>
          </a:p>
        </p:txBody>
      </p:sp>
    </p:spTree>
    <p:extLst>
      <p:ext uri="{BB962C8B-B14F-4D97-AF65-F5344CB8AC3E}">
        <p14:creationId xmlns:p14="http://schemas.microsoft.com/office/powerpoint/2010/main" val="1297632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F2708-349A-426F-83DD-53598EF7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280CB-D39A-42E0-B3AC-481F061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 Player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6BC2D-3925-4A2C-893A-CEDD31E0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__init__ gives each new object its starting attributes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61F84-409C-4ECD-9968-2CC5B193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6FE1F-2013-44E7-B0F3-62EC99CD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70BBE-030B-4112-96FE-B9FCC4F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3246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class Player: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def __init__(self, name):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self.name = name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self.health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def take_damage(self):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self.health -=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F02D5-020F-46FB-96B4-2FEFB045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Read it aloud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754EF-24A0-4E9A-9054-3098FD14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self means this 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name and health are attributes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take_damage is a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No coding assignment today</a:t>
            </a:r>
          </a:p>
        </p:txBody>
      </p:sp>
    </p:spTree>
    <p:extLst>
      <p:ext uri="{BB962C8B-B14F-4D97-AF65-F5344CB8AC3E}">
        <p14:creationId xmlns:p14="http://schemas.microsoft.com/office/powerpoint/2010/main" val="321364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FC30E-836A-4626-9D8C-C4BCC8D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51016-2348-44A4-BF12-F71635F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Objects keep independent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E99A9-4305-416B-A20A-83D5BA2F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same class can create many game characters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F71B4-8C84-4492-8EA0-35FFD6E4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978FE-199E-4505-8FE4-76198C8E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477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FDAED-CB46-43D4-B064-FCAF2131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943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mario = Player("Mario")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luigi = Player("Luigi")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mario.take_damage()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print(mario.health)  # 2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print(luigi.health)  #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17FED-C368-4F09-B909-4968DEF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Why engineers 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347CD-867D-4C18-9944-99CDBF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429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The class defines the shared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Each object keeps its own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Use classes when a program manages many related things with the same kinds of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C7DA9-A97F-4CEF-AB5C-A2C316F6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D4ED8"/>
                </a:solidFill>
              </a:defRPr>
            </a:defPPr>
            <a:lvl1pPr algn="ctr">
              <a:defRPr sz="1725" b="1">
                <a:solidFill>
                  <a:srgbClr val="1D4ED8"/>
                </a:solidFill>
              </a:defRPr>
            </a:lvl1pPr>
            <a:lvl2pPr algn="ctr">
              <a:defRPr sz="1725" b="1">
                <a:solidFill>
                  <a:srgbClr val="1D4ED8"/>
                </a:solidFill>
              </a:defRPr>
            </a:lvl2pPr>
            <a:lvl3pPr algn="ctr">
              <a:defRPr sz="1725" b="1">
                <a:solidFill>
                  <a:srgbClr val="1D4ED8"/>
                </a:solidFill>
              </a:defRPr>
            </a:lvl3pPr>
            <a:lvl4pPr algn="ctr">
              <a:defRPr sz="1725" b="1">
                <a:solidFill>
                  <a:srgbClr val="1D4ED8"/>
                </a:solidFill>
              </a:defRPr>
            </a:lvl4pPr>
            <a:lvl5pPr algn="ctr">
              <a:defRPr sz="1725" b="1">
                <a:solidFill>
                  <a:srgbClr val="1D4ED8"/>
                </a:solidFill>
              </a:defRPr>
            </a:lvl5pPr>
            <a:lvl6pPr algn="ctr">
              <a:defRPr sz="1725" b="1">
                <a:solidFill>
                  <a:srgbClr val="1D4ED8"/>
                </a:solidFill>
              </a:defRPr>
            </a:lvl6pPr>
            <a:lvl7pPr algn="ctr">
              <a:defRPr sz="1725" b="1">
                <a:solidFill>
                  <a:srgbClr val="1D4ED8"/>
                </a:solidFill>
              </a:defRPr>
            </a:lvl7pPr>
            <a:lvl8pPr algn="ctr">
              <a:defRPr sz="1725" b="1">
                <a:solidFill>
                  <a:srgbClr val="1D4ED8"/>
                </a:solidFill>
              </a:defRPr>
            </a:lvl8pPr>
            <a:lvl9pPr algn="ctr">
              <a:defRPr sz="1725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For now, recognize the pattern. We will build classes after the foundations feel comfortable.</a:t>
            </a:r>
          </a:p>
        </p:txBody>
      </p:sp>
    </p:spTree>
    <p:extLst>
      <p:ext uri="{BB962C8B-B14F-4D97-AF65-F5344CB8AC3E}">
        <p14:creationId xmlns:p14="http://schemas.microsoft.com/office/powerpoint/2010/main" val="5490796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6B22C-E84A-46FE-B32D-21696474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28D84-B87B-4682-97F8-3D99B834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97C13-9F4F-4009-AE28-194426BC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80D2-E265-42C3-BEAA-7D8B1E0C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B5934-C8EE-4581-84FA-E8D85041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BB282-549C-4B65-A38F-2FA03E58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06AEF-B4D9-4C80-81DE-6DB0104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96DC6-F15E-471B-8AAC-FE278E4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00FB6-AF61-49DD-8557-3087AFAE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4A0EE-49A4-48BA-A6AF-EADD6FC3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8DC08-7CB9-45EE-A9E9-9D5693A7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2EA7E-5C1B-4D0B-883E-DBCFA3FF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DF98E-BE51-41D5-9F11-AFB6746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1FDE6-8FD6-4363-A8A9-43393EED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103088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45D60-9225-4BF8-9C0E-2DF5CA52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A8506-2778-4723-BBA0-7304E41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C780C-5111-483D-9823-9D926B81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F6E02-1932-4945-BDF7-A694C4D1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49D28-EAB3-4940-931D-AF9CB0EA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4CF40-432E-4A6C-A246-D1594348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621A9-9188-438D-A7DA-88288CAB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9C508-3116-4CEC-B64C-D1E58190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B12DC-FE93-4A99-9BD7-78A6EF19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C90A8-06B7-458E-B63B-D07730C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E29AF-1709-49A2-AEC3-432EDB3D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63110-EBB8-4A6A-85C8-AA8B8071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656D4-DA5F-4A35-8A6E-D21A737C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5162F-7875-477B-8B64-A8B7477F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is the difference between a class and an object?</a:t>
            </a:r>
          </a:p>
        </p:txBody>
      </p:sp>
    </p:spTree>
    <p:extLst>
      <p:ext uri="{BB962C8B-B14F-4D97-AF65-F5344CB8AC3E}">
        <p14:creationId xmlns:p14="http://schemas.microsoft.com/office/powerpoint/2010/main" val="64577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2026-10-31T12:27:53.3190000Z</dcterms:created>
  <dcterms:modified xsi:type="dcterms:W3CDTF">2026-10-31T12:27:53.3190000Z</dcterms:modified>
</coreProperties>
</file>