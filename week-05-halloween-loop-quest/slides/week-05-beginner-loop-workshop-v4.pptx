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f70a54ea8b4874" /><Relationship Type="http://schemas.openxmlformats.org/officeDocument/2006/relationships/extended-properties" Target="/docProps/app.xml" Id="R3b6ca067fdc84518" /><Relationship Type="http://schemas.openxmlformats.org/officeDocument/2006/relationships/officeDocument" Target="/ppt/presentation.xml" Id="R86bfa02ae8c348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b3a5922cac4f85"/>
  </p:sldMasterIdLst>
  <p:notesMasterIdLst>
    <p:notesMasterId xmlns:r="http://schemas.openxmlformats.org/officeDocument/2006/relationships" r:id="Raf74484447834d16"/>
  </p:notesMasterIdLst>
  <p:sldIdLst>
    <p:sldId xmlns:r="http://schemas.openxmlformats.org/officeDocument/2006/relationships" id="256" r:id="Rc1481254ea5349b1"/>
    <p:sldId xmlns:r="http://schemas.openxmlformats.org/officeDocument/2006/relationships" id="257" r:id="Rec3ad3e34f4d4e21"/>
    <p:sldId xmlns:r="http://schemas.openxmlformats.org/officeDocument/2006/relationships" id="258" r:id="R424a9d6bf9a64374"/>
    <p:sldId xmlns:r="http://schemas.openxmlformats.org/officeDocument/2006/relationships" id="259" r:id="R6e45d1afa7d74ae1"/>
    <p:sldId xmlns:r="http://schemas.openxmlformats.org/officeDocument/2006/relationships" id="260" r:id="R691247f1f4714398"/>
    <p:sldId xmlns:r="http://schemas.openxmlformats.org/officeDocument/2006/relationships" id="261" r:id="Rec18c298203746b9"/>
    <p:sldId xmlns:r="http://schemas.openxmlformats.org/officeDocument/2006/relationships" id="262" r:id="R44aabe6fc6f547dd"/>
    <p:sldId xmlns:r="http://schemas.openxmlformats.org/officeDocument/2006/relationships" id="263" r:id="Re4bd2ed7e0c5473d"/>
    <p:sldId xmlns:r="http://schemas.openxmlformats.org/officeDocument/2006/relationships" id="264" r:id="R3faa84d5d97e4f40"/>
    <p:sldId xmlns:r="http://schemas.openxmlformats.org/officeDocument/2006/relationships" id="265" r:id="R4e8f7b3e6c6a475b"/>
    <p:sldId xmlns:r="http://schemas.openxmlformats.org/officeDocument/2006/relationships" id="266" r:id="Rcf82d1c74fdd424e"/>
    <p:sldId xmlns:r="http://schemas.openxmlformats.org/officeDocument/2006/relationships" id="267" r:id="Rfa03e5ce23204f7e"/>
    <p:sldId xmlns:r="http://schemas.openxmlformats.org/officeDocument/2006/relationships" id="268" r:id="R3bf77ba4854a41d4"/>
    <p:sldId xmlns:r="http://schemas.openxmlformats.org/officeDocument/2006/relationships" id="269" r:id="R7f5413fa992a4a54"/>
    <p:sldId xmlns:r="http://schemas.openxmlformats.org/officeDocument/2006/relationships" id="270" r:id="Rbf87bd2ac6744d86"/>
    <p:sldId xmlns:r="http://schemas.openxmlformats.org/officeDocument/2006/relationships" id="271" r:id="R567155e3f1a5447c"/>
    <p:sldId xmlns:r="http://schemas.openxmlformats.org/officeDocument/2006/relationships" id="272" r:id="R90867cb2ab2740d0"/>
    <p:sldId xmlns:r="http://schemas.openxmlformats.org/officeDocument/2006/relationships" id="273" r:id="R90450bd039cb48b6"/>
    <p:sldId xmlns:r="http://schemas.openxmlformats.org/officeDocument/2006/relationships" id="274" r:id="R1980f931820f4d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129b0baa994dc1" /><Relationship Type="http://schemas.openxmlformats.org/officeDocument/2006/relationships/slideMaster" Target="/ppt/slideMasters/slideMaster1.xml" Id="R91b3a5922cac4f85" /><Relationship Type="http://schemas.openxmlformats.org/officeDocument/2006/relationships/notesMaster" Target="/ppt/notesMasters/notesMaster1.xml" Id="Raf74484447834d16" /><Relationship Type="http://schemas.openxmlformats.org/officeDocument/2006/relationships/presProps" Target="/ppt/presProps.xml" Id="Rb48e80d728dd4b8d" /><Relationship Type="http://schemas.openxmlformats.org/officeDocument/2006/relationships/tableStyles" Target="/ppt/tableStyles.xml" Id="R1537fe1cbfe34ba9" /><Relationship Type="http://schemas.openxmlformats.org/officeDocument/2006/relationships/slide" Target="/ppt/slides/slide1.xml" Id="Rc1481254ea5349b1" /><Relationship Type="http://schemas.openxmlformats.org/officeDocument/2006/relationships/slide" Target="/ppt/slides/slide2.xml" Id="Rec3ad3e34f4d4e21" /><Relationship Type="http://schemas.openxmlformats.org/officeDocument/2006/relationships/slide" Target="/ppt/slides/slide3.xml" Id="R424a9d6bf9a64374" /><Relationship Type="http://schemas.openxmlformats.org/officeDocument/2006/relationships/slide" Target="/ppt/slides/slide4.xml" Id="R6e45d1afa7d74ae1" /><Relationship Type="http://schemas.openxmlformats.org/officeDocument/2006/relationships/slide" Target="/ppt/slides/slide5.xml" Id="R691247f1f4714398" /><Relationship Type="http://schemas.openxmlformats.org/officeDocument/2006/relationships/slide" Target="/ppt/slides/slide6.xml" Id="Rec18c298203746b9" /><Relationship Type="http://schemas.openxmlformats.org/officeDocument/2006/relationships/slide" Target="/ppt/slides/slide7.xml" Id="R44aabe6fc6f547dd" /><Relationship Type="http://schemas.openxmlformats.org/officeDocument/2006/relationships/slide" Target="/ppt/slides/slide8.xml" Id="Re4bd2ed7e0c5473d" /><Relationship Type="http://schemas.openxmlformats.org/officeDocument/2006/relationships/slide" Target="/ppt/slides/slide9.xml" Id="R3faa84d5d97e4f40" /><Relationship Type="http://schemas.openxmlformats.org/officeDocument/2006/relationships/slide" Target="/ppt/slides/slide10.xml" Id="R4e8f7b3e6c6a475b" /><Relationship Type="http://schemas.openxmlformats.org/officeDocument/2006/relationships/slide" Target="/ppt/slides/slide11.xml" Id="Rcf82d1c74fdd424e" /><Relationship Type="http://schemas.openxmlformats.org/officeDocument/2006/relationships/slide" Target="/ppt/slides/slide12.xml" Id="Rfa03e5ce23204f7e" /><Relationship Type="http://schemas.openxmlformats.org/officeDocument/2006/relationships/slide" Target="/ppt/slides/slide13.xml" Id="R3bf77ba4854a41d4" /><Relationship Type="http://schemas.openxmlformats.org/officeDocument/2006/relationships/slide" Target="/ppt/slides/slide14.xml" Id="R7f5413fa992a4a54" /><Relationship Type="http://schemas.openxmlformats.org/officeDocument/2006/relationships/slide" Target="/ppt/slides/slide15.xml" Id="Rbf87bd2ac6744d86" /><Relationship Type="http://schemas.openxmlformats.org/officeDocument/2006/relationships/slide" Target="/ppt/slides/slide16.xml" Id="R567155e3f1a5447c" /><Relationship Type="http://schemas.openxmlformats.org/officeDocument/2006/relationships/slide" Target="/ppt/slides/slide17.xml" Id="R90867cb2ab2740d0" /><Relationship Type="http://schemas.openxmlformats.org/officeDocument/2006/relationships/slide" Target="/ppt/slides/slide18.xml" Id="R90450bd039cb48b6" /><Relationship Type="http://schemas.openxmlformats.org/officeDocument/2006/relationships/slide" Target="/ppt/slides/slide19.xml" Id="R1980f931820f4d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0bc2315fae42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b9e1c609fb44bc" /><Relationship Type="http://schemas.openxmlformats.org/officeDocument/2006/relationships/notesMaster" Target="/ppt/notesMasters/notesMaster1.xml" Id="Rea71fe9d7bd643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d10df4788d4500" /><Relationship Type="http://schemas.openxmlformats.org/officeDocument/2006/relationships/notesMaster" Target="/ppt/notesMasters/notesMaster1.xml" Id="R6c260a2b9a6d49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7e864fa76d4428" /><Relationship Type="http://schemas.openxmlformats.org/officeDocument/2006/relationships/notesMaster" Target="/ppt/notesMasters/notesMaster1.xml" Id="R310ed88b5b9c47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2c97a61f2d4353" /><Relationship Type="http://schemas.openxmlformats.org/officeDocument/2006/relationships/notesMaster" Target="/ppt/notesMasters/notesMaster1.xml" Id="R365e8c735c2349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d7373362e44b57" /><Relationship Type="http://schemas.openxmlformats.org/officeDocument/2006/relationships/notesMaster" Target="/ppt/notesMasters/notesMaster1.xml" Id="Rbf3b065150bf4c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3319da3e1543a7" /><Relationship Type="http://schemas.openxmlformats.org/officeDocument/2006/relationships/notesMaster" Target="/ppt/notesMasters/notesMaster1.xml" Id="R306c5664758f43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3394afc2b94976" /><Relationship Type="http://schemas.openxmlformats.org/officeDocument/2006/relationships/notesMaster" Target="/ppt/notesMasters/notesMaster1.xml" Id="R5399a824612f45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90bebf8bc24756" /><Relationship Type="http://schemas.openxmlformats.org/officeDocument/2006/relationships/notesMaster" Target="/ppt/notesMasters/notesMaster1.xml" Id="Rb42517dd38ad4a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e09cc997794f06" /><Relationship Type="http://schemas.openxmlformats.org/officeDocument/2006/relationships/notesMaster" Target="/ppt/notesMasters/notesMaster1.xml" Id="Rfdfa041559674b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4eacd90da14ec8" /><Relationship Type="http://schemas.openxmlformats.org/officeDocument/2006/relationships/notesMaster" Target="/ppt/notesMasters/notesMaster1.xml" Id="R9af0b42fc2d947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defd70d93548c7" /><Relationship Type="http://schemas.openxmlformats.org/officeDocument/2006/relationships/notesMaster" Target="/ppt/notesMasters/notesMaster1.xml" Id="R58d6019f6f3342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50757900914225" /><Relationship Type="http://schemas.openxmlformats.org/officeDocument/2006/relationships/notesMaster" Target="/ppt/notesMasters/notesMaster1.xml" Id="Rfe9140a366c147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eb70a37963429f" /><Relationship Type="http://schemas.openxmlformats.org/officeDocument/2006/relationships/notesMaster" Target="/ppt/notesMasters/notesMaster1.xml" Id="Ra88fd17844f943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1e7aee692e4452" /><Relationship Type="http://schemas.openxmlformats.org/officeDocument/2006/relationships/notesMaster" Target="/ppt/notesMasters/notesMaster1.xml" Id="Reabba0ce528c4b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7fe632d54d46a2" /><Relationship Type="http://schemas.openxmlformats.org/officeDocument/2006/relationships/notesMaster" Target="/ppt/notesMasters/notesMaster1.xml" Id="Rb8831d8ac6d14f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5a0b2e995d4824" /><Relationship Type="http://schemas.openxmlformats.org/officeDocument/2006/relationships/notesMaster" Target="/ppt/notesMasters/notesMaster1.xml" Id="R0ec0b01c247940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6edab7574b484b" /><Relationship Type="http://schemas.openxmlformats.org/officeDocument/2006/relationships/notesMaster" Target="/ppt/notesMasters/notesMaster1.xml" Id="Rbc5faecf73c84d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2e007d0cc445f2" /><Relationship Type="http://schemas.openxmlformats.org/officeDocument/2006/relationships/notesMaster" Target="/ppt/notesMasters/notesMaster1.xml" Id="Rf94b190b8f7c4d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442b3e70dc4d8e" /><Relationship Type="http://schemas.openxmlformats.org/officeDocument/2006/relationships/notesMaster" Target="/ppt/notesMasters/notesMaster1.xml" Id="Rcf0deeb3a95c4e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1e469060e4d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b7d5dcb4c4d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1c27073bf4e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d4a67e3c947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911320ce349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d92a0c2744d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991F19-BAC3-400B-B94C-C9169D489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3359C5-28B0-4912-A3D7-9E0F1517BF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B014FF-5A69-4B9B-9290-E81656D91B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E6C784-9591-4CE8-A6EF-12C61DD388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5DF057-52E4-4CED-B67C-B17EB1ED90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CC8E0F-5A39-481B-BE6E-179910657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5E7A1B-C480-42F8-9996-84893F434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5E137F-46B6-4508-9487-7547FCD35F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711684-B1FF-4D1C-82EA-D7979320D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47BA76-FAE0-4163-877E-7458F1D060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6a517c4dc74d26" /><Relationship Type="http://schemas.openxmlformats.org/officeDocument/2006/relationships/slideLayout" Target="/ppt/slideLayouts/slideLayout1.xml" Id="R59e2efe938534478" /><Relationship Type="http://schemas.openxmlformats.org/officeDocument/2006/relationships/slideLayout" Target="/ppt/slideLayouts/slideLayout2.xml" Id="Rcec6b14d08964253" /><Relationship Type="http://schemas.openxmlformats.org/officeDocument/2006/relationships/slideLayout" Target="/ppt/slideLayouts/slideLayout3.xml" Id="Rea5b5deb28394d31" /><Relationship Type="http://schemas.openxmlformats.org/officeDocument/2006/relationships/slideLayout" Target="/ppt/slideLayouts/slideLayout4.xml" Id="R6626d9aaf0f94c23" /><Relationship Type="http://schemas.openxmlformats.org/officeDocument/2006/relationships/slideLayout" Target="/ppt/slideLayouts/slideLayout5.xml" Id="Rdf7e6c3249f24b51" /><Relationship Type="http://schemas.openxmlformats.org/officeDocument/2006/relationships/slideLayout" Target="/ppt/slideLayouts/slideLayout6.xml" Id="R6ac43adb204e40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e2efe938534478"/>
    <p:sldLayoutId xmlns:r="http://schemas.openxmlformats.org/officeDocument/2006/relationships" id="2147483650" r:id="Rcec6b14d08964253"/>
    <p:sldLayoutId xmlns:r="http://schemas.openxmlformats.org/officeDocument/2006/relationships" id="2147483651" r:id="Rea5b5deb28394d31"/>
    <p:sldLayoutId xmlns:r="http://schemas.openxmlformats.org/officeDocument/2006/relationships" id="2147483652" r:id="R6626d9aaf0f94c23"/>
    <p:sldLayoutId xmlns:r="http://schemas.openxmlformats.org/officeDocument/2006/relationships" id="2147483653" r:id="Rdf7e6c3249f24b51"/>
    <p:sldLayoutId xmlns:r="http://schemas.openxmlformats.org/officeDocument/2006/relationships" id="2147483654" r:id="R6ac43adb204e40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396743d0d460a" /><Relationship Type="http://schemas.openxmlformats.org/officeDocument/2006/relationships/notesSlide" Target="/ppt/notesSlides/notesSlide1.xml" Id="R7551d351b0fd44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5ec97a5a04645" /><Relationship Type="http://schemas.openxmlformats.org/officeDocument/2006/relationships/notesSlide" Target="/ppt/notesSlides/notesSlide2.xml" Id="R4aea08248fb249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943e2b217443ca" /><Relationship Type="http://schemas.openxmlformats.org/officeDocument/2006/relationships/notesSlide" Target="/ppt/notesSlides/notesSlide3.xml" Id="Rb9e09254eb7848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10108b3be4c4c" /><Relationship Type="http://schemas.openxmlformats.org/officeDocument/2006/relationships/notesSlide" Target="/ppt/notesSlides/notesSlide4.xml" Id="R0c7c2c3eef044a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eb02d493a4fd9" /><Relationship Type="http://schemas.openxmlformats.org/officeDocument/2006/relationships/notesSlide" Target="/ppt/notesSlides/notesSlide5.xml" Id="R48aa1ad320ca4d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85b65ab4b4697" /><Relationship Type="http://schemas.openxmlformats.org/officeDocument/2006/relationships/notesSlide" Target="/ppt/notesSlides/notesSlide6.xml" Id="R0c46d545ac9549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0337b0738481e" /><Relationship Type="http://schemas.openxmlformats.org/officeDocument/2006/relationships/notesSlide" Target="/ppt/notesSlides/notesSlide7.xml" Id="R0c545ff4ab9c4d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4c7e76bbe4bb3" /><Relationship Type="http://schemas.openxmlformats.org/officeDocument/2006/relationships/notesSlide" Target="/ppt/notesSlides/notesSlide8.xml" Id="R8c9ae0a7529949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8894937df4722" /><Relationship Type="http://schemas.openxmlformats.org/officeDocument/2006/relationships/notesSlide" Target="/ppt/notesSlides/notesSlide9.xml" Id="R28ca114020f141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d089619e3447e" /><Relationship Type="http://schemas.openxmlformats.org/officeDocument/2006/relationships/notesSlide" Target="/ppt/notesSlides/notesSlide10.xml" Id="R0a20387f84584b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a11a028834232" /><Relationship Type="http://schemas.openxmlformats.org/officeDocument/2006/relationships/notesSlide" Target="/ppt/notesSlides/notesSlide11.xml" Id="R80a61462268c44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ae46c8e694e84" /><Relationship Type="http://schemas.openxmlformats.org/officeDocument/2006/relationships/notesSlide" Target="/ppt/notesSlides/notesSlide12.xml" Id="R0e0121feee0d4d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1e884e0a24f5d" /><Relationship Type="http://schemas.openxmlformats.org/officeDocument/2006/relationships/notesSlide" Target="/ppt/notesSlides/notesSlide13.xml" Id="Rebef12df6fd14b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02138b0174deb" /><Relationship Type="http://schemas.openxmlformats.org/officeDocument/2006/relationships/notesSlide" Target="/ppt/notesSlides/notesSlide14.xml" Id="R676a1a29d4fd48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4e3e0d27544e5" /><Relationship Type="http://schemas.openxmlformats.org/officeDocument/2006/relationships/notesSlide" Target="/ppt/notesSlides/notesSlide15.xml" Id="Rba78412700994a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291cb3bd84ec8" /><Relationship Type="http://schemas.openxmlformats.org/officeDocument/2006/relationships/notesSlide" Target="/ppt/notesSlides/notesSlide16.xml" Id="R93308e5c08fb41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7a7f2d802472f" /><Relationship Type="http://schemas.openxmlformats.org/officeDocument/2006/relationships/notesSlide" Target="/ppt/notesSlides/notesSlide17.xml" Id="R988335b2166a421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9ef21eeb04fd0" /><Relationship Type="http://schemas.openxmlformats.org/officeDocument/2006/relationships/notesSlide" Target="/ppt/notesSlides/notesSlide18.xml" Id="R39069c6500a449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6bd1abadd4060" /><Relationship Type="http://schemas.openxmlformats.org/officeDocument/2006/relationships/notesSlide" Target="/ppt/notesSlides/notesSlide19.xml" Id="R8a15836428754f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E48B9-815A-4050-8FCC-AC1BF4C0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6AC91-9980-4AE6-8284-E657F511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Python Loop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F0021-6A52-48DA-8CA2-8370EAB6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practice before every lab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CE300-BABA-4338-A499-9434E11A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  •  Mario review  • 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55126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CE75B-8CB5-45C9-BEE9-E77DB3A4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8F354-94F1-49FA-85B1-A0228631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9CE69-D04F-47C5-8F73-F33EDDED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Class ends at 1:00 PM — the first 15 minutes are for arrival and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05FE1-22E4-4EF6-9520-1F25AB15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CC9F1-823B-4A8B-A21E-E33F2DD2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9E468-28F9-4C24-8FCF-5DE0ECA9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9:00–9:15  Arrive, sign in, open the browser, and get 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146C9-7956-4654-B6B8-AA378695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673F3-0589-4428-9386-9AE526A2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9:15–9:35  Mario review and class voting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3EABF-5035-4F87-83C8-A0B763F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EFCCC-2079-403C-B811-1DBFA55C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9:35–10:25  Super Mario Team Quest in 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60429-728E-47C6-B940-9C9A6904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24286-F61C-41A6-96B6-C2F82C3D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10:00  Coin Rush photo showcase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91C1D-18B4-4DC4-AF62-EADF0005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1DE1C-F5EF-41B5-81BA-50B12B03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10:25–10:35 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1BCD9-CFB7-4438-B1D5-645F2AA7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2756A-1C56-4B8E-8A21-87C1F58C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10:35–11:20  Module 2: Arcade Loop Trainer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E6026-84E6-4086-8814-B150E69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E21A7-5BEF-4109-939E-799B1AF8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11:20–11:30  Break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F658F-8ECC-43C4-ABF8-3D1C2E5D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1E202-33E3-47E3-A96D-1539FBA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11:30–1:00  Module 3, boss challenge, peer debugging, and exit</a:t>
            </a:r>
          </a:p>
        </p:txBody>
      </p:sp>
    </p:spTree>
    <p:extLst>
      <p:ext uri="{BB962C8B-B14F-4D97-AF65-F5344CB8AC3E}">
        <p14:creationId xmlns:p14="http://schemas.microsoft.com/office/powerpoint/2010/main" val="151462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033AE-BCD1-4734-B0B6-3F53D6B1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6EAC6-7AF3-469C-9128-BF885848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 loop repeats a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04384-AACE-4F5E-AF76-CAB595ED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computer follows the same steps for several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3B1D3-31EE-437F-9B0B-4A46148C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16156-81B6-4D7B-B625-D39263CF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PLAIN 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6ABE4-9608-4A40-BC73-7CB40188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22033"/>
                </a:solidFill>
              </a:defRPr>
            </a:defPPr>
            <a:lvl1pPr algn="l">
              <a:defRPr sz="2400" b="1">
                <a:solidFill>
                  <a:srgbClr val="122033"/>
                </a:solidFill>
              </a:defRPr>
            </a:lvl1pPr>
            <a:lvl2pPr algn="l">
              <a:defRPr sz="2400" b="1">
                <a:solidFill>
                  <a:srgbClr val="122033"/>
                </a:solidFill>
              </a:defRPr>
            </a:lvl2pPr>
            <a:lvl3pPr algn="l">
              <a:defRPr sz="2400" b="1">
                <a:solidFill>
                  <a:srgbClr val="122033"/>
                </a:solidFill>
              </a:defRPr>
            </a:lvl3pPr>
            <a:lvl4pPr algn="l">
              <a:defRPr sz="2400" b="1">
                <a:solidFill>
                  <a:srgbClr val="122033"/>
                </a:solidFill>
              </a:defRPr>
            </a:lvl4pPr>
            <a:lvl5pPr algn="l">
              <a:defRPr sz="2400" b="1">
                <a:solidFill>
                  <a:srgbClr val="122033"/>
                </a:solidFill>
              </a:defRPr>
            </a:lvl5pPr>
            <a:lvl6pPr algn="l">
              <a:defRPr sz="2400" b="1">
                <a:solidFill>
                  <a:srgbClr val="122033"/>
                </a:solidFill>
              </a:defRPr>
            </a:lvl6pPr>
            <a:lvl7pPr algn="l">
              <a:defRPr sz="2400" b="1">
                <a:solidFill>
                  <a:srgbClr val="122033"/>
                </a:solidFill>
              </a:defRPr>
            </a:lvl7pPr>
            <a:lvl8pPr algn="l">
              <a:defRPr sz="2400" b="1">
                <a:solidFill>
                  <a:srgbClr val="122033"/>
                </a:solidFill>
              </a:defRPr>
            </a:lvl8pPr>
            <a:lvl9pPr algn="l">
              <a:defRPr sz="24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033"/>
                </a:solidFill>
              </a:defRPr>
            </a:pPr>
            <a:r>
              <a:rPr sz="2400" b="1">
                <a:solidFill>
                  <a:srgbClr val="122033"/>
                </a:solidFill>
              </a:rPr>
              <a:t>For each player in the team, print the player’s name.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2DB7A-063D-4701-8032-469F746C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34F39-93ED-4104-BAA9-C5989E53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8096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9938C-77AC-4B02-B5FA-7EDA8BD5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7562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players = ["Ava", "Noah", "Zion"]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player in players: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print(player)</a:t>
            </a:r>
          </a:p>
        </p:txBody>
      </p:sp>
    </p:spTree>
    <p:extLst>
      <p:ext uri="{BB962C8B-B14F-4D97-AF65-F5344CB8AC3E}">
        <p14:creationId xmlns:p14="http://schemas.microsoft.com/office/powerpoint/2010/main" val="363431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6190D-EC17-43F2-8D6F-557C2C2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4E1CE-63AF-4E4A-A12E-9B23751B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Human loop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82E17-91F6-44C5-BD98-8BD1E12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Three volunteers act as the list, loop variable, and computer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5DF40-B806-4131-9829-6F413E2A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851AD-1AF6-4070-A357-BFE6AED3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D6652-90A4-4E90-B03C-A5CB282D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List student points to the next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F1927-B2A1-4C75-87BE-32375E1E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207EA-F661-4787-A82A-CE6E2A6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Variable student holds that one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2497D-0DE2-42FF-BE3B-FBE8F124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0E140-890C-4231-A22C-A9ABB887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Computer student reads the indented 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D8E56-0D90-4ECD-B1AC-8C1E59E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5B69A-B88E-4936-B28C-7A23AEB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Class counts the iteration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5E37C-902A-4E50-AEB2-B98B22E7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4DC73-D21B-4F00-AE38-F6AAE045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Repeat until the list has no more items</a:t>
            </a:r>
          </a:p>
        </p:txBody>
      </p:sp>
    </p:spTree>
    <p:extLst>
      <p:ext uri="{BB962C8B-B14F-4D97-AF65-F5344CB8AC3E}">
        <p14:creationId xmlns:p14="http://schemas.microsoft.com/office/powerpoint/2010/main" val="1923887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4BA84-1772-4309-86FE-24F03487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B97A2-4076-485C-B71E-2F637FDF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Parts of a for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685A5-3EB6-427E-ADE5-0437D8E1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Point to each part before tracing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46212-8658-46C5-A317-A030AA28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A815E-B177-4457-97DA-4817A80D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23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45749-2410-4607-A7DF-27F2326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705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print("Battle:", enemy)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D1A79-A887-4899-A12A-EBC5DA4C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D4ED8"/>
                </a:solidFill>
              </a:defRPr>
            </a:defPPr>
            <a:lvl1pPr algn="l">
              <a:defRPr sz="1725" b="1">
                <a:solidFill>
                  <a:srgbClr val="1D4ED8"/>
                </a:solidFill>
              </a:defRPr>
            </a:lvl1pPr>
            <a:lvl2pPr algn="l">
              <a:defRPr sz="1725" b="1">
                <a:solidFill>
                  <a:srgbClr val="1D4ED8"/>
                </a:solidFill>
              </a:defRPr>
            </a:lvl2pPr>
            <a:lvl3pPr algn="l">
              <a:defRPr sz="1725" b="1">
                <a:solidFill>
                  <a:srgbClr val="1D4ED8"/>
                </a:solidFill>
              </a:defRPr>
            </a:lvl3pPr>
            <a:lvl4pPr algn="l">
              <a:defRPr sz="1725" b="1">
                <a:solidFill>
                  <a:srgbClr val="1D4ED8"/>
                </a:solidFill>
              </a:defRPr>
            </a:lvl4pPr>
            <a:lvl5pPr algn="l">
              <a:defRPr sz="1725" b="1">
                <a:solidFill>
                  <a:srgbClr val="1D4ED8"/>
                </a:solidFill>
              </a:defRPr>
            </a:lvl5pPr>
            <a:lvl6pPr algn="l">
              <a:defRPr sz="1725" b="1">
                <a:solidFill>
                  <a:srgbClr val="1D4ED8"/>
                </a:solidFill>
              </a:defRPr>
            </a:lvl6pPr>
            <a:lvl7pPr algn="l">
              <a:defRPr sz="1725" b="1">
                <a:solidFill>
                  <a:srgbClr val="1D4ED8"/>
                </a:solidFill>
              </a:defRPr>
            </a:lvl7pPr>
            <a:lvl8pPr algn="l">
              <a:defRPr sz="1725" b="1">
                <a:solidFill>
                  <a:srgbClr val="1D4ED8"/>
                </a:solidFill>
              </a:defRPr>
            </a:lvl8pPr>
            <a:lvl9pPr algn="l">
              <a:defRPr sz="1725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CF7D8-F01A-41B1-9C22-29AD75CB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E85D4A"/>
                </a:solidFill>
              </a:defRPr>
            </a:defPPr>
            <a:lvl1pPr algn="l">
              <a:defRPr sz="1725" b="1">
                <a:solidFill>
                  <a:srgbClr val="E85D4A"/>
                </a:solidFill>
              </a:defRPr>
            </a:lvl1pPr>
            <a:lvl2pPr algn="l">
              <a:defRPr sz="1725" b="1">
                <a:solidFill>
                  <a:srgbClr val="E85D4A"/>
                </a:solidFill>
              </a:defRPr>
            </a:lvl2pPr>
            <a:lvl3pPr algn="l">
              <a:defRPr sz="1725" b="1">
                <a:solidFill>
                  <a:srgbClr val="E85D4A"/>
                </a:solidFill>
              </a:defRPr>
            </a:lvl3pPr>
            <a:lvl4pPr algn="l">
              <a:defRPr sz="1725" b="1">
                <a:solidFill>
                  <a:srgbClr val="E85D4A"/>
                </a:solidFill>
              </a:defRPr>
            </a:lvl4pPr>
            <a:lvl5pPr algn="l">
              <a:defRPr sz="1725" b="1">
                <a:solidFill>
                  <a:srgbClr val="E85D4A"/>
                </a:solidFill>
              </a:defRPr>
            </a:lvl5pPr>
            <a:lvl6pPr algn="l">
              <a:defRPr sz="1725" b="1">
                <a:solidFill>
                  <a:srgbClr val="E85D4A"/>
                </a:solidFill>
              </a:defRPr>
            </a:lvl6pPr>
            <a:lvl7pPr algn="l">
              <a:defRPr sz="1725" b="1">
                <a:solidFill>
                  <a:srgbClr val="E85D4A"/>
                </a:solidFill>
              </a:defRPr>
            </a:lvl7pPr>
            <a:lvl8pPr algn="l">
              <a:defRPr sz="1725" b="1">
                <a:solidFill>
                  <a:srgbClr val="E85D4A"/>
                </a:solidFill>
              </a:defRPr>
            </a:lvl8pPr>
            <a:lvl9pPr algn="l">
              <a:defRPr sz="17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85D4A"/>
                </a:solidFill>
              </a:defRPr>
            </a:pPr>
            <a:r>
              <a:rPr sz="1725" b="1">
                <a:solidFill>
                  <a:srgbClr val="E85D4A"/>
                </a:solidFill>
              </a:rPr>
              <a:t>loop 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6AAB2-1818-478C-A19D-541CE2B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5803D"/>
                </a:solidFill>
              </a:defRPr>
            </a:defPPr>
            <a:lvl1pPr algn="l">
              <a:defRPr sz="1725" b="1">
                <a:solidFill>
                  <a:srgbClr val="15803D"/>
                </a:solidFill>
              </a:defRPr>
            </a:lvl1pPr>
            <a:lvl2pPr algn="l">
              <a:defRPr sz="1725" b="1">
                <a:solidFill>
                  <a:srgbClr val="15803D"/>
                </a:solidFill>
              </a:defRPr>
            </a:lvl2pPr>
            <a:lvl3pPr algn="l">
              <a:defRPr sz="1725" b="1">
                <a:solidFill>
                  <a:srgbClr val="15803D"/>
                </a:solidFill>
              </a:defRPr>
            </a:lvl3pPr>
            <a:lvl4pPr algn="l">
              <a:defRPr sz="1725" b="1">
                <a:solidFill>
                  <a:srgbClr val="15803D"/>
                </a:solidFill>
              </a:defRPr>
            </a:lvl4pPr>
            <a:lvl5pPr algn="l">
              <a:defRPr sz="1725" b="1">
                <a:solidFill>
                  <a:srgbClr val="15803D"/>
                </a:solidFill>
              </a:defRPr>
            </a:lvl5pPr>
            <a:lvl6pPr algn="l">
              <a:defRPr sz="1725" b="1">
                <a:solidFill>
                  <a:srgbClr val="15803D"/>
                </a:solidFill>
              </a:defRPr>
            </a:lvl6pPr>
            <a:lvl7pPr algn="l">
              <a:defRPr sz="1725" b="1">
                <a:solidFill>
                  <a:srgbClr val="15803D"/>
                </a:solidFill>
              </a:defRPr>
            </a:lvl7pPr>
            <a:lvl8pPr algn="l">
              <a:defRPr sz="1725" b="1">
                <a:solidFill>
                  <a:srgbClr val="15803D"/>
                </a:solidFill>
              </a:defRPr>
            </a:lvl8pPr>
            <a:lvl9pPr algn="l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repeated block</a:t>
            </a:r>
          </a:p>
        </p:txBody>
      </p:sp>
    </p:spTree>
    <p:extLst>
      <p:ext uri="{BB962C8B-B14F-4D97-AF65-F5344CB8AC3E}">
        <p14:creationId xmlns:p14="http://schemas.microsoft.com/office/powerpoint/2010/main" val="1545462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BE79F-B6AF-4F4C-B84B-BC5C0758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28FBB-44D5-45CB-B538-8486FCB7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Trace one iteration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80DB8-ADE4-4778-BB9D-A19F5D0B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Predict the final count before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32A95-9E2A-4B79-AB88-1A2535F7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0B387-D1F8-43E1-BFFA-2F369B63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8FB7E-996E-4EBE-9429-A1CF80CE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7056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count = count + 1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print(count, enemy)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print("Final:", count)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81A59-4D68-4FA3-BF1C-0EB4D528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394C0-EC80-415A-8E58-04156E4D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Start: 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2: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3: count = ___</a:t>
            </a:r>
          </a:p>
        </p:txBody>
      </p:sp>
    </p:spTree>
    <p:extLst>
      <p:ext uri="{BB962C8B-B14F-4D97-AF65-F5344CB8AC3E}">
        <p14:creationId xmlns:p14="http://schemas.microsoft.com/office/powerpoint/2010/main" val="2130132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3BB0E-36AF-4F51-9FF9-96E06651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34BBA-14EB-44A6-BAC4-A14EF18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An accumulator builds a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78D2D-C2DA-4703-8A0F-1AB00B7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variable keeps the total from earlier iterations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45B88-2741-467C-95B8-D4CE4DEE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5F37C-8F9B-443A-9542-190B1C78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8A22F-E751-4293-BBFC-D6475F3D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0388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[4, 6, 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total +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print(total)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DB7C2-0EF0-4E0C-B969-E090D871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A33"/>
                </a:solidFill>
              </a:defRPr>
            </a:defPPr>
            <a:lvl1pPr algn="ctr">
              <a:defRPr sz="2550" b="1">
                <a:solidFill>
                  <a:srgbClr val="071A33"/>
                </a:solidFill>
              </a:defRPr>
            </a:lvl1pPr>
            <a:lvl2pPr algn="ctr">
              <a:defRPr sz="2550" b="1">
                <a:solidFill>
                  <a:srgbClr val="071A33"/>
                </a:solidFill>
              </a:defRPr>
            </a:lvl2pPr>
            <a:lvl3pPr algn="ctr">
              <a:defRPr sz="2550" b="1">
                <a:solidFill>
                  <a:srgbClr val="071A33"/>
                </a:solidFill>
              </a:defRPr>
            </a:lvl3pPr>
            <a:lvl4pPr algn="ctr">
              <a:defRPr sz="2550" b="1">
                <a:solidFill>
                  <a:srgbClr val="071A33"/>
                </a:solidFill>
              </a:defRPr>
            </a:lvl4pPr>
            <a:lvl5pPr algn="ctr">
              <a:defRPr sz="2550" b="1">
                <a:solidFill>
                  <a:srgbClr val="071A33"/>
                </a:solidFill>
              </a:defRPr>
            </a:lvl5pPr>
            <a:lvl6pPr algn="ctr">
              <a:defRPr sz="2550" b="1">
                <a:solidFill>
                  <a:srgbClr val="071A33"/>
                </a:solidFill>
              </a:defRPr>
            </a:lvl6pPr>
            <a:lvl7pPr algn="ctr">
              <a:defRPr sz="2550" b="1">
                <a:solidFill>
                  <a:srgbClr val="071A33"/>
                </a:solidFill>
              </a:defRPr>
            </a:lvl7pPr>
            <a:lvl8pPr algn="ctr">
              <a:defRPr sz="2550" b="1">
                <a:solidFill>
                  <a:srgbClr val="071A33"/>
                </a:solidFill>
              </a:defRPr>
            </a:lvl8pPr>
            <a:lvl9pPr algn="ctr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F5593-A059-4405-9077-41DE936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D4ED8"/>
                </a:solidFill>
              </a:defRPr>
            </a:defPPr>
            <a:lvl1pPr algn="ctr">
              <a:defRPr sz="2550" b="1">
                <a:solidFill>
                  <a:srgbClr val="1D4ED8"/>
                </a:solidFill>
              </a:defRPr>
            </a:lvl1pPr>
            <a:lvl2pPr algn="ctr">
              <a:defRPr sz="2550" b="1">
                <a:solidFill>
                  <a:srgbClr val="1D4ED8"/>
                </a:solidFill>
              </a:defRPr>
            </a:lvl2pPr>
            <a:lvl3pPr algn="ctr">
              <a:defRPr sz="2550" b="1">
                <a:solidFill>
                  <a:srgbClr val="1D4ED8"/>
                </a:solidFill>
              </a:defRPr>
            </a:lvl3pPr>
            <a:lvl4pPr algn="ctr">
              <a:defRPr sz="2550" b="1">
                <a:solidFill>
                  <a:srgbClr val="1D4ED8"/>
                </a:solidFill>
              </a:defRPr>
            </a:lvl4pPr>
            <a:lvl5pPr algn="ctr">
              <a:defRPr sz="2550" b="1">
                <a:solidFill>
                  <a:srgbClr val="1D4ED8"/>
                </a:solidFill>
              </a:defRPr>
            </a:lvl5pPr>
            <a:lvl6pPr algn="ctr">
              <a:defRPr sz="2550" b="1">
                <a:solidFill>
                  <a:srgbClr val="1D4ED8"/>
                </a:solidFill>
              </a:defRPr>
            </a:lvl6pPr>
            <a:lvl7pPr algn="ctr">
              <a:defRPr sz="2550" b="1">
                <a:solidFill>
                  <a:srgbClr val="1D4ED8"/>
                </a:solidFill>
              </a:defRPr>
            </a:lvl7pPr>
            <a:lvl8pPr algn="ctr">
              <a:defRPr sz="2550" b="1">
                <a:solidFill>
                  <a:srgbClr val="1D4ED8"/>
                </a:solidFill>
              </a:defRPr>
            </a:lvl8pPr>
            <a:lvl9pPr algn="ctr">
              <a:defRPr sz="25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8E382-1384-4C47-9192-B07052F7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</a:defRPr>
            </a:defPPr>
            <a:lvl1pPr algn="ctr">
              <a:defRPr sz="2550" b="1">
                <a:solidFill>
                  <a:srgbClr val="0F766E"/>
                </a:solidFill>
              </a:defRPr>
            </a:lvl1pPr>
            <a:lvl2pPr algn="ctr">
              <a:defRPr sz="2550" b="1">
                <a:solidFill>
                  <a:srgbClr val="0F766E"/>
                </a:solidFill>
              </a:defRPr>
            </a:lvl2pPr>
            <a:lvl3pPr algn="ctr">
              <a:defRPr sz="2550" b="1">
                <a:solidFill>
                  <a:srgbClr val="0F766E"/>
                </a:solidFill>
              </a:defRPr>
            </a:lvl3pPr>
            <a:lvl4pPr algn="ctr">
              <a:defRPr sz="2550" b="1">
                <a:solidFill>
                  <a:srgbClr val="0F766E"/>
                </a:solidFill>
              </a:defRPr>
            </a:lvl4pPr>
            <a:lvl5pPr algn="ctr">
              <a:defRPr sz="2550" b="1">
                <a:solidFill>
                  <a:srgbClr val="0F766E"/>
                </a:solidFill>
              </a:defRPr>
            </a:lvl5pPr>
            <a:lvl6pPr algn="ctr">
              <a:defRPr sz="2550" b="1">
                <a:solidFill>
                  <a:srgbClr val="0F766E"/>
                </a:solidFill>
              </a:defRPr>
            </a:lvl6pPr>
            <a:lvl7pPr algn="ctr">
              <a:defRPr sz="2550" b="1">
                <a:solidFill>
                  <a:srgbClr val="0F766E"/>
                </a:solidFill>
              </a:defRPr>
            </a:lvl7pPr>
            <a:lvl8pPr algn="ctr">
              <a:defRPr sz="2550" b="1">
                <a:solidFill>
                  <a:srgbClr val="0F766E"/>
                </a:solidFill>
              </a:defRPr>
            </a:lvl8pPr>
            <a:lvl9pPr algn="ctr">
              <a:defRPr sz="25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AF396-2626-4604-8E43-ED42D753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5803D"/>
                </a:solidFill>
              </a:defRPr>
            </a:defPPr>
            <a:lvl1pPr algn="ctr">
              <a:defRPr sz="2550" b="1">
                <a:solidFill>
                  <a:srgbClr val="15803D"/>
                </a:solidFill>
              </a:defRPr>
            </a:lvl1pPr>
            <a:lvl2pPr algn="ctr">
              <a:defRPr sz="2550" b="1">
                <a:solidFill>
                  <a:srgbClr val="15803D"/>
                </a:solidFill>
              </a:defRPr>
            </a:lvl2pPr>
            <a:lvl3pPr algn="ctr">
              <a:defRPr sz="2550" b="1">
                <a:solidFill>
                  <a:srgbClr val="15803D"/>
                </a:solidFill>
              </a:defRPr>
            </a:lvl3pPr>
            <a:lvl4pPr algn="ctr">
              <a:defRPr sz="2550" b="1">
                <a:solidFill>
                  <a:srgbClr val="15803D"/>
                </a:solidFill>
              </a:defRPr>
            </a:lvl4pPr>
            <a:lvl5pPr algn="ctr">
              <a:defRPr sz="2550" b="1">
                <a:solidFill>
                  <a:srgbClr val="15803D"/>
                </a:solidFill>
              </a:defRPr>
            </a:lvl5pPr>
            <a:lvl6pPr algn="ctr">
              <a:defRPr sz="2550" b="1">
                <a:solidFill>
                  <a:srgbClr val="15803D"/>
                </a:solidFill>
              </a:defRPr>
            </a:lvl6pPr>
            <a:lvl7pPr algn="ctr">
              <a:defRPr sz="2550" b="1">
                <a:solidFill>
                  <a:srgbClr val="15803D"/>
                </a:solidFill>
              </a:defRPr>
            </a:lvl7pPr>
            <a:lvl8pPr algn="ctr">
              <a:defRPr sz="2550" b="1">
                <a:solidFill>
                  <a:srgbClr val="15803D"/>
                </a:solidFill>
              </a:defRPr>
            </a:lvl8pPr>
            <a:lvl9pPr algn="ctr">
              <a:defRPr sz="2550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5803D"/>
                </a:solidFill>
              </a:defRPr>
            </a:pPr>
            <a:r>
              <a:rPr sz="2550" b="1">
                <a:solidFill>
                  <a:srgbClr val="15803D"/>
                </a:solidFill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14BFF-31FB-4ABE-AF6F-2F6DC97D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526174"/>
                </a:solidFill>
              </a:defRPr>
            </a:defPPr>
            <a:lvl1pPr algn="ctr">
              <a:defRPr sz="1725" b="1">
                <a:solidFill>
                  <a:srgbClr val="526174"/>
                </a:solidFill>
              </a:defRPr>
            </a:lvl1pPr>
            <a:lvl2pPr algn="ctr">
              <a:defRPr sz="1725" b="1">
                <a:solidFill>
                  <a:srgbClr val="526174"/>
                </a:solidFill>
              </a:defRPr>
            </a:lvl2pPr>
            <a:lvl3pPr algn="ctr">
              <a:defRPr sz="1725" b="1">
                <a:solidFill>
                  <a:srgbClr val="526174"/>
                </a:solidFill>
              </a:defRPr>
            </a:lvl3pPr>
            <a:lvl4pPr algn="ctr">
              <a:defRPr sz="1725" b="1">
                <a:solidFill>
                  <a:srgbClr val="526174"/>
                </a:solidFill>
              </a:defRPr>
            </a:lvl4pPr>
            <a:lvl5pPr algn="ctr">
              <a:defRPr sz="1725" b="1">
                <a:solidFill>
                  <a:srgbClr val="526174"/>
                </a:solidFill>
              </a:defRPr>
            </a:lvl5pPr>
            <a:lvl6pPr algn="ctr">
              <a:defRPr sz="1725" b="1">
                <a:solidFill>
                  <a:srgbClr val="526174"/>
                </a:solidFill>
              </a:defRPr>
            </a:lvl6pPr>
            <a:lvl7pPr algn="ctr">
              <a:defRPr sz="1725" b="1">
                <a:solidFill>
                  <a:srgbClr val="526174"/>
                </a:solidFill>
              </a:defRPr>
            </a:lvl7pPr>
            <a:lvl8pPr algn="ctr">
              <a:defRPr sz="1725" b="1">
                <a:solidFill>
                  <a:srgbClr val="526174"/>
                </a:solidFill>
              </a:defRPr>
            </a:lvl8pPr>
            <a:lvl9pPr algn="ctr">
              <a:defRPr sz="1725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526174"/>
                </a:solidFill>
              </a:defRPr>
            </a:pPr>
            <a:r>
              <a:rPr sz="1725" b="1">
                <a:solidFill>
                  <a:srgbClr val="526174"/>
                </a:solidFill>
              </a:rPr>
              <a:t>Say each update: old total + current score = new total</a:t>
            </a:r>
          </a:p>
        </p:txBody>
      </p:sp>
    </p:spTree>
    <p:extLst>
      <p:ext uri="{BB962C8B-B14F-4D97-AF65-F5344CB8AC3E}">
        <p14:creationId xmlns:p14="http://schemas.microsoft.com/office/powerpoint/2010/main" val="223565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BCE02-5C6F-4A90-AD6C-F69CB0F5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D12B9-2E02-483A-A8A2-D4A2D49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While loops need an 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27C10-6BF5-4745-A927-920DF07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Name what stays true and what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12990-9827-491D-A2B7-CD224DE7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191A4-5C84-4FDB-8BC7-46CB4875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381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19E29-E9A3-4B65-BA16-3C145921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5848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energy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while energy &gt; 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print(energy)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energy = energy - 1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print("REST")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F786-02B1-4F06-BD58-D00794CB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Keeps 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580A9-ED1C-484E-A0A9-288F874A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2033"/>
                </a:solidFill>
              </a:defRPr>
            </a:defPPr>
            <a:lvl1pPr algn="l">
              <a:defRPr sz="2100" b="1">
                <a:solidFill>
                  <a:srgbClr val="122033"/>
                </a:solidFill>
              </a:defRPr>
            </a:lvl1pPr>
            <a:lvl2pPr algn="l">
              <a:defRPr sz="2100" b="1">
                <a:solidFill>
                  <a:srgbClr val="122033"/>
                </a:solidFill>
              </a:defRPr>
            </a:lvl2pPr>
            <a:lvl3pPr algn="l">
              <a:defRPr sz="2100" b="1">
                <a:solidFill>
                  <a:srgbClr val="122033"/>
                </a:solidFill>
              </a:defRPr>
            </a:lvl3pPr>
            <a:lvl4pPr algn="l">
              <a:defRPr sz="2100" b="1">
                <a:solidFill>
                  <a:srgbClr val="122033"/>
                </a:solidFill>
              </a:defRPr>
            </a:lvl4pPr>
            <a:lvl5pPr algn="l">
              <a:defRPr sz="2100" b="1">
                <a:solidFill>
                  <a:srgbClr val="122033"/>
                </a:solidFill>
              </a:defRPr>
            </a:lvl5pPr>
            <a:lvl6pPr algn="l">
              <a:defRPr sz="2100" b="1">
                <a:solidFill>
                  <a:srgbClr val="122033"/>
                </a:solidFill>
              </a:defRPr>
            </a:lvl6pPr>
            <a:lvl7pPr algn="l">
              <a:defRPr sz="2100" b="1">
                <a:solidFill>
                  <a:srgbClr val="122033"/>
                </a:solidFill>
              </a:defRPr>
            </a:lvl7pPr>
            <a:lvl8pPr algn="l">
              <a:defRPr sz="2100" b="1">
                <a:solidFill>
                  <a:srgbClr val="122033"/>
                </a:solidFill>
              </a:defRPr>
            </a:lvl8pPr>
            <a:lvl9pPr algn="l">
              <a:defRPr sz="21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2033"/>
                </a:solidFill>
              </a:defRPr>
            </a:pPr>
            <a:r>
              <a:rPr sz="2100" b="1">
                <a:solidFill>
                  <a:srgbClr val="122033"/>
                </a:solidFill>
              </a:rPr>
              <a:t>energy &gt;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A8BC7-866F-4649-8061-3E3F4F56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5D4A"/>
                </a:solidFill>
              </a:defRPr>
            </a:defPPr>
            <a:lvl1pPr algn="l">
              <a:defRPr sz="1650" b="1">
                <a:solidFill>
                  <a:srgbClr val="E85D4A"/>
                </a:solidFill>
              </a:defRPr>
            </a:lvl1pPr>
            <a:lvl2pPr algn="l">
              <a:defRPr sz="1650" b="1">
                <a:solidFill>
                  <a:srgbClr val="E85D4A"/>
                </a:solidFill>
              </a:defRPr>
            </a:lvl2pPr>
            <a:lvl3pPr algn="l">
              <a:defRPr sz="1650" b="1">
                <a:solidFill>
                  <a:srgbClr val="E85D4A"/>
                </a:solidFill>
              </a:defRPr>
            </a:lvl3pPr>
            <a:lvl4pPr algn="l">
              <a:defRPr sz="1650" b="1">
                <a:solidFill>
                  <a:srgbClr val="E85D4A"/>
                </a:solidFill>
              </a:defRPr>
            </a:lvl4pPr>
            <a:lvl5pPr algn="l">
              <a:defRPr sz="1650" b="1">
                <a:solidFill>
                  <a:srgbClr val="E85D4A"/>
                </a:solidFill>
              </a:defRPr>
            </a:lvl5pPr>
            <a:lvl6pPr algn="l">
              <a:defRPr sz="1650" b="1">
                <a:solidFill>
                  <a:srgbClr val="E85D4A"/>
                </a:solidFill>
              </a:defRPr>
            </a:lvl6pPr>
            <a:lvl7pPr algn="l">
              <a:defRPr sz="1650" b="1">
                <a:solidFill>
                  <a:srgbClr val="E85D4A"/>
                </a:solidFill>
              </a:defRPr>
            </a:lvl7pPr>
            <a:lvl8pPr algn="l">
              <a:defRPr sz="1650" b="1">
                <a:solidFill>
                  <a:srgbClr val="E85D4A"/>
                </a:solidFill>
              </a:defRPr>
            </a:lvl8pPr>
            <a:lvl9pPr algn="l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63A32-E084-4701-893A-BCA5D0A7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033"/>
                </a:solidFill>
              </a:defRPr>
            </a:defPPr>
            <a:lvl1pPr algn="l">
              <a:defRPr sz="1875" b="1">
                <a:solidFill>
                  <a:srgbClr val="122033"/>
                </a:solidFill>
              </a:defRPr>
            </a:lvl1pPr>
            <a:lvl2pPr algn="l">
              <a:defRPr sz="1875" b="1">
                <a:solidFill>
                  <a:srgbClr val="122033"/>
                </a:solidFill>
              </a:defRPr>
            </a:lvl2pPr>
            <a:lvl3pPr algn="l">
              <a:defRPr sz="1875" b="1">
                <a:solidFill>
                  <a:srgbClr val="122033"/>
                </a:solidFill>
              </a:defRPr>
            </a:lvl3pPr>
            <a:lvl4pPr algn="l">
              <a:defRPr sz="1875" b="1">
                <a:solidFill>
                  <a:srgbClr val="122033"/>
                </a:solidFill>
              </a:defRPr>
            </a:lvl4pPr>
            <a:lvl5pPr algn="l">
              <a:defRPr sz="1875" b="1">
                <a:solidFill>
                  <a:srgbClr val="122033"/>
                </a:solidFill>
              </a:defRPr>
            </a:lvl5pPr>
            <a:lvl6pPr algn="l">
              <a:defRPr sz="1875" b="1">
                <a:solidFill>
                  <a:srgbClr val="122033"/>
                </a:solidFill>
              </a:defRPr>
            </a:lvl6pPr>
            <a:lvl7pPr algn="l">
              <a:defRPr sz="1875" b="1">
                <a:solidFill>
                  <a:srgbClr val="122033"/>
                </a:solidFill>
              </a:defRPr>
            </a:lvl7pPr>
            <a:lvl8pPr algn="l">
              <a:defRPr sz="1875" b="1">
                <a:solidFill>
                  <a:srgbClr val="122033"/>
                </a:solidFill>
              </a:defRPr>
            </a:lvl8pPr>
            <a:lvl9pPr algn="l">
              <a:defRPr sz="18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energy = energy - 1</a:t>
            </a:r>
          </a:p>
        </p:txBody>
      </p:sp>
    </p:spTree>
    <p:extLst>
      <p:ext uri="{BB962C8B-B14F-4D97-AF65-F5344CB8AC3E}">
        <p14:creationId xmlns:p14="http://schemas.microsoft.com/office/powerpoint/2010/main" val="391956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02AE4-2E2C-45AA-BEEA-75A45D81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9CC41-50F0-4152-AE25-1DA0C4E1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check before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16C43-C98F-4EC5-9BFE-BC727AE9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Answer with a partner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C6D57-967B-476B-9776-3FA2067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15C7C-C0EE-497A-A497-CD904922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2C590-4AC6-41CB-83FB-6ECBAE0F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How many times does a for loop run over a four-item list?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B5E6D-3AE2-4DD9-9C7E-1A1FEE0F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52F43-56C0-4EE7-89B6-82169329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does the loop variable hold during one iteration?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3F993-DFFE-4391-95ED-5F6BE708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0A953-D8AA-4035-8D57-D37596F4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Why does an accumulator start before the loop?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69C2B-AFB6-45F4-BAD0-66E81A3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C334A-87A9-4E5E-8BD3-A8E6722E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must change inside most while loops?</a:t>
            </a:r>
          </a:p>
        </p:txBody>
      </p:sp>
    </p:spTree>
    <p:extLst>
      <p:ext uri="{BB962C8B-B14F-4D97-AF65-F5344CB8AC3E}">
        <p14:creationId xmlns:p14="http://schemas.microsoft.com/office/powerpoint/2010/main" val="1832269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4DEEE-5DE2-4379-B531-1636AD49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A58B2-2D13-4123-B90E-C541A455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Super Mario Team 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9BA55-C6E8-4298-92AC-DD94331E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Module 1 is the main showcase from 9:35 to 10:25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4E2D1-9718-4019-B423-B4D728CE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A0006-7423-4187-B07E-3251A258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C7189-2FAB-4F93-ACB3-53941052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Teams choose Driver, Navigator, Predictor, and Reporter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74C0B-F3B4-4356-BDF2-1C680005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598AC-F941-45A5-83E9-7C89DD13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Each code cell changes an animated Mario scene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310E7-873A-4A8D-8AE2-D665D688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1BCE9-C042-4A45-AECA-8D7563DD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Students visit another team for the 10:00 Coin 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A5C70-71A0-4953-A69C-528EB9DF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5067C-3DAE-4DCB-9CF8-8C6121C6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Pairs finish with a Mario versus Bowser castle battle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8F4C2-DA26-4CC1-AA05-1986322E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14480922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C729E-5AE6-4D24-AAD3-28B6543F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81171-D63E-4A6C-85DF-6401DD31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Coin Rush photo showcase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CDCAB-9B52-4417-9C30-209F2F3A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At 10:00, every team visits another team and triggers the reveal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3EE64-97BE-468E-B4E6-3ED1A51C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7D050-5E08-4880-BF6D-26A5C1FD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7DFBD-CE81-4CAD-90F8-7094D260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6134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starting_coins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visitor_bonus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question_bonus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if coins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finish = "SECRET PIPE UNLOCKED!"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ECC0B-D2B4-4433-BF76-AC882037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E85D4A"/>
                </a:solidFill>
              </a:defRPr>
            </a:defPPr>
            <a:lvl1pPr algn="l">
              <a:defRPr sz="1875" b="1">
                <a:solidFill>
                  <a:srgbClr val="E85D4A"/>
                </a:solidFill>
              </a:defRPr>
            </a:lvl1pPr>
            <a:lvl2pPr algn="l">
              <a:defRPr sz="1875" b="1">
                <a:solidFill>
                  <a:srgbClr val="E85D4A"/>
                </a:solidFill>
              </a:defRPr>
            </a:lvl2pPr>
            <a:lvl3pPr algn="l">
              <a:defRPr sz="1875" b="1">
                <a:solidFill>
                  <a:srgbClr val="E85D4A"/>
                </a:solidFill>
              </a:defRPr>
            </a:lvl3pPr>
            <a:lvl4pPr algn="l">
              <a:defRPr sz="1875" b="1">
                <a:solidFill>
                  <a:srgbClr val="E85D4A"/>
                </a:solidFill>
              </a:defRPr>
            </a:lvl4pPr>
            <a:lvl5pPr algn="l">
              <a:defRPr sz="1875" b="1">
                <a:solidFill>
                  <a:srgbClr val="E85D4A"/>
                </a:solidFill>
              </a:defRPr>
            </a:lvl5pPr>
            <a:lvl6pPr algn="l">
              <a:defRPr sz="1875" b="1">
                <a:solidFill>
                  <a:srgbClr val="E85D4A"/>
                </a:solidFill>
              </a:defRPr>
            </a:lvl6pPr>
            <a:lvl7pPr algn="l">
              <a:defRPr sz="1875" b="1">
                <a:solidFill>
                  <a:srgbClr val="E85D4A"/>
                </a:solidFill>
              </a:defRPr>
            </a:lvl7pPr>
            <a:lvl8pPr algn="l">
              <a:defRPr sz="1875" b="1">
                <a:solidFill>
                  <a:srgbClr val="E85D4A"/>
                </a:solidFill>
              </a:defRPr>
            </a:lvl8pPr>
            <a:lvl9pPr algn="l">
              <a:defRPr sz="18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E85D4A"/>
                </a:solidFill>
              </a:defRPr>
            </a:pPr>
            <a:r>
              <a:rPr sz="1875" b="1">
                <a:solidFill>
                  <a:srgbClr val="E85D4A"/>
                </a:solidFill>
              </a:rPr>
              <a:t>Photo moment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30C1F-4FF9-441D-955C-485CD584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Teams stand together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Predictors announce the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Drivers run at the same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Animated results fill every screen</a:t>
            </a:r>
          </a:p>
        </p:txBody>
      </p:sp>
    </p:spTree>
    <p:extLst>
      <p:ext uri="{BB962C8B-B14F-4D97-AF65-F5344CB8AC3E}">
        <p14:creationId xmlns:p14="http://schemas.microsoft.com/office/powerpoint/2010/main" val="82545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9C74D-F410-4D7E-87F7-77253C99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88173-4C6F-42A9-A72C-57797C27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43BFC-FB9C-47D0-A43C-D0729347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782FB-A74B-49CE-9A7F-BFF0D65E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66B63-4963-4124-A671-0E1E5595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11635812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8F32B-0E28-4CB0-8C7A-C47F0713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2866F-163E-48A7-B9DD-8CD92F84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2765C-8E1A-47CE-8351-86E1E406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Arcade Loop Trainer is today’s main learning block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710F7-0C42-474C-BB75-07F38532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99A98-A1C9-4007-9B4F-2A57D287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5B7F6-D3D8-447B-85DA-7DD1CD80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Act out one loop with student volunteers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1D4BE-0CA7-4E39-BE08-8405AF4A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9EE5A-6695-478F-93B3-5A07C378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 counter through four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A0F90-5F4D-4187-9472-2B5B21B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A1DBD-74A3-4991-87BB-5FB4AE3F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an accumulator through three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7F6C1-4596-4585-8675-8E6D2AD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9EA86-F485-4E56-9DA3-68229501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Build a new list inside a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BDABC-361C-4394-AB32-C75D87B8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6E063-0984-4A37-BBA0-4FE16300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Repair a while loop so it stops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460B9-30A8-466D-8020-A0B173D9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434A2-33AB-4A58-9033-546C4C7D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Complete the arcade scoreboard boss</a:t>
            </a:r>
          </a:p>
        </p:txBody>
      </p:sp>
    </p:spTree>
    <p:extLst>
      <p:ext uri="{BB962C8B-B14F-4D97-AF65-F5344CB8AC3E}">
        <p14:creationId xmlns:p14="http://schemas.microsoft.com/office/powerpoint/2010/main" val="13658079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6E51F-E4FE-48AE-B36F-F0499D17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B2F84-5062-486F-960D-18EF2D12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DF506-3549-4E9D-B56A-A520BA7C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8030E-927E-4EA9-898D-EB0F55CA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FF148-A6D6-47DA-8B8E-BC660368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8806F-74C0-4985-8A2A-D1EC0EF4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7A3C1-4FBF-4E4A-BB63-E57B9084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C5A2B-559C-4C41-B329-2063B94C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6252800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B039C-5D9B-4E8E-B37D-11BBAF38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171A4-7BD9-49CE-845F-33301EE9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A36C5-F2AC-47B8-9F9F-617C1ABB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2B7E7-6159-4376-BA05-501A461F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68913-127D-4662-BA90-AE91FF58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18042532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F6AD8-5D98-48F2-B395-27CFAB33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AE948-B4D0-41FD-A8E5-D95DA99B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15ED5-8873-461E-A6D1-71836A69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Power-Up Functions: name reusable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3CD16-9A70-4471-941D-01E93DD4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B54F9-66FB-45C6-98D9-046B8241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BFFE7-DFF1-4622-BEC7-DF2D5AC3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CEC9C-32C8-4C98-AD31-BBB5878B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 the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E9ED6-60E8-4FA2-BCF3-E1FEA660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arguments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10 and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parameters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score and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return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038784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49C71-00D8-4258-8658-8788F85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BD8C3-3AD2-438E-B53B-75840EE4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AC1C5-2269-4C06-ADC1-F1C738A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90C6D-B5E1-4A68-9996-00B28E3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C2B12-C078-4637-A013-68A4C147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C68F5-FB84-400A-BE85-02C36ED5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39AED-EA54-411C-90AB-B47DF814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00BC7-76EA-4898-B52E-15D0C367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6706040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30C34-08A6-405F-A196-4720830D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96B8D-980E-4FFC-A1F9-B7DC3C94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7C0D4-6054-4978-A166-4F21689F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38D3B-D670-4EE7-BDF3-A02FA6EF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F37F3-58FC-4CF5-9A40-CFADC803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41D17-3F94-4154-A6FB-4BE726B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980C0-4E3A-46CB-B6C1-6E3AB53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222C8-3756-4A35-B6CD-F22D060A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4BAE8-28BF-4364-9C04-F5220DE0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79576-B175-425A-A9FD-5AA24D7A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327D6-3FED-49D2-B03B-4CCFE712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F2FD1-F05F-4303-9380-FA33F7AC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B02F6-40F7-4E99-82AD-912DC1E0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C3B0B-AF59-4186-A10A-9478B358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6183504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6B467-1E8A-462C-A21C-38A3E661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D72FD-68DD-4F74-99BF-ED3F9D37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96D5B-1391-43C2-A66F-A77CABFB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A5F27-561F-4C07-A2FB-ED709584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74DDE-CFF8-49CF-8167-6BFDDF63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A8EFC-B8CB-4BA6-A008-0FF2001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C3A37-D22B-4589-8BDC-2760E0F8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020E7-BFDA-4878-8001-E26B869A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9E6E1-DFAC-4842-93A4-4352FFAE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FF10A-A317-482F-AA21-FAF8D52D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D82AE-8AAB-411D-9097-D3089BDF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D3CE9-5522-4BAF-846B-BC986D45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must happen so a while loop stops?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AC88A-6548-4BA6-A288-6406FF9D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1628C-A71A-41BF-A6BA-363516C2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</p:spTree>
    <p:extLst>
      <p:ext uri="{BB962C8B-B14F-4D97-AF65-F5344CB8AC3E}">
        <p14:creationId xmlns:p14="http://schemas.microsoft.com/office/powerpoint/2010/main" val="1984646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2026-10-31T03:05:08.7460000Z</dcterms:created>
  <dcterms:modified xsi:type="dcterms:W3CDTF">2026-10-31T03:05:08.7470000Z</dcterms:modified>
</coreProperties>
</file>