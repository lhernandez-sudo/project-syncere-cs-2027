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0a94b1f574471c" /><Relationship Type="http://schemas.openxmlformats.org/officeDocument/2006/relationships/extended-properties" Target="/docProps/app.xml" Id="Rc09ef4346a584785" /><Relationship Type="http://schemas.openxmlformats.org/officeDocument/2006/relationships/officeDocument" Target="/ppt/presentation.xml" Id="R4b597be3bb794c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47fc1689c54d8c"/>
  </p:sldMasterIdLst>
  <p:notesMasterIdLst>
    <p:notesMasterId xmlns:r="http://schemas.openxmlformats.org/officeDocument/2006/relationships" r:id="R7f96f8fdbf4f4f21"/>
  </p:notesMasterIdLst>
  <p:sldIdLst>
    <p:sldId xmlns:r="http://schemas.openxmlformats.org/officeDocument/2006/relationships" id="256" r:id="R05f902ccc11d49d1"/>
    <p:sldId xmlns:r="http://schemas.openxmlformats.org/officeDocument/2006/relationships" id="257" r:id="Rc17bbe6f83404e2b"/>
    <p:sldId xmlns:r="http://schemas.openxmlformats.org/officeDocument/2006/relationships" id="258" r:id="R158a7cf87a0a4d6e"/>
    <p:sldId xmlns:r="http://schemas.openxmlformats.org/officeDocument/2006/relationships" id="259" r:id="R3f67c84268074750"/>
    <p:sldId xmlns:r="http://schemas.openxmlformats.org/officeDocument/2006/relationships" id="260" r:id="Re471c0027d54440b"/>
    <p:sldId xmlns:r="http://schemas.openxmlformats.org/officeDocument/2006/relationships" id="261" r:id="R5a40827a25514899"/>
    <p:sldId xmlns:r="http://schemas.openxmlformats.org/officeDocument/2006/relationships" id="262" r:id="R1a2d656eece343cc"/>
    <p:sldId xmlns:r="http://schemas.openxmlformats.org/officeDocument/2006/relationships" id="263" r:id="R2e11fcce2ebc4768"/>
    <p:sldId xmlns:r="http://schemas.openxmlformats.org/officeDocument/2006/relationships" id="264" r:id="Ra09b3d4596e34e94"/>
    <p:sldId xmlns:r="http://schemas.openxmlformats.org/officeDocument/2006/relationships" id="265" r:id="Rd4aac6640b3441c9"/>
    <p:sldId xmlns:r="http://schemas.openxmlformats.org/officeDocument/2006/relationships" id="266" r:id="R4d3d1d25ea7a4564"/>
    <p:sldId xmlns:r="http://schemas.openxmlformats.org/officeDocument/2006/relationships" id="267" r:id="Rba233227d42d4d8b"/>
    <p:sldId xmlns:r="http://schemas.openxmlformats.org/officeDocument/2006/relationships" id="268" r:id="Rf6e0bc6f42fa4af5"/>
    <p:sldId xmlns:r="http://schemas.openxmlformats.org/officeDocument/2006/relationships" id="269" r:id="R2ffda9ef6cc04be0"/>
    <p:sldId xmlns:r="http://schemas.openxmlformats.org/officeDocument/2006/relationships" id="270" r:id="R72e3af092aed4233"/>
    <p:sldId xmlns:r="http://schemas.openxmlformats.org/officeDocument/2006/relationships" id="271" r:id="R09cd8770e0a54f35"/>
    <p:sldId xmlns:r="http://schemas.openxmlformats.org/officeDocument/2006/relationships" id="272" r:id="R6b6149d9cb6446de"/>
    <p:sldId xmlns:r="http://schemas.openxmlformats.org/officeDocument/2006/relationships" id="273" r:id="R2575e37b55fb47d4"/>
    <p:sldId xmlns:r="http://schemas.openxmlformats.org/officeDocument/2006/relationships" id="274" r:id="R14d350fbcd584731"/>
    <p:sldId xmlns:r="http://schemas.openxmlformats.org/officeDocument/2006/relationships" id="275" r:id="Rd285889cadc143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fce03beb4947f2" /><Relationship Type="http://schemas.openxmlformats.org/officeDocument/2006/relationships/slideMaster" Target="/ppt/slideMasters/slideMaster1.xml" Id="Rf247fc1689c54d8c" /><Relationship Type="http://schemas.openxmlformats.org/officeDocument/2006/relationships/notesMaster" Target="/ppt/notesMasters/notesMaster1.xml" Id="R7f96f8fdbf4f4f21" /><Relationship Type="http://schemas.openxmlformats.org/officeDocument/2006/relationships/presProps" Target="/ppt/presProps.xml" Id="R04024e9302964bf2" /><Relationship Type="http://schemas.openxmlformats.org/officeDocument/2006/relationships/tableStyles" Target="/ppt/tableStyles.xml" Id="Rbd6090f82efa4839" /><Relationship Type="http://schemas.openxmlformats.org/officeDocument/2006/relationships/slide" Target="/ppt/slides/slide1.xml" Id="R05f902ccc11d49d1" /><Relationship Type="http://schemas.openxmlformats.org/officeDocument/2006/relationships/slide" Target="/ppt/slides/slide2.xml" Id="Rc17bbe6f83404e2b" /><Relationship Type="http://schemas.openxmlformats.org/officeDocument/2006/relationships/slide" Target="/ppt/slides/slide3.xml" Id="R158a7cf87a0a4d6e" /><Relationship Type="http://schemas.openxmlformats.org/officeDocument/2006/relationships/slide" Target="/ppt/slides/slide4.xml" Id="R3f67c84268074750" /><Relationship Type="http://schemas.openxmlformats.org/officeDocument/2006/relationships/slide" Target="/ppt/slides/slide5.xml" Id="Re471c0027d54440b" /><Relationship Type="http://schemas.openxmlformats.org/officeDocument/2006/relationships/slide" Target="/ppt/slides/slide6.xml" Id="R5a40827a25514899" /><Relationship Type="http://schemas.openxmlformats.org/officeDocument/2006/relationships/slide" Target="/ppt/slides/slide7.xml" Id="R1a2d656eece343cc" /><Relationship Type="http://schemas.openxmlformats.org/officeDocument/2006/relationships/slide" Target="/ppt/slides/slide8.xml" Id="R2e11fcce2ebc4768" /><Relationship Type="http://schemas.openxmlformats.org/officeDocument/2006/relationships/slide" Target="/ppt/slides/slide9.xml" Id="Ra09b3d4596e34e94" /><Relationship Type="http://schemas.openxmlformats.org/officeDocument/2006/relationships/slide" Target="/ppt/slides/slide10.xml" Id="Rd4aac6640b3441c9" /><Relationship Type="http://schemas.openxmlformats.org/officeDocument/2006/relationships/slide" Target="/ppt/slides/slide11.xml" Id="R4d3d1d25ea7a4564" /><Relationship Type="http://schemas.openxmlformats.org/officeDocument/2006/relationships/slide" Target="/ppt/slides/slide12.xml" Id="Rba233227d42d4d8b" /><Relationship Type="http://schemas.openxmlformats.org/officeDocument/2006/relationships/slide" Target="/ppt/slides/slide13.xml" Id="Rf6e0bc6f42fa4af5" /><Relationship Type="http://schemas.openxmlformats.org/officeDocument/2006/relationships/slide" Target="/ppt/slides/slide14.xml" Id="R2ffda9ef6cc04be0" /><Relationship Type="http://schemas.openxmlformats.org/officeDocument/2006/relationships/slide" Target="/ppt/slides/slide15.xml" Id="R72e3af092aed4233" /><Relationship Type="http://schemas.openxmlformats.org/officeDocument/2006/relationships/slide" Target="/ppt/slides/slide16.xml" Id="R09cd8770e0a54f35" /><Relationship Type="http://schemas.openxmlformats.org/officeDocument/2006/relationships/slide" Target="/ppt/slides/slide17.xml" Id="R6b6149d9cb6446de" /><Relationship Type="http://schemas.openxmlformats.org/officeDocument/2006/relationships/slide" Target="/ppt/slides/slide18.xml" Id="R2575e37b55fb47d4" /><Relationship Type="http://schemas.openxmlformats.org/officeDocument/2006/relationships/slide" Target="/ppt/slides/slide19.xml" Id="R14d350fbcd584731" /><Relationship Type="http://schemas.openxmlformats.org/officeDocument/2006/relationships/slide" Target="/ppt/slides/slide20.xml" Id="Rd285889cadc143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50e6b461cc4f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96940e723c49a5" /><Relationship Type="http://schemas.openxmlformats.org/officeDocument/2006/relationships/notesMaster" Target="/ppt/notesMasters/notesMaster1.xml" Id="R3fe7d27aa2fb40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3487940f984aa4" /><Relationship Type="http://schemas.openxmlformats.org/officeDocument/2006/relationships/notesMaster" Target="/ppt/notesMasters/notesMaster1.xml" Id="R076f4c3588564e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0cc8d6ebcd45a2" /><Relationship Type="http://schemas.openxmlformats.org/officeDocument/2006/relationships/notesMaster" Target="/ppt/notesMasters/notesMaster1.xml" Id="R82de6e4a010d4d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41995d9cc644f3" /><Relationship Type="http://schemas.openxmlformats.org/officeDocument/2006/relationships/notesMaster" Target="/ppt/notesMasters/notesMaster1.xml" Id="Rd2bda600a4b646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76e88a53004d10" /><Relationship Type="http://schemas.openxmlformats.org/officeDocument/2006/relationships/notesMaster" Target="/ppt/notesMasters/notesMaster1.xml" Id="R647b6704ce4d4f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fc0cae3cd44999" /><Relationship Type="http://schemas.openxmlformats.org/officeDocument/2006/relationships/notesMaster" Target="/ppt/notesMasters/notesMaster1.xml" Id="Ra2a7b6c59ab84a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42f4e438924493" /><Relationship Type="http://schemas.openxmlformats.org/officeDocument/2006/relationships/notesMaster" Target="/ppt/notesMasters/notesMaster1.xml" Id="R6a43bf60d03246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bc63f5b7d34ebb" /><Relationship Type="http://schemas.openxmlformats.org/officeDocument/2006/relationships/notesMaster" Target="/ppt/notesMasters/notesMaster1.xml" Id="R8f7d435aeb8d41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b65e6887ff4eac" /><Relationship Type="http://schemas.openxmlformats.org/officeDocument/2006/relationships/notesMaster" Target="/ppt/notesMasters/notesMaster1.xml" Id="R49b2e9197f6641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dc1716e7364e25" /><Relationship Type="http://schemas.openxmlformats.org/officeDocument/2006/relationships/notesMaster" Target="/ppt/notesMasters/notesMaster1.xml" Id="R1dd940e45e3b4a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fe84625b6a49e6" /><Relationship Type="http://schemas.openxmlformats.org/officeDocument/2006/relationships/notesMaster" Target="/ppt/notesMasters/notesMaster1.xml" Id="R36e9e5c81ae048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f904db89ec4a2a" /><Relationship Type="http://schemas.openxmlformats.org/officeDocument/2006/relationships/notesMaster" Target="/ppt/notesMasters/notesMaster1.xml" Id="R04d2bc12e26c43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ffd10e99eb4313" /><Relationship Type="http://schemas.openxmlformats.org/officeDocument/2006/relationships/notesMaster" Target="/ppt/notesMasters/notesMaster1.xml" Id="R262e5b9e4a4a44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20b734ca284503" /><Relationship Type="http://schemas.openxmlformats.org/officeDocument/2006/relationships/notesMaster" Target="/ppt/notesMasters/notesMaster1.xml" Id="Rfec9757072a441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c1619dd6f540ec" /><Relationship Type="http://schemas.openxmlformats.org/officeDocument/2006/relationships/notesMaster" Target="/ppt/notesMasters/notesMaster1.xml" Id="R266d5326387f4c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71dad865a24097" /><Relationship Type="http://schemas.openxmlformats.org/officeDocument/2006/relationships/notesMaster" Target="/ppt/notesMasters/notesMaster1.xml" Id="Rbb45a012436c47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eb411e51a28452f" /><Relationship Type="http://schemas.openxmlformats.org/officeDocument/2006/relationships/notesMaster" Target="/ppt/notesMasters/notesMaster1.xml" Id="R86c1dec7bbf24e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39661ecdba40a2" /><Relationship Type="http://schemas.openxmlformats.org/officeDocument/2006/relationships/notesMaster" Target="/ppt/notesMasters/notesMaster1.xml" Id="R6d2bed7314b048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ecd3b5bc9c4eb6" /><Relationship Type="http://schemas.openxmlformats.org/officeDocument/2006/relationships/notesMaster" Target="/ppt/notesMasters/notesMaster1.xml" Id="Rd911acc245074d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850420fea9046a4" /><Relationship Type="http://schemas.openxmlformats.org/officeDocument/2006/relationships/notesMaster" Target="/ppt/notesMasters/notesMaster1.xml" Id="R707b0759251a4e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a13c59aaa4a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88f6ca7cf43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bee2605d34c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4780d89e24e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aa0c2d9824f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b95588e22240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27E0C7-672E-441B-9552-42142873A4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4F83A6-5641-430B-A97B-B74BB1BCF3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108673-FDC3-420B-A2EE-3B79024C79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CD2FA5-DE29-4EC9-829A-4E08B51144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5D9AC6-E2D8-4FA2-96B2-9E9C2A8F91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81B3EB-45BF-4585-A476-B777DFB0F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5266E1-8782-44A3-BA9C-0B4A419032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E68678-702A-48CB-B007-0B998BE0A6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891DA5-A584-4D3B-BF40-D2F491040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3E9081-6C76-48D2-9976-FA0A688126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e03f65c1104694" /><Relationship Type="http://schemas.openxmlformats.org/officeDocument/2006/relationships/slideLayout" Target="/ppt/slideLayouts/slideLayout1.xml" Id="Rfadd0c2d39c94f8e" /><Relationship Type="http://schemas.openxmlformats.org/officeDocument/2006/relationships/slideLayout" Target="/ppt/slideLayouts/slideLayout2.xml" Id="R2cee342bcf3e490c" /><Relationship Type="http://schemas.openxmlformats.org/officeDocument/2006/relationships/slideLayout" Target="/ppt/slideLayouts/slideLayout3.xml" Id="Rd8f60403c09f4dbc" /><Relationship Type="http://schemas.openxmlformats.org/officeDocument/2006/relationships/slideLayout" Target="/ppt/slideLayouts/slideLayout4.xml" Id="R71e4e7dea0654ee3" /><Relationship Type="http://schemas.openxmlformats.org/officeDocument/2006/relationships/slideLayout" Target="/ppt/slideLayouts/slideLayout5.xml" Id="R981911599fb94f79" /><Relationship Type="http://schemas.openxmlformats.org/officeDocument/2006/relationships/slideLayout" Target="/ppt/slideLayouts/slideLayout6.xml" Id="R8e7eb21fd78d4d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dd0c2d39c94f8e"/>
    <p:sldLayoutId xmlns:r="http://schemas.openxmlformats.org/officeDocument/2006/relationships" id="2147483650" r:id="R2cee342bcf3e490c"/>
    <p:sldLayoutId xmlns:r="http://schemas.openxmlformats.org/officeDocument/2006/relationships" id="2147483651" r:id="Rd8f60403c09f4dbc"/>
    <p:sldLayoutId xmlns:r="http://schemas.openxmlformats.org/officeDocument/2006/relationships" id="2147483652" r:id="R71e4e7dea0654ee3"/>
    <p:sldLayoutId xmlns:r="http://schemas.openxmlformats.org/officeDocument/2006/relationships" id="2147483653" r:id="R981911599fb94f79"/>
    <p:sldLayoutId xmlns:r="http://schemas.openxmlformats.org/officeDocument/2006/relationships" id="2147483654" r:id="R8e7eb21fd78d4d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7059bbb3a4efd" /><Relationship Type="http://schemas.openxmlformats.org/officeDocument/2006/relationships/notesSlide" Target="/ppt/notesSlides/notesSlide1.xml" Id="Rc31b83fe55194b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38647e0fb54e60" /><Relationship Type="http://schemas.openxmlformats.org/officeDocument/2006/relationships/notesSlide" Target="/ppt/notesSlides/notesSlide2.xml" Id="R3003c30eff1c45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195ecd2854ac0" /><Relationship Type="http://schemas.openxmlformats.org/officeDocument/2006/relationships/notesSlide" Target="/ppt/notesSlides/notesSlide3.xml" Id="R85df6020e8444f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e85625de745a4" /><Relationship Type="http://schemas.openxmlformats.org/officeDocument/2006/relationships/notesSlide" Target="/ppt/notesSlides/notesSlide4.xml" Id="Re496bf77e9fa42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2e1f938f6344fd" /><Relationship Type="http://schemas.openxmlformats.org/officeDocument/2006/relationships/notesSlide" Target="/ppt/notesSlides/notesSlide5.xml" Id="Ra4133657a5ce4e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50eaa7670411d" /><Relationship Type="http://schemas.openxmlformats.org/officeDocument/2006/relationships/notesSlide" Target="/ppt/notesSlides/notesSlide6.xml" Id="Rbfb2e7d6cbf247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6d4c525e84d07" /><Relationship Type="http://schemas.openxmlformats.org/officeDocument/2006/relationships/notesSlide" Target="/ppt/notesSlides/notesSlide7.xml" Id="R10934339a26141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d330b36f354e0f" /><Relationship Type="http://schemas.openxmlformats.org/officeDocument/2006/relationships/notesSlide" Target="/ppt/notesSlides/notesSlide8.xml" Id="R589172fe83a243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94a73a64a14154" /><Relationship Type="http://schemas.openxmlformats.org/officeDocument/2006/relationships/notesSlide" Target="/ppt/notesSlides/notesSlide9.xml" Id="Rf3144c4e09ac4f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3cc8929404a32" /><Relationship Type="http://schemas.openxmlformats.org/officeDocument/2006/relationships/notesSlide" Target="/ppt/notesSlides/notesSlide10.xml" Id="Red783180bc4346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d424c27bce430b" /><Relationship Type="http://schemas.openxmlformats.org/officeDocument/2006/relationships/notesSlide" Target="/ppt/notesSlides/notesSlide11.xml" Id="Rc2015e1cae9b44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6825ecabbd473e" /><Relationship Type="http://schemas.openxmlformats.org/officeDocument/2006/relationships/notesSlide" Target="/ppt/notesSlides/notesSlide12.xml" Id="R44d6b5d5adab45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3a77d1c0934565" /><Relationship Type="http://schemas.openxmlformats.org/officeDocument/2006/relationships/notesSlide" Target="/ppt/notesSlides/notesSlide13.xml" Id="R3e94ea731a1040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f18ae0eb743dc" /><Relationship Type="http://schemas.openxmlformats.org/officeDocument/2006/relationships/notesSlide" Target="/ppt/notesSlides/notesSlide14.xml" Id="R4d02eeb32acb4e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aacb6974943d6" /><Relationship Type="http://schemas.openxmlformats.org/officeDocument/2006/relationships/notesSlide" Target="/ppt/notesSlides/notesSlide15.xml" Id="Rd8f17ed2e61b47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17f9b462024e68" /><Relationship Type="http://schemas.openxmlformats.org/officeDocument/2006/relationships/notesSlide" Target="/ppt/notesSlides/notesSlide16.xml" Id="R4816fb0b5e544c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3453bab5324af0" /><Relationship Type="http://schemas.openxmlformats.org/officeDocument/2006/relationships/notesSlide" Target="/ppt/notesSlides/notesSlide17.xml" Id="Rac0511a27d294c9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39c3d742b34e54" /><Relationship Type="http://schemas.openxmlformats.org/officeDocument/2006/relationships/notesSlide" Target="/ppt/notesSlides/notesSlide18.xml" Id="Rdd4bd85f3c7c4e1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967da3076745aa" /><Relationship Type="http://schemas.openxmlformats.org/officeDocument/2006/relationships/notesSlide" Target="/ppt/notesSlides/notesSlide19.xml" Id="R26d95905be09416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9bf935b08245cf" /><Relationship Type="http://schemas.openxmlformats.org/officeDocument/2006/relationships/notesSlide" Target="/ppt/notesSlides/notesSlide20.xml" Id="R2f5d0484d88f4f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C8B16-3B11-40CC-B000-245B3867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55730-0BA9-47ED-9EB4-964B0CBA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  <a:lvl1pPr algn="l">
              <a:defRPr sz="3900" b="1">
                <a:solidFill>
                  <a:srgbClr val="FFFFFF"/>
                </a:solidFill>
              </a:defRPr>
            </a:lvl1pPr>
            <a:lvl2pPr algn="l">
              <a:defRPr sz="3900" b="1">
                <a:solidFill>
                  <a:srgbClr val="FFFFFF"/>
                </a:solidFill>
              </a:defRPr>
            </a:lvl2pPr>
            <a:lvl3pPr algn="l">
              <a:defRPr sz="3900" b="1">
                <a:solidFill>
                  <a:srgbClr val="FFFFFF"/>
                </a:solidFill>
              </a:defRPr>
            </a:lvl3pPr>
            <a:lvl4pPr algn="l">
              <a:defRPr sz="3900" b="1">
                <a:solidFill>
                  <a:srgbClr val="FFFFFF"/>
                </a:solidFill>
              </a:defRPr>
            </a:lvl4pPr>
            <a:lvl5pPr algn="l">
              <a:defRPr sz="3900" b="1">
                <a:solidFill>
                  <a:srgbClr val="FFFFFF"/>
                </a:solidFill>
              </a:defRPr>
            </a:lvl5pPr>
            <a:lvl6pPr algn="l">
              <a:defRPr sz="3900" b="1">
                <a:solidFill>
                  <a:srgbClr val="FFFFFF"/>
                </a:solidFill>
              </a:defRPr>
            </a:lvl6pPr>
            <a:lvl7pPr algn="l">
              <a:defRPr sz="3900" b="1">
                <a:solidFill>
                  <a:srgbClr val="FFFFFF"/>
                </a:solidFill>
              </a:defRPr>
            </a:lvl7pPr>
            <a:lvl8pPr algn="l">
              <a:defRPr sz="3900" b="1">
                <a:solidFill>
                  <a:srgbClr val="FFFFFF"/>
                </a:solidFill>
              </a:defRPr>
            </a:lvl8pPr>
            <a:lvl9pPr algn="l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Python Loop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3DD1F-A7F6-435B-AC5E-C987EAAB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B8D7F0"/>
                </a:solidFill>
              </a:defRPr>
            </a:defPPr>
            <a:lvl1pPr algn="l">
              <a:defRPr sz="2100" b="0">
                <a:solidFill>
                  <a:srgbClr val="B8D7F0"/>
                </a:solidFill>
              </a:defRPr>
            </a:lvl1pPr>
            <a:lvl2pPr algn="l">
              <a:defRPr sz="2100" b="0">
                <a:solidFill>
                  <a:srgbClr val="B8D7F0"/>
                </a:solidFill>
              </a:defRPr>
            </a:lvl2pPr>
            <a:lvl3pPr algn="l">
              <a:defRPr sz="2100" b="0">
                <a:solidFill>
                  <a:srgbClr val="B8D7F0"/>
                </a:solidFill>
              </a:defRPr>
            </a:lvl3pPr>
            <a:lvl4pPr algn="l">
              <a:defRPr sz="2100" b="0">
                <a:solidFill>
                  <a:srgbClr val="B8D7F0"/>
                </a:solidFill>
              </a:defRPr>
            </a:lvl4pPr>
            <a:lvl5pPr algn="l">
              <a:defRPr sz="2100" b="0">
                <a:solidFill>
                  <a:srgbClr val="B8D7F0"/>
                </a:solidFill>
              </a:defRPr>
            </a:lvl5pPr>
            <a:lvl6pPr algn="l">
              <a:defRPr sz="2100" b="0">
                <a:solidFill>
                  <a:srgbClr val="B8D7F0"/>
                </a:solidFill>
              </a:defRPr>
            </a:lvl6pPr>
            <a:lvl7pPr algn="l">
              <a:defRPr sz="2100" b="0">
                <a:solidFill>
                  <a:srgbClr val="B8D7F0"/>
                </a:solidFill>
              </a:defRPr>
            </a:lvl7pPr>
            <a:lvl8pPr algn="l">
              <a:defRPr sz="2100" b="0">
                <a:solidFill>
                  <a:srgbClr val="B8D7F0"/>
                </a:solidFill>
              </a:defRPr>
            </a:lvl8pPr>
            <a:lvl9pPr algn="l">
              <a:defRPr sz="2100" b="0">
                <a:solidFill>
                  <a:srgbClr val="B8D7F0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8D7F0"/>
                </a:solidFill>
              </a:defRPr>
            </a:pPr>
            <a:r>
              <a:rPr sz="2100" b="0">
                <a:solidFill>
                  <a:srgbClr val="B8D7F0"/>
                </a:solidFill>
              </a:rPr>
              <a:t>Beginner practice before every lab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96F44-728C-4AF8-9764-D7152DDA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9E8F5"/>
                </a:solidFill>
              </a:defRPr>
            </a:defPPr>
            <a:lvl1pPr algn="l">
              <a:defRPr sz="1500" b="0">
                <a:solidFill>
                  <a:srgbClr val="D9E8F5"/>
                </a:solidFill>
              </a:defRPr>
            </a:lvl1pPr>
            <a:lvl2pPr algn="l">
              <a:defRPr sz="1500" b="0">
                <a:solidFill>
                  <a:srgbClr val="D9E8F5"/>
                </a:solidFill>
              </a:defRPr>
            </a:lvl2pPr>
            <a:lvl3pPr algn="l">
              <a:defRPr sz="1500" b="0">
                <a:solidFill>
                  <a:srgbClr val="D9E8F5"/>
                </a:solidFill>
              </a:defRPr>
            </a:lvl3pPr>
            <a:lvl4pPr algn="l">
              <a:defRPr sz="1500" b="0">
                <a:solidFill>
                  <a:srgbClr val="D9E8F5"/>
                </a:solidFill>
              </a:defRPr>
            </a:lvl4pPr>
            <a:lvl5pPr algn="l">
              <a:defRPr sz="1500" b="0">
                <a:solidFill>
                  <a:srgbClr val="D9E8F5"/>
                </a:solidFill>
              </a:defRPr>
            </a:lvl5pPr>
            <a:lvl6pPr algn="l">
              <a:defRPr sz="1500" b="0">
                <a:solidFill>
                  <a:srgbClr val="D9E8F5"/>
                </a:solidFill>
              </a:defRPr>
            </a:lvl6pPr>
            <a:lvl7pPr algn="l">
              <a:defRPr sz="1500" b="0">
                <a:solidFill>
                  <a:srgbClr val="D9E8F5"/>
                </a:solidFill>
              </a:defRPr>
            </a:lvl7pPr>
            <a:lvl8pPr algn="l">
              <a:defRPr sz="1500" b="0">
                <a:solidFill>
                  <a:srgbClr val="D9E8F5"/>
                </a:solidFill>
              </a:defRPr>
            </a:lvl8pPr>
            <a:lvl9pPr algn="l">
              <a:defRPr sz="1500" b="0">
                <a:solidFill>
                  <a:srgbClr val="D9E8F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9E8F5"/>
                </a:solidFill>
              </a:defRPr>
            </a:pPr>
            <a:r>
              <a:rPr sz="1500" b="0">
                <a:solidFill>
                  <a:srgbClr val="D9E8F5"/>
                </a:solidFill>
              </a:rPr>
              <a:t>Week 5  •  Mario review  •  Three guided Colab labs</a:t>
            </a:r>
          </a:p>
        </p:txBody>
      </p:sp>
    </p:spTree>
    <p:extLst>
      <p:ext uri="{BB962C8B-B14F-4D97-AF65-F5344CB8AC3E}">
        <p14:creationId xmlns:p14="http://schemas.microsoft.com/office/powerpoint/2010/main" val="3626216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8F3EA-8778-4DA7-B4D8-5BCA6526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0FE0D-133F-46BA-A847-CEFD5F25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Today’s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11951-CD46-490E-B30F-5DD28F51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Class ends at 1:00 PM — the first 15 minutes are for arrival and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36AA7-A2FB-46EC-A1F6-743C718B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27238-68D2-4C5B-AA3E-BBE5FD45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E9C0F-E5D9-4C9A-804B-A8D5978E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9:00–9:15  Arrive, sign in, open the browser, and get 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D0265-3619-4CA2-83A3-7EAFEA30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E800B-3A54-4605-92E0-136BDD50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9:15–9:35  Mario review and class voting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922FF-108E-4FF8-B0C4-5D54193A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8BA59-EEF3-4BE5-A23B-E111730C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9:35–10:25  Loop demonstration and Module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4C46C-D3BA-413B-83A0-5688DBA1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6CFDD-5648-4179-92B7-A9AD9AB8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10:25–10:35  Break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03AE4-1FE3-495E-B273-50E5D617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00B68-96FB-4654-B42D-EB531D63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10:35–11:20  Module 2: Arcade Loop Trainer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7A2AE-9FE6-4F29-AA6B-E099A607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E0C18-C991-4A70-A8B0-31629C42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11:20–11:30  Break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B0509-CF1C-4020-8CAA-9869A1A1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0E49F-4D44-46D6-9B94-293ACC8A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11:30–12:15  Module 3: Power-Up Functions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EBC7D-8A9B-4E04-91A4-AB5E91FD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545CCB-5043-4492-B516-DC30BCD4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12:15–1:00  Boss challenge, peer debugging, exit ticket, and save</a:t>
            </a:r>
          </a:p>
        </p:txBody>
      </p:sp>
    </p:spTree>
    <p:extLst>
      <p:ext uri="{BB962C8B-B14F-4D97-AF65-F5344CB8AC3E}">
        <p14:creationId xmlns:p14="http://schemas.microsoft.com/office/powerpoint/2010/main" val="3439863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C9FE4-24FB-4540-A4F8-451C0EE2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6A35A-625D-44F9-9550-967967EE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Participation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B999E-565F-409F-A982-9C1AD164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Every student gets thinking time before anyone answers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FC11D-1B24-4966-B94E-2B13B1E4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305EF-8DCA-42B3-AD18-E7A1D6D8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D3283-3C4F-4A67-B44F-92CFF850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287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Think silently for 20 seconds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CF625-4D18-4ACF-B46E-63AC1AB1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7C840-8CC0-436C-B68F-9F114B6E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145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Write one prediction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9A0B4-B2C1-460C-A8F9-8849D224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E3D57-7885-4A95-B82A-D51ECFE2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003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Compare with one partner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86E1B-481A-4F3B-8AE1-117A963F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0F013-1BCA-4706-9D16-E87F6EF4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861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Vote with fingers: 1, 2, or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2833F-E525-4D0D-BC6E-3FF04E0D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BEB61-7E0D-43C3-926E-9873A9C2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Run the code only after the vote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D68AA-8DE8-4A2F-8B99-0607BAF4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5E57D-AAC4-4ADA-950D-44239508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577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Explain the result in plain English</a:t>
            </a:r>
          </a:p>
        </p:txBody>
      </p:sp>
    </p:spTree>
    <p:extLst>
      <p:ext uri="{BB962C8B-B14F-4D97-AF65-F5344CB8AC3E}">
        <p14:creationId xmlns:p14="http://schemas.microsoft.com/office/powerpoint/2010/main" val="6422623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F46F8-4CD1-4A45-9B84-DAF53DA2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67F77-6F3B-4390-975C-1CB05E75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A loop repeats a block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64491-4BFD-426D-93C0-77364200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computer follows the same steps for several values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2CD9E-DD07-499D-B9BE-C47F706C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E5C04-93AB-4225-9DB5-6255A8E7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PLAIN 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FB61D-7FFB-4527-B3C4-AD4E2B5F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22033"/>
                </a:solidFill>
              </a:defRPr>
            </a:defPPr>
            <a:lvl1pPr algn="l">
              <a:defRPr sz="2400" b="1">
                <a:solidFill>
                  <a:srgbClr val="122033"/>
                </a:solidFill>
              </a:defRPr>
            </a:lvl1pPr>
            <a:lvl2pPr algn="l">
              <a:defRPr sz="2400" b="1">
                <a:solidFill>
                  <a:srgbClr val="122033"/>
                </a:solidFill>
              </a:defRPr>
            </a:lvl2pPr>
            <a:lvl3pPr algn="l">
              <a:defRPr sz="2400" b="1">
                <a:solidFill>
                  <a:srgbClr val="122033"/>
                </a:solidFill>
              </a:defRPr>
            </a:lvl3pPr>
            <a:lvl4pPr algn="l">
              <a:defRPr sz="2400" b="1">
                <a:solidFill>
                  <a:srgbClr val="122033"/>
                </a:solidFill>
              </a:defRPr>
            </a:lvl4pPr>
            <a:lvl5pPr algn="l">
              <a:defRPr sz="2400" b="1">
                <a:solidFill>
                  <a:srgbClr val="122033"/>
                </a:solidFill>
              </a:defRPr>
            </a:lvl5pPr>
            <a:lvl6pPr algn="l">
              <a:defRPr sz="2400" b="1">
                <a:solidFill>
                  <a:srgbClr val="122033"/>
                </a:solidFill>
              </a:defRPr>
            </a:lvl6pPr>
            <a:lvl7pPr algn="l">
              <a:defRPr sz="2400" b="1">
                <a:solidFill>
                  <a:srgbClr val="122033"/>
                </a:solidFill>
              </a:defRPr>
            </a:lvl7pPr>
            <a:lvl8pPr algn="l">
              <a:defRPr sz="2400" b="1">
                <a:solidFill>
                  <a:srgbClr val="122033"/>
                </a:solidFill>
              </a:defRPr>
            </a:lvl8pPr>
            <a:lvl9pPr algn="l">
              <a:defRPr sz="240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033"/>
                </a:solidFill>
              </a:defRPr>
            </a:pPr>
            <a:r>
              <a:rPr sz="2400" b="1">
                <a:solidFill>
                  <a:srgbClr val="122033"/>
                </a:solidFill>
              </a:rPr>
              <a:t>For each player in the team, print the player’s name.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C3990-2BFB-4BA2-9007-A3DA888A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16F9B-69AB-43AA-ABB4-39F004DB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8096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18ED3-8936-4178-9239-2C6A4FEF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7562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players = ["Ava", "Noah", "Zion"]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player in players: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print(player)</a:t>
            </a:r>
          </a:p>
        </p:txBody>
      </p:sp>
    </p:spTree>
    <p:extLst>
      <p:ext uri="{BB962C8B-B14F-4D97-AF65-F5344CB8AC3E}">
        <p14:creationId xmlns:p14="http://schemas.microsoft.com/office/powerpoint/2010/main" val="11326440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3B55E-95CD-4B0E-94F9-1A8D85C1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56357-E4CF-401A-A496-C6D30B4C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Human loop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338C9-F005-46C3-9660-0937CEDC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Three volunteers act as the list, loop variable, and computer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DBB8E-9006-46C1-9BD0-73F7EDFB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EFA1D-3B7C-4D30-95ED-ABBB021D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10918-37E7-42A3-9E89-30681F53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049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List student points to the next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E035A-9A67-48A7-A4F6-1FA0B5DE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7FF82-092E-4AA1-8352-F77A0E78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Variable student holds that one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88BF0-B575-4EAF-AA18-3EF10972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D86A0-D46C-4175-884A-B77630C0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Computer student reads the indented instruction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8703D-2130-41AA-ABC1-3E470530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4A08A-B374-46DB-868B-B56DF922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Class counts the iteration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4AFFD-6ACF-474D-95AB-82FD67F5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E481C-0508-42B2-AC05-FC3DC7E9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Repeat until the list has no more items</a:t>
            </a:r>
          </a:p>
        </p:txBody>
      </p:sp>
    </p:spTree>
    <p:extLst>
      <p:ext uri="{BB962C8B-B14F-4D97-AF65-F5344CB8AC3E}">
        <p14:creationId xmlns:p14="http://schemas.microsoft.com/office/powerpoint/2010/main" val="1697884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F2F08-A916-4CD7-81F2-F75E8F62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FEDF8-903D-43E7-B2F1-5DE4E514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Parts of a for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700D5-18F8-4871-823D-9DF09CAE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Point to each part before tracing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8182B-A10E-4ADC-A5EF-0519BB52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500B1-1C4E-4FB8-B858-8FD9A9F4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23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0FDC5-E25F-4C2C-A992-47C2401D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05000"/>
            <a:ext cx="6705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enemies = ["slime", "ghost", "dragon"]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enemy in enemies: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print("Battle:", enemy)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C0B8F-0803-4E50-A891-40B41A51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D4ED8"/>
                </a:solidFill>
              </a:defRPr>
            </a:defPPr>
            <a:lvl1pPr algn="l">
              <a:defRPr sz="1725" b="1">
                <a:solidFill>
                  <a:srgbClr val="1D4ED8"/>
                </a:solidFill>
              </a:defRPr>
            </a:lvl1pPr>
            <a:lvl2pPr algn="l">
              <a:defRPr sz="1725" b="1">
                <a:solidFill>
                  <a:srgbClr val="1D4ED8"/>
                </a:solidFill>
              </a:defRPr>
            </a:lvl2pPr>
            <a:lvl3pPr algn="l">
              <a:defRPr sz="1725" b="1">
                <a:solidFill>
                  <a:srgbClr val="1D4ED8"/>
                </a:solidFill>
              </a:defRPr>
            </a:lvl3pPr>
            <a:lvl4pPr algn="l">
              <a:defRPr sz="1725" b="1">
                <a:solidFill>
                  <a:srgbClr val="1D4ED8"/>
                </a:solidFill>
              </a:defRPr>
            </a:lvl4pPr>
            <a:lvl5pPr algn="l">
              <a:defRPr sz="1725" b="1">
                <a:solidFill>
                  <a:srgbClr val="1D4ED8"/>
                </a:solidFill>
              </a:defRPr>
            </a:lvl5pPr>
            <a:lvl6pPr algn="l">
              <a:defRPr sz="1725" b="1">
                <a:solidFill>
                  <a:srgbClr val="1D4ED8"/>
                </a:solidFill>
              </a:defRPr>
            </a:lvl6pPr>
            <a:lvl7pPr algn="l">
              <a:defRPr sz="1725" b="1">
                <a:solidFill>
                  <a:srgbClr val="1D4ED8"/>
                </a:solidFill>
              </a:defRPr>
            </a:lvl7pPr>
            <a:lvl8pPr algn="l">
              <a:defRPr sz="1725" b="1">
                <a:solidFill>
                  <a:srgbClr val="1D4ED8"/>
                </a:solidFill>
              </a:defRPr>
            </a:lvl8pPr>
            <a:lvl9pPr algn="l">
              <a:defRPr sz="1725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4ED8"/>
                </a:solidFill>
              </a:defRPr>
            </a:pPr>
            <a:r>
              <a:rPr sz="1725" b="1">
                <a:solidFill>
                  <a:srgbClr val="1D4ED8"/>
                </a:solidFill>
              </a:rPr>
              <a:t>collection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540FF-9BEA-4C9E-97CE-ADCF82E0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E85D4A"/>
                </a:solidFill>
              </a:defRPr>
            </a:defPPr>
            <a:lvl1pPr algn="l">
              <a:defRPr sz="1725" b="1">
                <a:solidFill>
                  <a:srgbClr val="E85D4A"/>
                </a:solidFill>
              </a:defRPr>
            </a:lvl1pPr>
            <a:lvl2pPr algn="l">
              <a:defRPr sz="1725" b="1">
                <a:solidFill>
                  <a:srgbClr val="E85D4A"/>
                </a:solidFill>
              </a:defRPr>
            </a:lvl2pPr>
            <a:lvl3pPr algn="l">
              <a:defRPr sz="1725" b="1">
                <a:solidFill>
                  <a:srgbClr val="E85D4A"/>
                </a:solidFill>
              </a:defRPr>
            </a:lvl3pPr>
            <a:lvl4pPr algn="l">
              <a:defRPr sz="1725" b="1">
                <a:solidFill>
                  <a:srgbClr val="E85D4A"/>
                </a:solidFill>
              </a:defRPr>
            </a:lvl4pPr>
            <a:lvl5pPr algn="l">
              <a:defRPr sz="1725" b="1">
                <a:solidFill>
                  <a:srgbClr val="E85D4A"/>
                </a:solidFill>
              </a:defRPr>
            </a:lvl5pPr>
            <a:lvl6pPr algn="l">
              <a:defRPr sz="1725" b="1">
                <a:solidFill>
                  <a:srgbClr val="E85D4A"/>
                </a:solidFill>
              </a:defRPr>
            </a:lvl6pPr>
            <a:lvl7pPr algn="l">
              <a:defRPr sz="1725" b="1">
                <a:solidFill>
                  <a:srgbClr val="E85D4A"/>
                </a:solidFill>
              </a:defRPr>
            </a:lvl7pPr>
            <a:lvl8pPr algn="l">
              <a:defRPr sz="1725" b="1">
                <a:solidFill>
                  <a:srgbClr val="E85D4A"/>
                </a:solidFill>
              </a:defRPr>
            </a:lvl8pPr>
            <a:lvl9pPr algn="l">
              <a:defRPr sz="17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85D4A"/>
                </a:solidFill>
              </a:defRPr>
            </a:pPr>
            <a:r>
              <a:rPr sz="1725" b="1">
                <a:solidFill>
                  <a:srgbClr val="E85D4A"/>
                </a:solidFill>
              </a:rPr>
              <a:t>loop variable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3A6BC-D437-46B4-A215-1D11E9D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5803D"/>
                </a:solidFill>
              </a:defRPr>
            </a:defPPr>
            <a:lvl1pPr algn="l">
              <a:defRPr sz="1725" b="1">
                <a:solidFill>
                  <a:srgbClr val="15803D"/>
                </a:solidFill>
              </a:defRPr>
            </a:lvl1pPr>
            <a:lvl2pPr algn="l">
              <a:defRPr sz="1725" b="1">
                <a:solidFill>
                  <a:srgbClr val="15803D"/>
                </a:solidFill>
              </a:defRPr>
            </a:lvl2pPr>
            <a:lvl3pPr algn="l">
              <a:defRPr sz="1725" b="1">
                <a:solidFill>
                  <a:srgbClr val="15803D"/>
                </a:solidFill>
              </a:defRPr>
            </a:lvl3pPr>
            <a:lvl4pPr algn="l">
              <a:defRPr sz="1725" b="1">
                <a:solidFill>
                  <a:srgbClr val="15803D"/>
                </a:solidFill>
              </a:defRPr>
            </a:lvl4pPr>
            <a:lvl5pPr algn="l">
              <a:defRPr sz="1725" b="1">
                <a:solidFill>
                  <a:srgbClr val="15803D"/>
                </a:solidFill>
              </a:defRPr>
            </a:lvl5pPr>
            <a:lvl6pPr algn="l">
              <a:defRPr sz="1725" b="1">
                <a:solidFill>
                  <a:srgbClr val="15803D"/>
                </a:solidFill>
              </a:defRPr>
            </a:lvl6pPr>
            <a:lvl7pPr algn="l">
              <a:defRPr sz="1725" b="1">
                <a:solidFill>
                  <a:srgbClr val="15803D"/>
                </a:solidFill>
              </a:defRPr>
            </a:lvl7pPr>
            <a:lvl8pPr algn="l">
              <a:defRPr sz="1725" b="1">
                <a:solidFill>
                  <a:srgbClr val="15803D"/>
                </a:solidFill>
              </a:defRPr>
            </a:lvl8pPr>
            <a:lvl9pPr algn="l">
              <a:defRPr sz="1725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803D"/>
                </a:solidFill>
              </a:defRPr>
            </a:pPr>
            <a:r>
              <a:rPr sz="1725" b="1">
                <a:solidFill>
                  <a:srgbClr val="15803D"/>
                </a:solidFill>
              </a:rPr>
              <a:t>repeated block</a:t>
            </a:r>
          </a:p>
        </p:txBody>
      </p:sp>
    </p:spTree>
    <p:extLst>
      <p:ext uri="{BB962C8B-B14F-4D97-AF65-F5344CB8AC3E}">
        <p14:creationId xmlns:p14="http://schemas.microsoft.com/office/powerpoint/2010/main" val="4132422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FAACD-A74B-4E5F-9004-5AED52D6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128E3-427F-44A1-BAF4-352417AC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Trace one iteration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DBACD-0B6A-4C81-AC98-ED14D258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Predict the final count before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6AF5B-F302-4842-9E33-27CD2306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9FD87-49DC-4159-BDB8-8C8C4B9C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62B5E-FE21-49E8-80B8-15C4EC22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67056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enemies = ["slime", "ghost", "dragon"]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count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enemy in enemies: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count = count + 1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print(count, enemy)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print("Final:", count)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7F940-05C8-4678-8B03-E82DC08E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91593-56C9-446C-BA9F-15E92812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Start: count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1: count = ___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2: count = ___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3: count = ___</a:t>
            </a:r>
          </a:p>
        </p:txBody>
      </p:sp>
    </p:spTree>
    <p:extLst>
      <p:ext uri="{BB962C8B-B14F-4D97-AF65-F5344CB8AC3E}">
        <p14:creationId xmlns:p14="http://schemas.microsoft.com/office/powerpoint/2010/main" val="256290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7D046-2EDA-4906-9D85-30A1B6BF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FA557-6AB1-4EED-834E-E5A16391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An accumulator builds a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83AEE-0C41-4449-9946-B3395636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variable keeps the total from earlier iterations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F36BC-35A4-4C07-A84E-9EFE3BA3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3808C-0C1F-4A48-A85E-3390DFA7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853BD-BD8B-4C3B-AE3C-582A9700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05000"/>
            <a:ext cx="60388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[4, 6, 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total +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print(total)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424BC-EF1B-46FB-B3B4-F465A091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A33"/>
                </a:solidFill>
              </a:defRPr>
            </a:defPPr>
            <a:lvl1pPr algn="ctr">
              <a:defRPr sz="2550" b="1">
                <a:solidFill>
                  <a:srgbClr val="071A33"/>
                </a:solidFill>
              </a:defRPr>
            </a:lvl1pPr>
            <a:lvl2pPr algn="ctr">
              <a:defRPr sz="2550" b="1">
                <a:solidFill>
                  <a:srgbClr val="071A33"/>
                </a:solidFill>
              </a:defRPr>
            </a:lvl2pPr>
            <a:lvl3pPr algn="ctr">
              <a:defRPr sz="2550" b="1">
                <a:solidFill>
                  <a:srgbClr val="071A33"/>
                </a:solidFill>
              </a:defRPr>
            </a:lvl3pPr>
            <a:lvl4pPr algn="ctr">
              <a:defRPr sz="2550" b="1">
                <a:solidFill>
                  <a:srgbClr val="071A33"/>
                </a:solidFill>
              </a:defRPr>
            </a:lvl4pPr>
            <a:lvl5pPr algn="ctr">
              <a:defRPr sz="2550" b="1">
                <a:solidFill>
                  <a:srgbClr val="071A33"/>
                </a:solidFill>
              </a:defRPr>
            </a:lvl5pPr>
            <a:lvl6pPr algn="ctr">
              <a:defRPr sz="2550" b="1">
                <a:solidFill>
                  <a:srgbClr val="071A33"/>
                </a:solidFill>
              </a:defRPr>
            </a:lvl6pPr>
            <a:lvl7pPr algn="ctr">
              <a:defRPr sz="2550" b="1">
                <a:solidFill>
                  <a:srgbClr val="071A33"/>
                </a:solidFill>
              </a:defRPr>
            </a:lvl7pPr>
            <a:lvl8pPr algn="ctr">
              <a:defRPr sz="2550" b="1">
                <a:solidFill>
                  <a:srgbClr val="071A33"/>
                </a:solidFill>
              </a:defRPr>
            </a:lvl8pPr>
            <a:lvl9pPr algn="ctr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2CC5A-6238-42E0-B620-056EB482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1D4ED8"/>
                </a:solidFill>
              </a:defRPr>
            </a:defPPr>
            <a:lvl1pPr algn="ctr">
              <a:defRPr sz="2550" b="1">
                <a:solidFill>
                  <a:srgbClr val="1D4ED8"/>
                </a:solidFill>
              </a:defRPr>
            </a:lvl1pPr>
            <a:lvl2pPr algn="ctr">
              <a:defRPr sz="2550" b="1">
                <a:solidFill>
                  <a:srgbClr val="1D4ED8"/>
                </a:solidFill>
              </a:defRPr>
            </a:lvl2pPr>
            <a:lvl3pPr algn="ctr">
              <a:defRPr sz="2550" b="1">
                <a:solidFill>
                  <a:srgbClr val="1D4ED8"/>
                </a:solidFill>
              </a:defRPr>
            </a:lvl3pPr>
            <a:lvl4pPr algn="ctr">
              <a:defRPr sz="2550" b="1">
                <a:solidFill>
                  <a:srgbClr val="1D4ED8"/>
                </a:solidFill>
              </a:defRPr>
            </a:lvl4pPr>
            <a:lvl5pPr algn="ctr">
              <a:defRPr sz="2550" b="1">
                <a:solidFill>
                  <a:srgbClr val="1D4ED8"/>
                </a:solidFill>
              </a:defRPr>
            </a:lvl5pPr>
            <a:lvl6pPr algn="ctr">
              <a:defRPr sz="2550" b="1">
                <a:solidFill>
                  <a:srgbClr val="1D4ED8"/>
                </a:solidFill>
              </a:defRPr>
            </a:lvl6pPr>
            <a:lvl7pPr algn="ctr">
              <a:defRPr sz="2550" b="1">
                <a:solidFill>
                  <a:srgbClr val="1D4ED8"/>
                </a:solidFill>
              </a:defRPr>
            </a:lvl7pPr>
            <a:lvl8pPr algn="ctr">
              <a:defRPr sz="2550" b="1">
                <a:solidFill>
                  <a:srgbClr val="1D4ED8"/>
                </a:solidFill>
              </a:defRPr>
            </a:lvl8pPr>
            <a:lvl9pPr algn="ctr">
              <a:defRPr sz="255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70BBB-596F-49CA-8D0A-B37F5AEC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F766E"/>
                </a:solidFill>
              </a:defRPr>
            </a:defPPr>
            <a:lvl1pPr algn="ctr">
              <a:defRPr sz="2550" b="1">
                <a:solidFill>
                  <a:srgbClr val="0F766E"/>
                </a:solidFill>
              </a:defRPr>
            </a:lvl1pPr>
            <a:lvl2pPr algn="ctr">
              <a:defRPr sz="2550" b="1">
                <a:solidFill>
                  <a:srgbClr val="0F766E"/>
                </a:solidFill>
              </a:defRPr>
            </a:lvl2pPr>
            <a:lvl3pPr algn="ctr">
              <a:defRPr sz="2550" b="1">
                <a:solidFill>
                  <a:srgbClr val="0F766E"/>
                </a:solidFill>
              </a:defRPr>
            </a:lvl3pPr>
            <a:lvl4pPr algn="ctr">
              <a:defRPr sz="2550" b="1">
                <a:solidFill>
                  <a:srgbClr val="0F766E"/>
                </a:solidFill>
              </a:defRPr>
            </a:lvl4pPr>
            <a:lvl5pPr algn="ctr">
              <a:defRPr sz="2550" b="1">
                <a:solidFill>
                  <a:srgbClr val="0F766E"/>
                </a:solidFill>
              </a:defRPr>
            </a:lvl5pPr>
            <a:lvl6pPr algn="ctr">
              <a:defRPr sz="2550" b="1">
                <a:solidFill>
                  <a:srgbClr val="0F766E"/>
                </a:solidFill>
              </a:defRPr>
            </a:lvl6pPr>
            <a:lvl7pPr algn="ctr">
              <a:defRPr sz="2550" b="1">
                <a:solidFill>
                  <a:srgbClr val="0F766E"/>
                </a:solidFill>
              </a:defRPr>
            </a:lvl7pPr>
            <a:lvl8pPr algn="ctr">
              <a:defRPr sz="2550" b="1">
                <a:solidFill>
                  <a:srgbClr val="0F766E"/>
                </a:solidFill>
              </a:defRPr>
            </a:lvl8pPr>
            <a:lvl9pPr algn="ctr">
              <a:defRPr sz="25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C35D7-CDB2-42A3-8A42-9DEFFF95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15803D"/>
                </a:solidFill>
              </a:defRPr>
            </a:defPPr>
            <a:lvl1pPr algn="ctr">
              <a:defRPr sz="2550" b="1">
                <a:solidFill>
                  <a:srgbClr val="15803D"/>
                </a:solidFill>
              </a:defRPr>
            </a:lvl1pPr>
            <a:lvl2pPr algn="ctr">
              <a:defRPr sz="2550" b="1">
                <a:solidFill>
                  <a:srgbClr val="15803D"/>
                </a:solidFill>
              </a:defRPr>
            </a:lvl2pPr>
            <a:lvl3pPr algn="ctr">
              <a:defRPr sz="2550" b="1">
                <a:solidFill>
                  <a:srgbClr val="15803D"/>
                </a:solidFill>
              </a:defRPr>
            </a:lvl3pPr>
            <a:lvl4pPr algn="ctr">
              <a:defRPr sz="2550" b="1">
                <a:solidFill>
                  <a:srgbClr val="15803D"/>
                </a:solidFill>
              </a:defRPr>
            </a:lvl4pPr>
            <a:lvl5pPr algn="ctr">
              <a:defRPr sz="2550" b="1">
                <a:solidFill>
                  <a:srgbClr val="15803D"/>
                </a:solidFill>
              </a:defRPr>
            </a:lvl5pPr>
            <a:lvl6pPr algn="ctr">
              <a:defRPr sz="2550" b="1">
                <a:solidFill>
                  <a:srgbClr val="15803D"/>
                </a:solidFill>
              </a:defRPr>
            </a:lvl6pPr>
            <a:lvl7pPr algn="ctr">
              <a:defRPr sz="2550" b="1">
                <a:solidFill>
                  <a:srgbClr val="15803D"/>
                </a:solidFill>
              </a:defRPr>
            </a:lvl7pPr>
            <a:lvl8pPr algn="ctr">
              <a:defRPr sz="2550" b="1">
                <a:solidFill>
                  <a:srgbClr val="15803D"/>
                </a:solidFill>
              </a:defRPr>
            </a:lvl8pPr>
            <a:lvl9pPr algn="ctr">
              <a:defRPr sz="2550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5803D"/>
                </a:solidFill>
              </a:defRPr>
            </a:pPr>
            <a:r>
              <a:rPr sz="2550" b="1">
                <a:solidFill>
                  <a:srgbClr val="15803D"/>
                </a:solidFill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9F16C-6FAA-45A7-A7C2-32FAB55F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526174"/>
                </a:solidFill>
              </a:defRPr>
            </a:defPPr>
            <a:lvl1pPr algn="ctr">
              <a:defRPr sz="1725" b="1">
                <a:solidFill>
                  <a:srgbClr val="526174"/>
                </a:solidFill>
              </a:defRPr>
            </a:lvl1pPr>
            <a:lvl2pPr algn="ctr">
              <a:defRPr sz="1725" b="1">
                <a:solidFill>
                  <a:srgbClr val="526174"/>
                </a:solidFill>
              </a:defRPr>
            </a:lvl2pPr>
            <a:lvl3pPr algn="ctr">
              <a:defRPr sz="1725" b="1">
                <a:solidFill>
                  <a:srgbClr val="526174"/>
                </a:solidFill>
              </a:defRPr>
            </a:lvl3pPr>
            <a:lvl4pPr algn="ctr">
              <a:defRPr sz="1725" b="1">
                <a:solidFill>
                  <a:srgbClr val="526174"/>
                </a:solidFill>
              </a:defRPr>
            </a:lvl4pPr>
            <a:lvl5pPr algn="ctr">
              <a:defRPr sz="1725" b="1">
                <a:solidFill>
                  <a:srgbClr val="526174"/>
                </a:solidFill>
              </a:defRPr>
            </a:lvl5pPr>
            <a:lvl6pPr algn="ctr">
              <a:defRPr sz="1725" b="1">
                <a:solidFill>
                  <a:srgbClr val="526174"/>
                </a:solidFill>
              </a:defRPr>
            </a:lvl6pPr>
            <a:lvl7pPr algn="ctr">
              <a:defRPr sz="1725" b="1">
                <a:solidFill>
                  <a:srgbClr val="526174"/>
                </a:solidFill>
              </a:defRPr>
            </a:lvl7pPr>
            <a:lvl8pPr algn="ctr">
              <a:defRPr sz="1725" b="1">
                <a:solidFill>
                  <a:srgbClr val="526174"/>
                </a:solidFill>
              </a:defRPr>
            </a:lvl8pPr>
            <a:lvl9pPr algn="ctr">
              <a:defRPr sz="1725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526174"/>
                </a:solidFill>
              </a:defRPr>
            </a:pPr>
            <a:r>
              <a:rPr sz="1725" b="1">
                <a:solidFill>
                  <a:srgbClr val="526174"/>
                </a:solidFill>
              </a:rPr>
              <a:t>Say each update: old total + current score = new total</a:t>
            </a:r>
          </a:p>
        </p:txBody>
      </p:sp>
    </p:spTree>
    <p:extLst>
      <p:ext uri="{BB962C8B-B14F-4D97-AF65-F5344CB8AC3E}">
        <p14:creationId xmlns:p14="http://schemas.microsoft.com/office/powerpoint/2010/main" val="8376146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1ECC0-AB34-4177-8CE5-DE576C14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6124F-E89A-4F39-B34D-005F7DCC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While loops need an exit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4AB2E-EE12-4B67-99A7-AFD5ACFC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Name what stays true and what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81DD7-FF3F-4D28-9E97-DAC06566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12900-7308-417A-BCD8-5206401A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381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E19B7-44DF-487D-9F3D-ADBD120E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58483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energy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while energy &gt; 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print(energy)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energy = energy - 1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print("REST")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B405C-C423-4581-84FF-69BAC816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F766E"/>
                </a:solidFill>
              </a:defRPr>
            </a:defPPr>
            <a:lvl1pPr algn="l">
              <a:defRPr sz="1650" b="1">
                <a:solidFill>
                  <a:srgbClr val="0F766E"/>
                </a:solidFill>
              </a:defRPr>
            </a:lvl1pPr>
            <a:lvl2pPr algn="l">
              <a:defRPr sz="1650" b="1">
                <a:solidFill>
                  <a:srgbClr val="0F766E"/>
                </a:solidFill>
              </a:defRPr>
            </a:lvl2pPr>
            <a:lvl3pPr algn="l">
              <a:defRPr sz="1650" b="1">
                <a:solidFill>
                  <a:srgbClr val="0F766E"/>
                </a:solidFill>
              </a:defRPr>
            </a:lvl3pPr>
            <a:lvl4pPr algn="l">
              <a:defRPr sz="1650" b="1">
                <a:solidFill>
                  <a:srgbClr val="0F766E"/>
                </a:solidFill>
              </a:defRPr>
            </a:lvl4pPr>
            <a:lvl5pPr algn="l">
              <a:defRPr sz="1650" b="1">
                <a:solidFill>
                  <a:srgbClr val="0F766E"/>
                </a:solidFill>
              </a:defRPr>
            </a:lvl5pPr>
            <a:lvl6pPr algn="l">
              <a:defRPr sz="1650" b="1">
                <a:solidFill>
                  <a:srgbClr val="0F766E"/>
                </a:solidFill>
              </a:defRPr>
            </a:lvl6pPr>
            <a:lvl7pPr algn="l">
              <a:defRPr sz="1650" b="1">
                <a:solidFill>
                  <a:srgbClr val="0F766E"/>
                </a:solidFill>
              </a:defRPr>
            </a:lvl7pPr>
            <a:lvl8pPr algn="l">
              <a:defRPr sz="1650" b="1">
                <a:solidFill>
                  <a:srgbClr val="0F766E"/>
                </a:solidFill>
              </a:defRPr>
            </a:lvl8pPr>
            <a:lvl9pPr algn="l">
              <a:defRPr sz="16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Keeps running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C197C-34BA-4EEE-B6D6-F5ED9939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22033"/>
                </a:solidFill>
              </a:defRPr>
            </a:defPPr>
            <a:lvl1pPr algn="l">
              <a:defRPr sz="2100" b="1">
                <a:solidFill>
                  <a:srgbClr val="122033"/>
                </a:solidFill>
              </a:defRPr>
            </a:lvl1pPr>
            <a:lvl2pPr algn="l">
              <a:defRPr sz="2100" b="1">
                <a:solidFill>
                  <a:srgbClr val="122033"/>
                </a:solidFill>
              </a:defRPr>
            </a:lvl2pPr>
            <a:lvl3pPr algn="l">
              <a:defRPr sz="2100" b="1">
                <a:solidFill>
                  <a:srgbClr val="122033"/>
                </a:solidFill>
              </a:defRPr>
            </a:lvl3pPr>
            <a:lvl4pPr algn="l">
              <a:defRPr sz="2100" b="1">
                <a:solidFill>
                  <a:srgbClr val="122033"/>
                </a:solidFill>
              </a:defRPr>
            </a:lvl4pPr>
            <a:lvl5pPr algn="l">
              <a:defRPr sz="2100" b="1">
                <a:solidFill>
                  <a:srgbClr val="122033"/>
                </a:solidFill>
              </a:defRPr>
            </a:lvl5pPr>
            <a:lvl6pPr algn="l">
              <a:defRPr sz="2100" b="1">
                <a:solidFill>
                  <a:srgbClr val="122033"/>
                </a:solidFill>
              </a:defRPr>
            </a:lvl6pPr>
            <a:lvl7pPr algn="l">
              <a:defRPr sz="2100" b="1">
                <a:solidFill>
                  <a:srgbClr val="122033"/>
                </a:solidFill>
              </a:defRPr>
            </a:lvl7pPr>
            <a:lvl8pPr algn="l">
              <a:defRPr sz="2100" b="1">
                <a:solidFill>
                  <a:srgbClr val="122033"/>
                </a:solidFill>
              </a:defRPr>
            </a:lvl8pPr>
            <a:lvl9pPr algn="l">
              <a:defRPr sz="210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22033"/>
                </a:solidFill>
              </a:defRPr>
            </a:pPr>
            <a:r>
              <a:rPr sz="2100" b="1">
                <a:solidFill>
                  <a:srgbClr val="122033"/>
                </a:solidFill>
              </a:rPr>
              <a:t>energy &gt;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CBBF7-650F-4906-BF81-EE2589D2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5D4A"/>
                </a:solidFill>
              </a:defRPr>
            </a:defPPr>
            <a:lvl1pPr algn="l">
              <a:defRPr sz="1650" b="1">
                <a:solidFill>
                  <a:srgbClr val="E85D4A"/>
                </a:solidFill>
              </a:defRPr>
            </a:lvl1pPr>
            <a:lvl2pPr algn="l">
              <a:defRPr sz="1650" b="1">
                <a:solidFill>
                  <a:srgbClr val="E85D4A"/>
                </a:solidFill>
              </a:defRPr>
            </a:lvl2pPr>
            <a:lvl3pPr algn="l">
              <a:defRPr sz="1650" b="1">
                <a:solidFill>
                  <a:srgbClr val="E85D4A"/>
                </a:solidFill>
              </a:defRPr>
            </a:lvl3pPr>
            <a:lvl4pPr algn="l">
              <a:defRPr sz="1650" b="1">
                <a:solidFill>
                  <a:srgbClr val="E85D4A"/>
                </a:solidFill>
              </a:defRPr>
            </a:lvl4pPr>
            <a:lvl5pPr algn="l">
              <a:defRPr sz="1650" b="1">
                <a:solidFill>
                  <a:srgbClr val="E85D4A"/>
                </a:solidFill>
              </a:defRPr>
            </a:lvl5pPr>
            <a:lvl6pPr algn="l">
              <a:defRPr sz="1650" b="1">
                <a:solidFill>
                  <a:srgbClr val="E85D4A"/>
                </a:solidFill>
              </a:defRPr>
            </a:lvl6pPr>
            <a:lvl7pPr algn="l">
              <a:defRPr sz="1650" b="1">
                <a:solidFill>
                  <a:srgbClr val="E85D4A"/>
                </a:solidFill>
              </a:defRPr>
            </a:lvl7pPr>
            <a:lvl8pPr algn="l">
              <a:defRPr sz="1650" b="1">
                <a:solidFill>
                  <a:srgbClr val="E85D4A"/>
                </a:solidFill>
              </a:defRPr>
            </a:lvl8pPr>
            <a:lvl9pPr algn="l">
              <a:defRPr sz="16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5D4A"/>
                </a:solidFill>
              </a:defRPr>
            </a:pPr>
            <a:r>
              <a:rPr sz="1650" b="1">
                <a:solidFill>
                  <a:srgbClr val="E85D4A"/>
                </a:solidFill>
              </a:rPr>
              <a:t>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202A0-2BF2-4ABE-8CDA-F3E1933E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2033"/>
                </a:solidFill>
              </a:defRPr>
            </a:defPPr>
            <a:lvl1pPr algn="l">
              <a:defRPr sz="1875" b="1">
                <a:solidFill>
                  <a:srgbClr val="122033"/>
                </a:solidFill>
              </a:defRPr>
            </a:lvl1pPr>
            <a:lvl2pPr algn="l">
              <a:defRPr sz="1875" b="1">
                <a:solidFill>
                  <a:srgbClr val="122033"/>
                </a:solidFill>
              </a:defRPr>
            </a:lvl2pPr>
            <a:lvl3pPr algn="l">
              <a:defRPr sz="1875" b="1">
                <a:solidFill>
                  <a:srgbClr val="122033"/>
                </a:solidFill>
              </a:defRPr>
            </a:lvl3pPr>
            <a:lvl4pPr algn="l">
              <a:defRPr sz="1875" b="1">
                <a:solidFill>
                  <a:srgbClr val="122033"/>
                </a:solidFill>
              </a:defRPr>
            </a:lvl4pPr>
            <a:lvl5pPr algn="l">
              <a:defRPr sz="1875" b="1">
                <a:solidFill>
                  <a:srgbClr val="122033"/>
                </a:solidFill>
              </a:defRPr>
            </a:lvl5pPr>
            <a:lvl6pPr algn="l">
              <a:defRPr sz="1875" b="1">
                <a:solidFill>
                  <a:srgbClr val="122033"/>
                </a:solidFill>
              </a:defRPr>
            </a:lvl6pPr>
            <a:lvl7pPr algn="l">
              <a:defRPr sz="1875" b="1">
                <a:solidFill>
                  <a:srgbClr val="122033"/>
                </a:solidFill>
              </a:defRPr>
            </a:lvl7pPr>
            <a:lvl8pPr algn="l">
              <a:defRPr sz="1875" b="1">
                <a:solidFill>
                  <a:srgbClr val="122033"/>
                </a:solidFill>
              </a:defRPr>
            </a:lvl8pPr>
            <a:lvl9pPr algn="l">
              <a:defRPr sz="18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033"/>
                </a:solidFill>
              </a:defRPr>
            </a:pPr>
            <a:r>
              <a:rPr sz="1875" b="1">
                <a:solidFill>
                  <a:srgbClr val="122033"/>
                </a:solidFill>
              </a:rPr>
              <a:t>energy = energy - 1</a:t>
            </a:r>
          </a:p>
        </p:txBody>
      </p:sp>
    </p:spTree>
    <p:extLst>
      <p:ext uri="{BB962C8B-B14F-4D97-AF65-F5344CB8AC3E}">
        <p14:creationId xmlns:p14="http://schemas.microsoft.com/office/powerpoint/2010/main" val="6580257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A16C5-EC65-4616-B215-0EC54531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C588B-7747-4025-B9B0-AD4B4B05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check before 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00182-F2C3-407F-B03D-48D51531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Answer with a partner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9C3F2-D4E3-46C2-8E7F-110217FE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0A369-C9C3-4E9D-B36D-1056AE9F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3D0F6-14F0-4B9A-9B34-F1CF59EB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76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How many times does a for loop run over a four-item list?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1F4DF-3791-4D4A-B50A-C1614222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170CB-6954-41EF-9649-C50D4843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does the loop variable hold during one iteration?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76E06-805A-4F99-B55A-FBC6C809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D7348-3E25-4265-AE46-00F4AA0B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57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Why does an accumulator start before the loop?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B1947-3AD3-4911-A354-FED172CB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F842A-9B0B-42A3-9FED-57A3D7A6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48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must change inside most while loops?</a:t>
            </a:r>
          </a:p>
        </p:txBody>
      </p:sp>
    </p:spTree>
    <p:extLst>
      <p:ext uri="{BB962C8B-B14F-4D97-AF65-F5344CB8AC3E}">
        <p14:creationId xmlns:p14="http://schemas.microsoft.com/office/powerpoint/2010/main" val="5815015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F11CC-B14D-4BAA-B19F-6FFD9937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C6830-DE3B-4061-8873-E4D6B50C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1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1DF2F-D011-4809-9261-45C11CC3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Game Loadout: variables, lists, and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DB114-35F5-430D-AED1-34DD1C87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9AAA3-0279-42CA-A7A9-3138055E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EFE37-59E3-467A-AD14-533B4190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33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Teacher models the first variable trace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12394-1B40-4997-B3C6-DAEC2921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4DC95-F74A-44A2-8535-154E16F5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Class predicts the backpack after append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C7F74-399E-4E7F-9712-61525CA2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02118-307A-4EFD-91FA-098B3E45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Pairs test the decision boundary at 9, 10, and 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06E71-0401-45A2-A23F-5DCDC47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6BD28-2378-48E9-9EE7-870F909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Students complete the loadout boss challenge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D4206-7A9B-4930-A148-2284A856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D4ED8"/>
                </a:solidFill>
              </a:defRPr>
            </a:defPPr>
            <a:lvl1pPr algn="l">
              <a:defRPr sz="1800" b="1">
                <a:solidFill>
                  <a:srgbClr val="1D4ED8"/>
                </a:solidFill>
              </a:defRPr>
            </a:lvl1pPr>
            <a:lvl2pPr algn="l">
              <a:defRPr sz="1800" b="1">
                <a:solidFill>
                  <a:srgbClr val="1D4ED8"/>
                </a:solidFill>
              </a:defRPr>
            </a:lvl2pPr>
            <a:lvl3pPr algn="l">
              <a:defRPr sz="1800" b="1">
                <a:solidFill>
                  <a:srgbClr val="1D4ED8"/>
                </a:solidFill>
              </a:defRPr>
            </a:lvl3pPr>
            <a:lvl4pPr algn="l">
              <a:defRPr sz="1800" b="1">
                <a:solidFill>
                  <a:srgbClr val="1D4ED8"/>
                </a:solidFill>
              </a:defRPr>
            </a:lvl4pPr>
            <a:lvl5pPr algn="l">
              <a:defRPr sz="1800" b="1">
                <a:solidFill>
                  <a:srgbClr val="1D4ED8"/>
                </a:solidFill>
              </a:defRPr>
            </a:lvl5pPr>
            <a:lvl6pPr algn="l">
              <a:defRPr sz="1800" b="1">
                <a:solidFill>
                  <a:srgbClr val="1D4ED8"/>
                </a:solidFill>
              </a:defRPr>
            </a:lvl6pPr>
            <a:lvl7pPr algn="l">
              <a:defRPr sz="1800" b="1">
                <a:solidFill>
                  <a:srgbClr val="1D4ED8"/>
                </a:solidFill>
              </a:defRPr>
            </a:lvl7pPr>
            <a:lvl8pPr algn="l">
              <a:defRPr sz="1800" b="1">
                <a:solidFill>
                  <a:srgbClr val="1D4ED8"/>
                </a:solidFill>
              </a:defRPr>
            </a:lvl8pPr>
            <a:lvl9pPr algn="l">
              <a:defRPr sz="180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Open module-1-game-loadout.ipynb in Colab</a:t>
            </a:r>
          </a:p>
        </p:txBody>
      </p:sp>
    </p:spTree>
    <p:extLst>
      <p:ext uri="{BB962C8B-B14F-4D97-AF65-F5344CB8AC3E}">
        <p14:creationId xmlns:p14="http://schemas.microsoft.com/office/powerpoint/2010/main" val="10951689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1DABA-4099-460C-8C36-8F46D03D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C41F6-E89E-4D7E-B946-65F8AB5F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Practice before 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80969-7E5C-4ABA-9003-84B7CCAC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No typing for the first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C3383-C37A-4AB3-AD52-54993ACD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D0DC8-80B7-43A3-B153-6C99F865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5282D-0FBD-4B77-831A-3ECBDF7A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00250"/>
            <a:ext cx="5657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5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coins + 3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coins - 1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print(coins)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831DF-F15D-451E-9D2D-3223668C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23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1. Write the starting value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2. Update after treasure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3. Update after the shop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4. Compare with a partner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5. Run and explain</a:t>
            </a:r>
          </a:p>
        </p:txBody>
      </p:sp>
    </p:spTree>
    <p:extLst>
      <p:ext uri="{BB962C8B-B14F-4D97-AF65-F5344CB8AC3E}">
        <p14:creationId xmlns:p14="http://schemas.microsoft.com/office/powerpoint/2010/main" val="9334194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9F724-E639-4EC2-8D0F-75858E55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E2020-CC90-422C-9523-92F6CCFA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49C04-2B71-4EDB-9C06-0589C32A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091BE-DC81-4FB5-BED1-FE0888AF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E09E0-9CF6-46FB-BEC3-D2B4F394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Stand up. Get water. Be back when the timer ends.</a:t>
            </a:r>
          </a:p>
        </p:txBody>
      </p:sp>
    </p:spTree>
    <p:extLst>
      <p:ext uri="{BB962C8B-B14F-4D97-AF65-F5344CB8AC3E}">
        <p14:creationId xmlns:p14="http://schemas.microsoft.com/office/powerpoint/2010/main" val="12024776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875A9-583D-42BD-851A-286E1541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AC47A-0663-4506-B428-3FDE7889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2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CF617-0303-4D9C-A38A-44063D95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Arcade Loop Trainer is today’s main learning block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7245E-B320-4ED2-86E3-02C52579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28805-B7F0-4320-B4B5-5E1B79CF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9F0AF-2D8D-4D1A-972C-C943C26D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Act out one loop with student volunteers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302E7-2C6C-41B6-864D-CD35C304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E703F-E019-4ABC-8EDA-A93E9195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 counter through four iterations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87646-3E30-42D3-B05B-6B37F282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B8CF7-FAB3-4DF4-9E07-D6109DCD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an accumulator through three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8FA0E-EDF4-42FE-9BD2-36377B25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B24D7-77F4-41F8-A3E5-906BE6DB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Build a new list inside a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88CA0-2D33-4148-8B04-9A1ABD4D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EE141-098B-4292-A756-119382E2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Repair a while loop so it stops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EF541-2F6E-42CD-8F0C-E964D167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4B27D-887F-4CF7-95EA-D33568DB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Complete the arcade scoreboard boss</a:t>
            </a:r>
          </a:p>
        </p:txBody>
      </p:sp>
    </p:spTree>
    <p:extLst>
      <p:ext uri="{BB962C8B-B14F-4D97-AF65-F5344CB8AC3E}">
        <p14:creationId xmlns:p14="http://schemas.microsoft.com/office/powerpoint/2010/main" val="17270019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DFB31-8B7F-4F1B-8CE4-ED74511E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385D5-8EE5-4F74-BFA1-F5FF4F74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boss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0B398-8D62-4469-9A51-28199042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Count games, total scores, and identify bonus rounds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D6217-4B52-494D-89C5-A581D3E1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91C5A-12C2-46FB-8FCA-D866DD12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69532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89878-DB58-461A-BE54-D46F67AC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19250"/>
            <a:ext cx="64198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[8, 12, 5, 15]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games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games +=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if score &gt;= 10: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print("BONUS", score)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1FC95-619C-4CD3-A56E-B712126B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Before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34BBC-2D69-4DFA-948E-7D7BF46A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games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total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bonus scores = ___</a:t>
            </a:r>
          </a:p>
        </p:txBody>
      </p:sp>
    </p:spTree>
    <p:extLst>
      <p:ext uri="{BB962C8B-B14F-4D97-AF65-F5344CB8AC3E}">
        <p14:creationId xmlns:p14="http://schemas.microsoft.com/office/powerpoint/2010/main" val="1400077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3AD2E-2F7B-41F0-A051-90C0E3CF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1083B-7F52-4EC7-92EB-5D2D7BD3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40667-1F86-4ABD-90F4-10072067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6037D-348C-4149-9599-0A6A038F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F82B9-33AA-4498-84A3-E39FD925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Reset your brain. Module 3 connects functions and loops.</a:t>
            </a:r>
          </a:p>
        </p:txBody>
      </p:sp>
    </p:spTree>
    <p:extLst>
      <p:ext uri="{BB962C8B-B14F-4D97-AF65-F5344CB8AC3E}">
        <p14:creationId xmlns:p14="http://schemas.microsoft.com/office/powerpoint/2010/main" val="1241707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7579F-F141-4FDE-9A97-16CACF10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53D48-C6CB-4CC7-A3AE-CB306E7E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3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DAAD7-7E84-43E7-AF69-9DED1599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Power-Up Functions: name reusable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2EFB3-0F3A-4F6F-8655-FCBA4AAE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A43DD-5D59-48F2-B0C6-C2014762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572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2223F-BC44-4907-9A70-1CC8F02A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6038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add_bonus(score, bonus):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new_score = score + bonus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new_score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final_score = add_bonus(10, 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23C6A-CD99-433E-A280-1B415B7A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 the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E186A-9009-40A6-91B2-C0B81B9D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arguments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10 and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parameters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score and 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return value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867957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B74A2-8552-439B-B1F1-51868366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49BD6-3056-4840-B4A5-6A9C4793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Functions can contain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A6C48-ECEB-4559-9842-718D06A6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One function can own the complete totaling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CDB24-334B-493A-BAC6-F264746E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83C03-E5E3-43A0-BCA5-E5FA4803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7334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F0C10-C26A-4C07-9573-9B218218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62125"/>
            <a:ext cx="68008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total_scores(scores):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team_total = total_scores([4, 6, 5])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94F55-2144-4372-9063-AA8DC13A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6630D-4DB5-4627-87BD-1FB4C0A9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57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enters?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repeats?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changes?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returns?</a:t>
            </a:r>
          </a:p>
        </p:txBody>
      </p:sp>
    </p:spTree>
    <p:extLst>
      <p:ext uri="{BB962C8B-B14F-4D97-AF65-F5344CB8AC3E}">
        <p14:creationId xmlns:p14="http://schemas.microsoft.com/office/powerpoint/2010/main" val="20664571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904E5-25CB-4578-86F2-629DC5E5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C9060-5955-4B1D-8BA0-0ADD3E94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Peer debug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DA7D0-39BB-4CDB-A306-4BB83502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reviewer explains before touching the keyboard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522FB-B3FF-4740-B143-634AD653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87153-35EF-4204-A359-60CD2A7D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422A8-81AF-4A81-B86E-DC78EA7B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24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states the expected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F1932-837F-4D45-9FCF-4C08D4CB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B16A9-FFCF-4D5B-90E7-FCD7F767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traces one test case on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2FADB-6C2D-494F-9C21-13C15613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3648B-3FEB-4334-B7C8-389ECE04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Pair runs the same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04249-2379-45FD-BF3A-52B0DCC4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941DD-0B47-4A9D-90B4-8BB22F28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38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names the first unexpected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F0A58-FD95-4D10-9731-3301F608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321AC-F3D3-4E37-81AB-73A41BBE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changes one line and retests</a:t>
            </a:r>
          </a:p>
        </p:txBody>
      </p:sp>
    </p:spTree>
    <p:extLst>
      <p:ext uri="{BB962C8B-B14F-4D97-AF65-F5344CB8AC3E}">
        <p14:creationId xmlns:p14="http://schemas.microsoft.com/office/powerpoint/2010/main" val="3033683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67ED2-08BD-4E34-AE50-FCFE15AC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C751E-1ABF-43EA-BAEB-F36CE73E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7ED74-5E43-46A6-B6A2-60436B31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Write complete sentences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5BFFC-09B2-4E0A-ABD3-DE7466A9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269FC-D00F-429A-AA94-5E14C409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859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51B4E-867C-4057-88DB-91201AFF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does a loop variable hold?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6319C-0495-450B-9C90-B8C13987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2748A-CFC8-4389-8CEA-653BB6DB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does an accumulator change?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7775D-9AD2-4C37-9A4B-254FF70B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E0499-3EE3-497E-86D4-2049E84F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When would you choose while instead of for?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CC253-0FBC-493D-BDCB-D50AE875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DDD86-1B07-4074-B664-43C98CC3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must happen so a while loop stops?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28874-9759-4C31-9189-70E6415E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4F176-B7C1-4057-B1AB-4A461031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can a function use a loop?</a:t>
            </a:r>
          </a:p>
        </p:txBody>
      </p:sp>
    </p:spTree>
    <p:extLst>
      <p:ext uri="{BB962C8B-B14F-4D97-AF65-F5344CB8AC3E}">
        <p14:creationId xmlns:p14="http://schemas.microsoft.com/office/powerpoint/2010/main" val="1464087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2026-10-31T02:53:48.6490000Z</dcterms:created>
  <dcterms:modified xsi:type="dcterms:W3CDTF">2026-10-31T02:53:48.6490000Z</dcterms:modified>
</coreProperties>
</file>