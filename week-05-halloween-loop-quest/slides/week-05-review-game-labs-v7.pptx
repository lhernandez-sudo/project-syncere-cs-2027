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587cdc125492e" /><Relationship Type="http://schemas.openxmlformats.org/officeDocument/2006/relationships/extended-properties" Target="/docProps/app.xml" Id="R8128c283501d48ab" /><Relationship Type="http://schemas.openxmlformats.org/officeDocument/2006/relationships/officeDocument" Target="/ppt/presentation.xml" Id="Ra4c1622bd2284d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b14759f9944a6c"/>
  </p:sldMasterIdLst>
  <p:notesMasterIdLst>
    <p:notesMasterId xmlns:r="http://schemas.openxmlformats.org/officeDocument/2006/relationships" r:id="Rc450821f2e42423c"/>
  </p:notesMasterIdLst>
  <p:sldIdLst>
    <p:sldId xmlns:r="http://schemas.openxmlformats.org/officeDocument/2006/relationships" id="256" r:id="Rf8112566410240e6"/>
    <p:sldId xmlns:r="http://schemas.openxmlformats.org/officeDocument/2006/relationships" id="257" r:id="R9c65507694654151"/>
    <p:sldId xmlns:r="http://schemas.openxmlformats.org/officeDocument/2006/relationships" id="258" r:id="R5ec37e7de05048b2"/>
    <p:sldId xmlns:r="http://schemas.openxmlformats.org/officeDocument/2006/relationships" id="259" r:id="R46d19934199447dc"/>
    <p:sldId xmlns:r="http://schemas.openxmlformats.org/officeDocument/2006/relationships" id="260" r:id="R1001bc5879484c43"/>
    <p:sldId xmlns:r="http://schemas.openxmlformats.org/officeDocument/2006/relationships" id="261" r:id="R9852c150a8cf45b6"/>
    <p:sldId xmlns:r="http://schemas.openxmlformats.org/officeDocument/2006/relationships" id="262" r:id="Rf0007b91c6bd41f6"/>
    <p:sldId xmlns:r="http://schemas.openxmlformats.org/officeDocument/2006/relationships" id="263" r:id="R546bf0969ef9420a"/>
    <p:sldId xmlns:r="http://schemas.openxmlformats.org/officeDocument/2006/relationships" id="264" r:id="R0b0c5bec8e074624"/>
    <p:sldId xmlns:r="http://schemas.openxmlformats.org/officeDocument/2006/relationships" id="265" r:id="R89c918f9062b477e"/>
    <p:sldId xmlns:r="http://schemas.openxmlformats.org/officeDocument/2006/relationships" id="266" r:id="R8e2227a37a6a49cd"/>
    <p:sldId xmlns:r="http://schemas.openxmlformats.org/officeDocument/2006/relationships" id="267" r:id="R0e19c7c73f7c4c14"/>
    <p:sldId xmlns:r="http://schemas.openxmlformats.org/officeDocument/2006/relationships" id="268" r:id="Rfd91170c56e94b75"/>
    <p:sldId xmlns:r="http://schemas.openxmlformats.org/officeDocument/2006/relationships" id="269" r:id="R40a96d02468240a5"/>
    <p:sldId xmlns:r="http://schemas.openxmlformats.org/officeDocument/2006/relationships" id="270" r:id="Rfe139a7b7ba04d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a14ef8dbe34163" /><Relationship Type="http://schemas.openxmlformats.org/officeDocument/2006/relationships/slideMaster" Target="/ppt/slideMasters/slideMaster1.xml" Id="R28b14759f9944a6c" /><Relationship Type="http://schemas.openxmlformats.org/officeDocument/2006/relationships/notesMaster" Target="/ppt/notesMasters/notesMaster1.xml" Id="Rc450821f2e42423c" /><Relationship Type="http://schemas.openxmlformats.org/officeDocument/2006/relationships/presProps" Target="/ppt/presProps.xml" Id="Rce75bf95621e4b2f" /><Relationship Type="http://schemas.openxmlformats.org/officeDocument/2006/relationships/tableStyles" Target="/ppt/tableStyles.xml" Id="Raf7ac5fcc2f14863" /><Relationship Type="http://schemas.openxmlformats.org/officeDocument/2006/relationships/slide" Target="/ppt/slides/slide1.xml" Id="Rf8112566410240e6" /><Relationship Type="http://schemas.openxmlformats.org/officeDocument/2006/relationships/slide" Target="/ppt/slides/slide2.xml" Id="R9c65507694654151" /><Relationship Type="http://schemas.openxmlformats.org/officeDocument/2006/relationships/slide" Target="/ppt/slides/slide3.xml" Id="R5ec37e7de05048b2" /><Relationship Type="http://schemas.openxmlformats.org/officeDocument/2006/relationships/slide" Target="/ppt/slides/slide4.xml" Id="R46d19934199447dc" /><Relationship Type="http://schemas.openxmlformats.org/officeDocument/2006/relationships/slide" Target="/ppt/slides/slide5.xml" Id="R1001bc5879484c43" /><Relationship Type="http://schemas.openxmlformats.org/officeDocument/2006/relationships/slide" Target="/ppt/slides/slide6.xml" Id="R9852c150a8cf45b6" /><Relationship Type="http://schemas.openxmlformats.org/officeDocument/2006/relationships/slide" Target="/ppt/slides/slide7.xml" Id="Rf0007b91c6bd41f6" /><Relationship Type="http://schemas.openxmlformats.org/officeDocument/2006/relationships/slide" Target="/ppt/slides/slide8.xml" Id="R546bf0969ef9420a" /><Relationship Type="http://schemas.openxmlformats.org/officeDocument/2006/relationships/slide" Target="/ppt/slides/slide9.xml" Id="R0b0c5bec8e074624" /><Relationship Type="http://schemas.openxmlformats.org/officeDocument/2006/relationships/slide" Target="/ppt/slides/slide10.xml" Id="R89c918f9062b477e" /><Relationship Type="http://schemas.openxmlformats.org/officeDocument/2006/relationships/slide" Target="/ppt/slides/slide11.xml" Id="R8e2227a37a6a49cd" /><Relationship Type="http://schemas.openxmlformats.org/officeDocument/2006/relationships/slide" Target="/ppt/slides/slide12.xml" Id="R0e19c7c73f7c4c14" /><Relationship Type="http://schemas.openxmlformats.org/officeDocument/2006/relationships/slide" Target="/ppt/slides/slide13.xml" Id="Rfd91170c56e94b75" /><Relationship Type="http://schemas.openxmlformats.org/officeDocument/2006/relationships/slide" Target="/ppt/slides/slide14.xml" Id="R40a96d02468240a5" /><Relationship Type="http://schemas.openxmlformats.org/officeDocument/2006/relationships/slide" Target="/ppt/slides/slide15.xml" Id="Rfe139a7b7ba0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6e976ce8b44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892c9e07c14089" /><Relationship Type="http://schemas.openxmlformats.org/officeDocument/2006/relationships/notesMaster" Target="/ppt/notesMasters/notesMaster1.xml" Id="R014df406c91849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df43db98f14aa0" /><Relationship Type="http://schemas.openxmlformats.org/officeDocument/2006/relationships/notesMaster" Target="/ppt/notesMasters/notesMaster1.xml" Id="R10c791c2169e4c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dd8bc4cc714941" /><Relationship Type="http://schemas.openxmlformats.org/officeDocument/2006/relationships/notesMaster" Target="/ppt/notesMasters/notesMaster1.xml" Id="R88de0b826cee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476dbf88534b97" /><Relationship Type="http://schemas.openxmlformats.org/officeDocument/2006/relationships/notesMaster" Target="/ppt/notesMasters/notesMaster1.xml" Id="Rad589eddd6224a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d5ac42828d46d7" /><Relationship Type="http://schemas.openxmlformats.org/officeDocument/2006/relationships/notesMaster" Target="/ppt/notesMasters/notesMaster1.xml" Id="R2cdc69ecb49b48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d75c97e66c4feb" /><Relationship Type="http://schemas.openxmlformats.org/officeDocument/2006/relationships/notesMaster" Target="/ppt/notesMasters/notesMaster1.xml" Id="R5da97709615d47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126f7ea41f46ea" /><Relationship Type="http://schemas.openxmlformats.org/officeDocument/2006/relationships/notesMaster" Target="/ppt/notesMasters/notesMaster1.xml" Id="Rc72930719113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0d893cb54747a0" /><Relationship Type="http://schemas.openxmlformats.org/officeDocument/2006/relationships/notesMaster" Target="/ppt/notesMasters/notesMaster1.xml" Id="Rf31289f5db2642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f6d24f3def469d" /><Relationship Type="http://schemas.openxmlformats.org/officeDocument/2006/relationships/notesMaster" Target="/ppt/notesMasters/notesMaster1.xml" Id="Ree10b98aa50846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d12fc77a964f5e" /><Relationship Type="http://schemas.openxmlformats.org/officeDocument/2006/relationships/notesMaster" Target="/ppt/notesMasters/notesMaster1.xml" Id="R6931bcaaa5be48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a2ec721e4f4753" /><Relationship Type="http://schemas.openxmlformats.org/officeDocument/2006/relationships/notesMaster" Target="/ppt/notesMasters/notesMaster1.xml" Id="R19054e12efcb43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d4b2467c4e43c6" /><Relationship Type="http://schemas.openxmlformats.org/officeDocument/2006/relationships/notesMaster" Target="/ppt/notesMasters/notesMaster1.xml" Id="Re41242e7620847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e48655b1c34037" /><Relationship Type="http://schemas.openxmlformats.org/officeDocument/2006/relationships/notesMaster" Target="/ppt/notesMasters/notesMaster1.xml" Id="Ra3ce60c62e0549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fbc327fb2a42bb" /><Relationship Type="http://schemas.openxmlformats.org/officeDocument/2006/relationships/notesMaster" Target="/ppt/notesMasters/notesMaster1.xml" Id="Rd25cb3654c7448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5e0ecaf97974ee0" /><Relationship Type="http://schemas.openxmlformats.org/officeDocument/2006/relationships/notesMaster" Target="/ppt/notesMasters/notesMaster1.xml" Id="Rd836220ba5004b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26d7eb77e4a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beceeb33ff40d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7397cd3574e2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a225b264b44b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0e4b08f5f4a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d288f044a7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FD9EE4E-7D3A-4CF1-ACB7-87A3FDEF07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00D8E3-4C25-429B-8710-E48905E6C0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EA98AA-3C00-4485-A1C7-B6FCA320E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8B0530-E5BF-4D57-A57F-615EC696C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4D052B-4EDF-4954-A04A-D1C6E9BE84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37D03E-7A95-4D15-8ED2-9225F8FF64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05FCCC-57A2-4292-BC08-A118B465CB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4FB229-E5C0-468F-8612-C7B152601EE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0387EBA-3491-4C28-8CF8-FEBE89CA9D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5FF8B73-C4C7-4A2D-BB79-FF65D18D82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82818f30d484830" /><Relationship Type="http://schemas.openxmlformats.org/officeDocument/2006/relationships/slideLayout" Target="/ppt/slideLayouts/slideLayout1.xml" Id="Rf2d26c288d22438b" /><Relationship Type="http://schemas.openxmlformats.org/officeDocument/2006/relationships/slideLayout" Target="/ppt/slideLayouts/slideLayout2.xml" Id="Rf14830503cf24f9a" /><Relationship Type="http://schemas.openxmlformats.org/officeDocument/2006/relationships/slideLayout" Target="/ppt/slideLayouts/slideLayout3.xml" Id="R9a1537d72cd34f3b" /><Relationship Type="http://schemas.openxmlformats.org/officeDocument/2006/relationships/slideLayout" Target="/ppt/slideLayouts/slideLayout4.xml" Id="Rc41d92b7987a4ff4" /><Relationship Type="http://schemas.openxmlformats.org/officeDocument/2006/relationships/slideLayout" Target="/ppt/slideLayouts/slideLayout5.xml" Id="Refd9136e4f9a40c9" /><Relationship Type="http://schemas.openxmlformats.org/officeDocument/2006/relationships/slideLayout" Target="/ppt/slideLayouts/slideLayout6.xml" Id="R06f3bdc7c5ca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d26c288d22438b"/>
    <p:sldLayoutId xmlns:r="http://schemas.openxmlformats.org/officeDocument/2006/relationships" id="2147483650" r:id="Rf14830503cf24f9a"/>
    <p:sldLayoutId xmlns:r="http://schemas.openxmlformats.org/officeDocument/2006/relationships" id="2147483651" r:id="R9a1537d72cd34f3b"/>
    <p:sldLayoutId xmlns:r="http://schemas.openxmlformats.org/officeDocument/2006/relationships" id="2147483652" r:id="Rc41d92b7987a4ff4"/>
    <p:sldLayoutId xmlns:r="http://schemas.openxmlformats.org/officeDocument/2006/relationships" id="2147483653" r:id="Refd9136e4f9a40c9"/>
    <p:sldLayoutId xmlns:r="http://schemas.openxmlformats.org/officeDocument/2006/relationships" id="2147483654" r:id="R06f3bdc7c5ca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521ff0a15c475b" /><Relationship Type="http://schemas.openxmlformats.org/officeDocument/2006/relationships/notesSlide" Target="/ppt/notesSlides/notesSlide1.xml" Id="Rc32635021a944b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2d0600d9374167" /><Relationship Type="http://schemas.openxmlformats.org/officeDocument/2006/relationships/notesSlide" Target="/ppt/notesSlides/notesSlide2.xml" Id="R1a1c558d1b1c43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180827f81643eb" /><Relationship Type="http://schemas.openxmlformats.org/officeDocument/2006/relationships/notesSlide" Target="/ppt/notesSlides/notesSlide3.xml" Id="R139c94f52dce40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4363e8951f46e8" /><Relationship Type="http://schemas.openxmlformats.org/officeDocument/2006/relationships/notesSlide" Target="/ppt/notesSlides/notesSlide4.xml" Id="R695015acf4d5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436c5a9934451f" /><Relationship Type="http://schemas.openxmlformats.org/officeDocument/2006/relationships/notesSlide" Target="/ppt/notesSlides/notesSlide5.xml" Id="Rd31703b887d742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97bb4eefe9437f" /><Relationship Type="http://schemas.openxmlformats.org/officeDocument/2006/relationships/notesSlide" Target="/ppt/notesSlides/notesSlide6.xml" Id="R70d451d457e34c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e45454807448c2" /><Relationship Type="http://schemas.openxmlformats.org/officeDocument/2006/relationships/notesSlide" Target="/ppt/notesSlides/notesSlide7.xml" Id="Rb8ccaf5eea2a46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e28760fe7142fe" /><Relationship Type="http://schemas.openxmlformats.org/officeDocument/2006/relationships/notesSlide" Target="/ppt/notesSlides/notesSlide8.xml" Id="Rc33cea78b6cc42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722ac39dee4ca3" /><Relationship Type="http://schemas.openxmlformats.org/officeDocument/2006/relationships/notesSlide" Target="/ppt/notesSlides/notesSlide9.xml" Id="R6c84f0f45fc84f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66d52954a4da4" /><Relationship Type="http://schemas.openxmlformats.org/officeDocument/2006/relationships/notesSlide" Target="/ppt/notesSlides/notesSlide10.xml" Id="Ra87f4ed1b5a949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1c87e6c50497c" /><Relationship Type="http://schemas.openxmlformats.org/officeDocument/2006/relationships/notesSlide" Target="/ppt/notesSlides/notesSlide11.xml" Id="Rcfb7061b1e4b45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3d7428fe1479a" /><Relationship Type="http://schemas.openxmlformats.org/officeDocument/2006/relationships/notesSlide" Target="/ppt/notesSlides/notesSlide12.xml" Id="Ra6a131ce004645a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a23b6cf10049d8" /><Relationship Type="http://schemas.openxmlformats.org/officeDocument/2006/relationships/notesSlide" Target="/ppt/notesSlides/notesSlide13.xml" Id="R5ca7e4dc5cff4be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dba84833f24cc4" /><Relationship Type="http://schemas.openxmlformats.org/officeDocument/2006/relationships/notesSlide" Target="/ppt/notesSlides/notesSlide14.xml" Id="R287dcadecbea49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a6be5760b04b62" /><Relationship Type="http://schemas.openxmlformats.org/officeDocument/2006/relationships/notesSlide" Target="/ppt/notesSlides/notesSlide15.xml" Id="Rf2b070e0268347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3645B-EE00-42F4-9C2F-B5B912E6A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D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24BA-B979-428B-99B4-9E43EA7B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</a:defRPr>
            </a:defPPr>
            <a:lvl1pPr algn="l">
              <a:defRPr sz="3750" b="1">
                <a:solidFill>
                  <a:srgbClr val="FFFFFF"/>
                </a:solidFill>
              </a:defRPr>
            </a:lvl1pPr>
            <a:lvl2pPr algn="l">
              <a:defRPr sz="3750" b="1">
                <a:solidFill>
                  <a:srgbClr val="FFFFFF"/>
                </a:solidFill>
              </a:defRPr>
            </a:lvl2pPr>
            <a:lvl3pPr algn="l">
              <a:defRPr sz="3750" b="1">
                <a:solidFill>
                  <a:srgbClr val="FFFFFF"/>
                </a:solidFill>
              </a:defRPr>
            </a:lvl3pPr>
            <a:lvl4pPr algn="l">
              <a:defRPr sz="3750" b="1">
                <a:solidFill>
                  <a:srgbClr val="FFFFFF"/>
                </a:solidFill>
              </a:defRPr>
            </a:lvl4pPr>
            <a:lvl5pPr algn="l">
              <a:defRPr sz="3750" b="1">
                <a:solidFill>
                  <a:srgbClr val="FFFFFF"/>
                </a:solidFill>
              </a:defRPr>
            </a:lvl5pPr>
            <a:lvl6pPr algn="l">
              <a:defRPr sz="3750" b="1">
                <a:solidFill>
                  <a:srgbClr val="FFFFFF"/>
                </a:solidFill>
              </a:defRPr>
            </a:lvl6pPr>
            <a:lvl7pPr algn="l">
              <a:defRPr sz="3750" b="1">
                <a:solidFill>
                  <a:srgbClr val="FFFFFF"/>
                </a:solidFill>
              </a:defRPr>
            </a:lvl7pPr>
            <a:lvl8pPr algn="l">
              <a:defRPr sz="3750" b="1">
                <a:solidFill>
                  <a:srgbClr val="FFFFFF"/>
                </a:solidFill>
              </a:defRPr>
            </a:lvl8pPr>
            <a:lvl9pPr algn="l">
              <a:defRPr sz="37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Python Foundations for Engineers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7D0C53-0CA4-4EEA-8EC7-A841C962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00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00" b="0">
                <a:solidFill>
                  <a:srgbClr val="B8D7F0"/>
                </a:solidFill>
              </a:defRPr>
            </a:defPPr>
            <a:lvl1pPr algn="l">
              <a:defRPr sz="2100" b="0">
                <a:solidFill>
                  <a:srgbClr val="B8D7F0"/>
                </a:solidFill>
              </a:defRPr>
            </a:lvl1pPr>
            <a:lvl2pPr algn="l">
              <a:defRPr sz="2100" b="0">
                <a:solidFill>
                  <a:srgbClr val="B8D7F0"/>
                </a:solidFill>
              </a:defRPr>
            </a:lvl2pPr>
            <a:lvl3pPr algn="l">
              <a:defRPr sz="2100" b="0">
                <a:solidFill>
                  <a:srgbClr val="B8D7F0"/>
                </a:solidFill>
              </a:defRPr>
            </a:lvl3pPr>
            <a:lvl4pPr algn="l">
              <a:defRPr sz="2100" b="0">
                <a:solidFill>
                  <a:srgbClr val="B8D7F0"/>
                </a:solidFill>
              </a:defRPr>
            </a:lvl4pPr>
            <a:lvl5pPr algn="l">
              <a:defRPr sz="2100" b="0">
                <a:solidFill>
                  <a:srgbClr val="B8D7F0"/>
                </a:solidFill>
              </a:defRPr>
            </a:lvl5pPr>
            <a:lvl6pPr algn="l">
              <a:defRPr sz="2100" b="0">
                <a:solidFill>
                  <a:srgbClr val="B8D7F0"/>
                </a:solidFill>
              </a:defRPr>
            </a:lvl6pPr>
            <a:lvl7pPr algn="l">
              <a:defRPr sz="2100" b="0">
                <a:solidFill>
                  <a:srgbClr val="B8D7F0"/>
                </a:solidFill>
              </a:defRPr>
            </a:lvl7pPr>
            <a:lvl8pPr algn="l">
              <a:defRPr sz="2100" b="0">
                <a:solidFill>
                  <a:srgbClr val="B8D7F0"/>
                </a:solidFill>
              </a:defRPr>
            </a:lvl8pPr>
            <a:lvl9pPr algn="l">
              <a:defRPr sz="2100" b="0">
                <a:solidFill>
                  <a:srgbClr val="B8D7F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B8D7F0"/>
                </a:solidFill>
              </a:defRPr>
            </a:pPr>
            <a:r>
              <a:rPr sz="2100" b="0">
                <a:solidFill>
                  <a:srgbClr val="B8D7F0"/>
                </a:solidFill>
              </a:rPr>
              <a:t>Beginner review before the team labs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24E44-4999-4777-9FC2-1A91A356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6260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D9E8F5"/>
                </a:solidFill>
              </a:defRPr>
            </a:defPPr>
            <a:lvl1pPr algn="l">
              <a:defRPr sz="1500" b="0">
                <a:solidFill>
                  <a:srgbClr val="D9E8F5"/>
                </a:solidFill>
              </a:defRPr>
            </a:lvl1pPr>
            <a:lvl2pPr algn="l">
              <a:defRPr sz="1500" b="0">
                <a:solidFill>
                  <a:srgbClr val="D9E8F5"/>
                </a:solidFill>
              </a:defRPr>
            </a:lvl2pPr>
            <a:lvl3pPr algn="l">
              <a:defRPr sz="1500" b="0">
                <a:solidFill>
                  <a:srgbClr val="D9E8F5"/>
                </a:solidFill>
              </a:defRPr>
            </a:lvl3pPr>
            <a:lvl4pPr algn="l">
              <a:defRPr sz="1500" b="0">
                <a:solidFill>
                  <a:srgbClr val="D9E8F5"/>
                </a:solidFill>
              </a:defRPr>
            </a:lvl4pPr>
            <a:lvl5pPr algn="l">
              <a:defRPr sz="1500" b="0">
                <a:solidFill>
                  <a:srgbClr val="D9E8F5"/>
                </a:solidFill>
              </a:defRPr>
            </a:lvl5pPr>
            <a:lvl6pPr algn="l">
              <a:defRPr sz="1500" b="0">
                <a:solidFill>
                  <a:srgbClr val="D9E8F5"/>
                </a:solidFill>
              </a:defRPr>
            </a:lvl6pPr>
            <a:lvl7pPr algn="l">
              <a:defRPr sz="1500" b="0">
                <a:solidFill>
                  <a:srgbClr val="D9E8F5"/>
                </a:solidFill>
              </a:defRPr>
            </a:lvl7pPr>
            <a:lvl8pPr algn="l">
              <a:defRPr sz="1500" b="0">
                <a:solidFill>
                  <a:srgbClr val="D9E8F5"/>
                </a:solidFill>
              </a:defRPr>
            </a:lvl8pPr>
            <a:lvl9pPr algn="l">
              <a:defRPr sz="1500" b="0">
                <a:solidFill>
                  <a:srgbClr val="D9E8F5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D9E8F5"/>
                </a:solidFill>
              </a:defRPr>
            </a:pPr>
            <a:r>
              <a:rPr sz="1500" b="0">
                <a:solidFill>
                  <a:srgbClr val="D9E8F5"/>
                </a:solidFill>
              </a:rPr>
              <a:t>Week 5: Mario review and three guided Colab labs</a:t>
            </a:r>
          </a:p>
        </p:txBody>
      </p:sp>
    </p:spTree>
    <p:extLst>
      <p:ext uri="{BB962C8B-B14F-4D97-AF65-F5344CB8AC3E}">
        <p14:creationId xmlns:p14="http://schemas.microsoft.com/office/powerpoint/2010/main" val="18433079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891F74-419D-4F6C-BD59-53068683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42F81-DFBA-4362-93A9-8AF397C2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Today’s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1C310-2B29-4F0A-9B8B-6D4F8865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Class ends at 1:00 PM — the first 15 minutes are for arrival and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DACE1-62A3-489D-BFE7-5BF76676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1685F-6D2B-4E4E-86A1-D9D24D02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94CF9C-F16B-43E1-935D-9F5A20C7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573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9:00–9:15  Arrive, sign in, open the browser, and get settled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2E3F8-B347-4CB4-9A1E-282526DE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911BE-5224-4D2E-8E9E-EAE07A90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9:15–9:22  Fast engineering concept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B3752A-5D7D-477B-8562-402D6615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1E540-D2C3-4535-B8BA-25626C10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9:22–9:40  Mario Python review game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5728D-BC3C-4658-BBA2-F3CAA92E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DCA5E5-E604-4645-90F3-3E0E1845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289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9:40–10:25  Super Mario Debug Quest in Module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DE8897-8510-4C13-85FB-8D6DE3C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7A739A-71BA-40D2-AAD1-4E2D8C73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10:25–10:35  Break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57096-E636-43F3-A890-7EF92233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51496-BAE4-4313-95BD-91431DBC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00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10:35–11:20  Module 2: Arcade Loop Trainer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CFAF6-D273-453F-A1CB-9FF4072D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2F497-D989-461A-AD95-53298F2D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11:20–11:30  Break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0D2B8-5419-44B3-9EF4-40FAEF0F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1">
                <a:solidFill>
                  <a:srgbClr val="0F766E"/>
                </a:solidFill>
              </a:defRPr>
            </a:defPPr>
            <a:lvl1pPr algn="l">
              <a:defRPr sz="1500" b="1">
                <a:solidFill>
                  <a:srgbClr val="0F766E"/>
                </a:solidFill>
              </a:defRPr>
            </a:lvl1pPr>
            <a:lvl2pPr algn="l">
              <a:defRPr sz="1500" b="1">
                <a:solidFill>
                  <a:srgbClr val="0F766E"/>
                </a:solidFill>
              </a:defRPr>
            </a:lvl2pPr>
            <a:lvl3pPr algn="l">
              <a:defRPr sz="1500" b="1">
                <a:solidFill>
                  <a:srgbClr val="0F766E"/>
                </a:solidFill>
              </a:defRPr>
            </a:lvl3pPr>
            <a:lvl4pPr algn="l">
              <a:defRPr sz="1500" b="1">
                <a:solidFill>
                  <a:srgbClr val="0F766E"/>
                </a:solidFill>
              </a:defRPr>
            </a:lvl4pPr>
            <a:lvl5pPr algn="l">
              <a:defRPr sz="1500" b="1">
                <a:solidFill>
                  <a:srgbClr val="0F766E"/>
                </a:solidFill>
              </a:defRPr>
            </a:lvl5pPr>
            <a:lvl6pPr algn="l">
              <a:defRPr sz="1500" b="1">
                <a:solidFill>
                  <a:srgbClr val="0F766E"/>
                </a:solidFill>
              </a:defRPr>
            </a:lvl6pPr>
            <a:lvl7pPr algn="l">
              <a:defRPr sz="1500" b="1">
                <a:solidFill>
                  <a:srgbClr val="0F766E"/>
                </a:solidFill>
              </a:defRPr>
            </a:lvl7pPr>
            <a:lvl8pPr algn="l">
              <a:defRPr sz="1500" b="1">
                <a:solidFill>
                  <a:srgbClr val="0F766E"/>
                </a:solidFill>
              </a:defRPr>
            </a:lvl8pPr>
            <a:lvl9pPr algn="l">
              <a:defRPr sz="15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D50AE-25EE-4656-AF85-C48937F1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1049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00" b="0">
                <a:solidFill>
                  <a:srgbClr val="122033"/>
                </a:solidFill>
              </a:defRPr>
            </a:defPPr>
            <a:lvl1pPr algn="l">
              <a:defRPr sz="1500" b="0">
                <a:solidFill>
                  <a:srgbClr val="122033"/>
                </a:solidFill>
              </a:defRPr>
            </a:lvl1pPr>
            <a:lvl2pPr algn="l">
              <a:defRPr sz="1500" b="0">
                <a:solidFill>
                  <a:srgbClr val="122033"/>
                </a:solidFill>
              </a:defRPr>
            </a:lvl2pPr>
            <a:lvl3pPr algn="l">
              <a:defRPr sz="1500" b="0">
                <a:solidFill>
                  <a:srgbClr val="122033"/>
                </a:solidFill>
              </a:defRPr>
            </a:lvl3pPr>
            <a:lvl4pPr algn="l">
              <a:defRPr sz="1500" b="0">
                <a:solidFill>
                  <a:srgbClr val="122033"/>
                </a:solidFill>
              </a:defRPr>
            </a:lvl4pPr>
            <a:lvl5pPr algn="l">
              <a:defRPr sz="1500" b="0">
                <a:solidFill>
                  <a:srgbClr val="122033"/>
                </a:solidFill>
              </a:defRPr>
            </a:lvl5pPr>
            <a:lvl6pPr algn="l">
              <a:defRPr sz="1500" b="0">
                <a:solidFill>
                  <a:srgbClr val="122033"/>
                </a:solidFill>
              </a:defRPr>
            </a:lvl6pPr>
            <a:lvl7pPr algn="l">
              <a:defRPr sz="1500" b="0">
                <a:solidFill>
                  <a:srgbClr val="122033"/>
                </a:solidFill>
              </a:defRPr>
            </a:lvl7pPr>
            <a:lvl8pPr algn="l">
              <a:defRPr sz="1500" b="0">
                <a:solidFill>
                  <a:srgbClr val="122033"/>
                </a:solidFill>
              </a:defRPr>
            </a:lvl8pPr>
            <a:lvl9pPr algn="l">
              <a:defRPr sz="15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22033"/>
                </a:solidFill>
              </a:defRPr>
            </a:pPr>
            <a:r>
              <a:rPr sz="1500" b="0">
                <a:solidFill>
                  <a:srgbClr val="122033"/>
                </a:solidFill>
              </a:rPr>
              <a:t>11:30–1:00  Module 3, boss challenge, peer debugging, and exit</a:t>
            </a:r>
          </a:p>
        </p:txBody>
      </p:sp>
    </p:spTree>
    <p:extLst>
      <p:ext uri="{BB962C8B-B14F-4D97-AF65-F5344CB8AC3E}">
        <p14:creationId xmlns:p14="http://schemas.microsoft.com/office/powerpoint/2010/main" val="1594191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B4CCA-7FC8-4881-A871-3F432745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BBC7A-E19A-475F-B184-7CFEDFF7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is a software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AFA50D-9263-4D19-89F3-FC3F3188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Every game action depends on the same foundations engineers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6863C-9DB8-4681-B59D-1DB0CB0E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A68E5-388C-4B9E-B2F9-734AB8E1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VARIABLES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3B309-BB14-4154-BF9D-403F5E51B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Store Mario’s lives, coins, speed, and power state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30605-E7DD-4DB1-A935-E2BF9C47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0F766E"/>
                </a:solidFill>
              </a:defRPr>
            </a:defPPr>
            <a:lvl1pPr algn="l">
              <a:defRPr sz="1425" b="1">
                <a:solidFill>
                  <a:srgbClr val="0F766E"/>
                </a:solidFill>
              </a:defRPr>
            </a:lvl1pPr>
            <a:lvl2pPr algn="l">
              <a:defRPr sz="1425" b="1">
                <a:solidFill>
                  <a:srgbClr val="0F766E"/>
                </a:solidFill>
              </a:defRPr>
            </a:lvl2pPr>
            <a:lvl3pPr algn="l">
              <a:defRPr sz="1425" b="1">
                <a:solidFill>
                  <a:srgbClr val="0F766E"/>
                </a:solidFill>
              </a:defRPr>
            </a:lvl3pPr>
            <a:lvl4pPr algn="l">
              <a:defRPr sz="1425" b="1">
                <a:solidFill>
                  <a:srgbClr val="0F766E"/>
                </a:solidFill>
              </a:defRPr>
            </a:lvl4pPr>
            <a:lvl5pPr algn="l">
              <a:defRPr sz="1425" b="1">
                <a:solidFill>
                  <a:srgbClr val="0F766E"/>
                </a:solidFill>
              </a:defRPr>
            </a:lvl5pPr>
            <a:lvl6pPr algn="l">
              <a:defRPr sz="1425" b="1">
                <a:solidFill>
                  <a:srgbClr val="0F766E"/>
                </a:solidFill>
              </a:defRPr>
            </a:lvl6pPr>
            <a:lvl7pPr algn="l">
              <a:defRPr sz="1425" b="1">
                <a:solidFill>
                  <a:srgbClr val="0F766E"/>
                </a:solidFill>
              </a:defRPr>
            </a:lvl7pPr>
            <a:lvl8pPr algn="l">
              <a:defRPr sz="1425" b="1">
                <a:solidFill>
                  <a:srgbClr val="0F766E"/>
                </a:solidFill>
              </a:defRPr>
            </a:lvl8pPr>
            <a:lvl9pPr algn="l">
              <a:defRPr sz="14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F766E"/>
                </a:solidFill>
              </a:defRPr>
            </a:pPr>
            <a:r>
              <a:rPr sz="1425" b="1">
                <a:solidFill>
                  <a:srgbClr val="0F766E"/>
                </a:solidFill>
              </a:rPr>
              <a:t>LISTS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A2D56-0A5D-4C62-9A8C-28B62372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Keep enemies, questions, platforms, and collected items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4DCD7-0177-44B4-8D9F-DEE56C0F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04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CONDITIONS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26264F-F237-4CA2-BE88-A2241B66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859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Choose what happens after a collision or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68D1D-5F8F-442D-ACB0-C886E75B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67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425" b="1">
                <a:solidFill>
                  <a:srgbClr val="E85D4A"/>
                </a:solidFill>
              </a:defRPr>
            </a:defPPr>
            <a:lvl1pPr algn="l">
              <a:defRPr sz="1425" b="1">
                <a:solidFill>
                  <a:srgbClr val="E85D4A"/>
                </a:solidFill>
              </a:defRPr>
            </a:lvl1pPr>
            <a:lvl2pPr algn="l">
              <a:defRPr sz="1425" b="1">
                <a:solidFill>
                  <a:srgbClr val="E85D4A"/>
                </a:solidFill>
              </a:defRPr>
            </a:lvl2pPr>
            <a:lvl3pPr algn="l">
              <a:defRPr sz="1425" b="1">
                <a:solidFill>
                  <a:srgbClr val="E85D4A"/>
                </a:solidFill>
              </a:defRPr>
            </a:lvl3pPr>
            <a:lvl4pPr algn="l">
              <a:defRPr sz="1425" b="1">
                <a:solidFill>
                  <a:srgbClr val="E85D4A"/>
                </a:solidFill>
              </a:defRPr>
            </a:lvl4pPr>
            <a:lvl5pPr algn="l">
              <a:defRPr sz="1425" b="1">
                <a:solidFill>
                  <a:srgbClr val="E85D4A"/>
                </a:solidFill>
              </a:defRPr>
            </a:lvl5pPr>
            <a:lvl6pPr algn="l">
              <a:defRPr sz="1425" b="1">
                <a:solidFill>
                  <a:srgbClr val="E85D4A"/>
                </a:solidFill>
              </a:defRPr>
            </a:lvl6pPr>
            <a:lvl7pPr algn="l">
              <a:defRPr sz="1425" b="1">
                <a:solidFill>
                  <a:srgbClr val="E85D4A"/>
                </a:solidFill>
              </a:defRPr>
            </a:lvl7pPr>
            <a:lvl8pPr algn="l">
              <a:defRPr sz="1425" b="1">
                <a:solidFill>
                  <a:srgbClr val="E85D4A"/>
                </a:solidFill>
              </a:defRPr>
            </a:lvl8pPr>
            <a:lvl9pPr algn="l">
              <a:defRPr sz="142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85D4A"/>
                </a:solidFill>
              </a:defRPr>
            </a:pPr>
            <a:r>
              <a:rPr sz="1425" b="1">
                <a:solidFill>
                  <a:srgbClr val="E85D4A"/>
                </a:solidFill>
              </a:rPr>
              <a:t>LOOPS + FUNCTIONS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DCD709-27FB-4980-8891-6943117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122033"/>
                </a:solidFill>
              </a:defRPr>
            </a:defPPr>
            <a:lvl1pPr algn="l">
              <a:defRPr sz="1950" b="1">
                <a:solidFill>
                  <a:srgbClr val="122033"/>
                </a:solidFill>
              </a:defRPr>
            </a:lvl1pPr>
            <a:lvl2pPr algn="l">
              <a:defRPr sz="1950" b="1">
                <a:solidFill>
                  <a:srgbClr val="122033"/>
                </a:solidFill>
              </a:defRPr>
            </a:lvl2pPr>
            <a:lvl3pPr algn="l">
              <a:defRPr sz="1950" b="1">
                <a:solidFill>
                  <a:srgbClr val="122033"/>
                </a:solidFill>
              </a:defRPr>
            </a:lvl3pPr>
            <a:lvl4pPr algn="l">
              <a:defRPr sz="1950" b="1">
                <a:solidFill>
                  <a:srgbClr val="122033"/>
                </a:solidFill>
              </a:defRPr>
            </a:lvl4pPr>
            <a:lvl5pPr algn="l">
              <a:defRPr sz="1950" b="1">
                <a:solidFill>
                  <a:srgbClr val="122033"/>
                </a:solidFill>
              </a:defRPr>
            </a:lvl5pPr>
            <a:lvl6pPr algn="l">
              <a:defRPr sz="1950" b="1">
                <a:solidFill>
                  <a:srgbClr val="122033"/>
                </a:solidFill>
              </a:defRPr>
            </a:lvl6pPr>
            <a:lvl7pPr algn="l">
              <a:defRPr sz="1950" b="1">
                <a:solidFill>
                  <a:srgbClr val="122033"/>
                </a:solidFill>
              </a:defRPr>
            </a:lvl7pPr>
            <a:lvl8pPr algn="l">
              <a:defRPr sz="1950" b="1">
                <a:solidFill>
                  <a:srgbClr val="122033"/>
                </a:solidFill>
              </a:defRPr>
            </a:lvl8pPr>
            <a:lvl9pPr algn="l">
              <a:defRPr sz="1950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22033"/>
                </a:solidFill>
              </a:defRPr>
            </a:pPr>
            <a:r>
              <a:rPr sz="1950" b="1">
                <a:solidFill>
                  <a:srgbClr val="122033"/>
                </a:solidFill>
              </a:rPr>
              <a:t>Update the world repeatedly and reuse reliable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669B2-539A-45CF-89C0-E01415F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1038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 b="1">
                <a:solidFill>
                  <a:srgbClr val="071A33"/>
                </a:solidFill>
              </a:defRPr>
            </a:defPPr>
            <a:lvl1pPr algn="ctr">
              <a:defRPr sz="2100" b="1">
                <a:solidFill>
                  <a:srgbClr val="071A33"/>
                </a:solidFill>
              </a:defRPr>
            </a:lvl1pPr>
            <a:lvl2pPr algn="ctr">
              <a:defRPr sz="2100" b="1">
                <a:solidFill>
                  <a:srgbClr val="071A33"/>
                </a:solidFill>
              </a:defRPr>
            </a:lvl2pPr>
            <a:lvl3pPr algn="ctr">
              <a:defRPr sz="2100" b="1">
                <a:solidFill>
                  <a:srgbClr val="071A33"/>
                </a:solidFill>
              </a:defRPr>
            </a:lvl3pPr>
            <a:lvl4pPr algn="ctr">
              <a:defRPr sz="2100" b="1">
                <a:solidFill>
                  <a:srgbClr val="071A33"/>
                </a:solidFill>
              </a:defRPr>
            </a:lvl4pPr>
            <a:lvl5pPr algn="ctr">
              <a:defRPr sz="2100" b="1">
                <a:solidFill>
                  <a:srgbClr val="071A33"/>
                </a:solidFill>
              </a:defRPr>
            </a:lvl5pPr>
            <a:lvl6pPr algn="ctr">
              <a:defRPr sz="2100" b="1">
                <a:solidFill>
                  <a:srgbClr val="071A33"/>
                </a:solidFill>
              </a:defRPr>
            </a:lvl6pPr>
            <a:lvl7pPr algn="ctr">
              <a:defRPr sz="2100" b="1">
                <a:solidFill>
                  <a:srgbClr val="071A33"/>
                </a:solidFill>
              </a:defRPr>
            </a:lvl7pPr>
            <a:lvl8pPr algn="ctr">
              <a:defRPr sz="2100" b="1">
                <a:solidFill>
                  <a:srgbClr val="071A33"/>
                </a:solidFill>
              </a:defRPr>
            </a:lvl8pPr>
            <a:lvl9pPr algn="ctr">
              <a:defRPr sz="21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071A33"/>
                </a:solidFill>
              </a:defRPr>
            </a:pPr>
            <a:r>
              <a:rPr sz="2100" b="1">
                <a:solidFill>
                  <a:srgbClr val="071A33"/>
                </a:solidFill>
              </a:rPr>
              <a:t>Engineering starts by turning a real situation into data, rules, repetition, and reusable jobs.</a:t>
            </a:r>
          </a:p>
        </p:txBody>
      </p:sp>
    </p:spTree>
    <p:extLst>
      <p:ext uri="{BB962C8B-B14F-4D97-AF65-F5344CB8AC3E}">
        <p14:creationId xmlns:p14="http://schemas.microsoft.com/office/powerpoint/2010/main" val="14455756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D56495-33CB-499D-BC52-F9CCA153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F46B2A-5147-454F-8A73-08EF47D9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Engineers debug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7DD910-7DD1-4EB8-901A-26CD06E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 failure shows which assumption or value needs another 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7343BD-D8BD-463D-8C1C-237F160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85723-51B6-485C-82D0-EBDD44013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A5DE7-07BD-40A4-9443-4C1A45A46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0020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Predict the result before running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F6F48-7DB8-4484-B0E0-BA29756A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7DCAA-9C66-4C7B-A24F-DDB54130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0507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Run one test and read the actual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78DF98-C274-4E1B-81C6-6A56AE4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BB1544-DA9C-4E34-89CE-2B9B0F544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99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Find the first value that differs from the prediction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AA1F14-4EBE-4973-9C96-D8C7E92C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3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625" b="1">
                <a:solidFill>
                  <a:srgbClr val="0F766E"/>
                </a:solidFill>
              </a:defRPr>
            </a:defPPr>
            <a:lvl1pPr algn="ctr">
              <a:defRPr sz="2625" b="1">
                <a:solidFill>
                  <a:srgbClr val="0F766E"/>
                </a:solidFill>
              </a:defRPr>
            </a:lvl1pPr>
            <a:lvl2pPr algn="ctr">
              <a:defRPr sz="2625" b="1">
                <a:solidFill>
                  <a:srgbClr val="0F766E"/>
                </a:solidFill>
              </a:defRPr>
            </a:lvl2pPr>
            <a:lvl3pPr algn="ctr">
              <a:defRPr sz="2625" b="1">
                <a:solidFill>
                  <a:srgbClr val="0F766E"/>
                </a:solidFill>
              </a:defRPr>
            </a:lvl3pPr>
            <a:lvl4pPr algn="ctr">
              <a:defRPr sz="2625" b="1">
                <a:solidFill>
                  <a:srgbClr val="0F766E"/>
                </a:solidFill>
              </a:defRPr>
            </a:lvl4pPr>
            <a:lvl5pPr algn="ctr">
              <a:defRPr sz="2625" b="1">
                <a:solidFill>
                  <a:srgbClr val="0F766E"/>
                </a:solidFill>
              </a:defRPr>
            </a:lvl5pPr>
            <a:lvl6pPr algn="ctr">
              <a:defRPr sz="2625" b="1">
                <a:solidFill>
                  <a:srgbClr val="0F766E"/>
                </a:solidFill>
              </a:defRPr>
            </a:lvl6pPr>
            <a:lvl7pPr algn="ctr">
              <a:defRPr sz="2625" b="1">
                <a:solidFill>
                  <a:srgbClr val="0F766E"/>
                </a:solidFill>
              </a:defRPr>
            </a:lvl7pPr>
            <a:lvl8pPr algn="ctr">
              <a:defRPr sz="2625" b="1">
                <a:solidFill>
                  <a:srgbClr val="0F766E"/>
                </a:solidFill>
              </a:defRPr>
            </a:lvl8pPr>
            <a:lvl9pPr algn="ctr">
              <a:defRPr sz="26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0F766E"/>
                </a:solidFill>
              </a:defRPr>
            </a:pPr>
            <a:r>
              <a:rPr sz="2625" b="1">
                <a:solidFill>
                  <a:srgbClr val="0F766E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3244A-DAA6-410E-8919-A3EEC826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14825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175" b="1">
                <a:solidFill>
                  <a:srgbClr val="122033"/>
                </a:solidFill>
              </a:defRPr>
            </a:defPPr>
            <a:lvl1pPr algn="l">
              <a:defRPr sz="2175" b="1">
                <a:solidFill>
                  <a:srgbClr val="122033"/>
                </a:solidFill>
              </a:defRPr>
            </a:lvl1pPr>
            <a:lvl2pPr algn="l">
              <a:defRPr sz="2175" b="1">
                <a:solidFill>
                  <a:srgbClr val="122033"/>
                </a:solidFill>
              </a:defRPr>
            </a:lvl2pPr>
            <a:lvl3pPr algn="l">
              <a:defRPr sz="2175" b="1">
                <a:solidFill>
                  <a:srgbClr val="122033"/>
                </a:solidFill>
              </a:defRPr>
            </a:lvl3pPr>
            <a:lvl4pPr algn="l">
              <a:defRPr sz="2175" b="1">
                <a:solidFill>
                  <a:srgbClr val="122033"/>
                </a:solidFill>
              </a:defRPr>
            </a:lvl4pPr>
            <a:lvl5pPr algn="l">
              <a:defRPr sz="2175" b="1">
                <a:solidFill>
                  <a:srgbClr val="122033"/>
                </a:solidFill>
              </a:defRPr>
            </a:lvl5pPr>
            <a:lvl6pPr algn="l">
              <a:defRPr sz="2175" b="1">
                <a:solidFill>
                  <a:srgbClr val="122033"/>
                </a:solidFill>
              </a:defRPr>
            </a:lvl6pPr>
            <a:lvl7pPr algn="l">
              <a:defRPr sz="2175" b="1">
                <a:solidFill>
                  <a:srgbClr val="122033"/>
                </a:solidFill>
              </a:defRPr>
            </a:lvl7pPr>
            <a:lvl8pPr algn="l">
              <a:defRPr sz="2175" b="1">
                <a:solidFill>
                  <a:srgbClr val="122033"/>
                </a:solidFill>
              </a:defRPr>
            </a:lvl8pPr>
            <a:lvl9pPr algn="l">
              <a:defRPr sz="2175" b="1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22033"/>
                </a:solidFill>
              </a:defRPr>
            </a:pPr>
            <a:r>
              <a:rPr sz="2175" b="1">
                <a:solidFill>
                  <a:srgbClr val="122033"/>
                </a:solidFill>
              </a:rPr>
              <a:t>Change one thing, then run the same test again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C89AA-B28D-4251-A72B-D497FA2B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650" b="1">
                <a:solidFill>
                  <a:srgbClr val="E85D4A"/>
                </a:solidFill>
              </a:defRPr>
            </a:defPPr>
            <a:lvl1pPr algn="ctr">
              <a:defRPr sz="1650" b="1">
                <a:solidFill>
                  <a:srgbClr val="E85D4A"/>
                </a:solidFill>
              </a:defRPr>
            </a:lvl1pPr>
            <a:lvl2pPr algn="ctr">
              <a:defRPr sz="1650" b="1">
                <a:solidFill>
                  <a:srgbClr val="E85D4A"/>
                </a:solidFill>
              </a:defRPr>
            </a:lvl2pPr>
            <a:lvl3pPr algn="ctr">
              <a:defRPr sz="1650" b="1">
                <a:solidFill>
                  <a:srgbClr val="E85D4A"/>
                </a:solidFill>
              </a:defRPr>
            </a:lvl3pPr>
            <a:lvl4pPr algn="ctr">
              <a:defRPr sz="1650" b="1">
                <a:solidFill>
                  <a:srgbClr val="E85D4A"/>
                </a:solidFill>
              </a:defRPr>
            </a:lvl4pPr>
            <a:lvl5pPr algn="ctr">
              <a:defRPr sz="1650" b="1">
                <a:solidFill>
                  <a:srgbClr val="E85D4A"/>
                </a:solidFill>
              </a:defRPr>
            </a:lvl5pPr>
            <a:lvl6pPr algn="ctr">
              <a:defRPr sz="1650" b="1">
                <a:solidFill>
                  <a:srgbClr val="E85D4A"/>
                </a:solidFill>
              </a:defRPr>
            </a:lvl6pPr>
            <a:lvl7pPr algn="ctr">
              <a:defRPr sz="1650" b="1">
                <a:solidFill>
                  <a:srgbClr val="E85D4A"/>
                </a:solidFill>
              </a:defRPr>
            </a:lvl7pPr>
            <a:lvl8pPr algn="ctr">
              <a:defRPr sz="1650" b="1">
                <a:solidFill>
                  <a:srgbClr val="E85D4A"/>
                </a:solidFill>
              </a:defRPr>
            </a:lvl8pPr>
            <a:lvl9pPr algn="ctr">
              <a:defRPr sz="16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E85D4A"/>
                </a:solidFill>
              </a:defRPr>
            </a:pPr>
            <a:r>
              <a:rPr sz="1650" b="1">
                <a:solidFill>
                  <a:srgbClr val="E85D4A"/>
                </a:solidFill>
              </a:rPr>
              <a:t>The Mario labs use failure animations because engineers learn by testing and repairing systems.</a:t>
            </a:r>
          </a:p>
        </p:txBody>
      </p:sp>
    </p:spTree>
    <p:extLst>
      <p:ext uri="{BB962C8B-B14F-4D97-AF65-F5344CB8AC3E}">
        <p14:creationId xmlns:p14="http://schemas.microsoft.com/office/powerpoint/2010/main" val="9112131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C79DF-D873-4758-8941-B3CB5039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639-F409-4F58-ADDF-E4389A33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Mario Python review game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A0EC8-D0CA-4D9E-8AE3-6036C0B5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Use the game to identify which concepts need practice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1077C-98A6-4C67-80B2-E1BAF497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B113-1F1A-4034-8F11-CF022B14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D039AF-F0C3-4A14-860F-A14CA98E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716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Open game/index.html and press Enter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109257-C333-4B38-A425-9753E6D0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9F3D4-B707-4270-B8AF-32757415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479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Vote on each Python gate before the 20-second timer ends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8D423-1D9E-44D9-819C-8BFF34E4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242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E7245-D3E8-4B0C-A8A6-58C72DC6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Name the concept after every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99ADE-ED80-4AC5-9022-9FB8EC5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005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1">
                <a:solidFill>
                  <a:srgbClr val="0F766E"/>
                </a:solidFill>
              </a:defRPr>
            </a:defPPr>
            <a:lvl1pPr algn="l">
              <a:defRPr sz="2025" b="1">
                <a:solidFill>
                  <a:srgbClr val="0F766E"/>
                </a:solidFill>
              </a:defRPr>
            </a:lvl1pPr>
            <a:lvl2pPr algn="l">
              <a:defRPr sz="2025" b="1">
                <a:solidFill>
                  <a:srgbClr val="0F766E"/>
                </a:solidFill>
              </a:defRPr>
            </a:lvl2pPr>
            <a:lvl3pPr algn="l">
              <a:defRPr sz="2025" b="1">
                <a:solidFill>
                  <a:srgbClr val="0F766E"/>
                </a:solidFill>
              </a:defRPr>
            </a:lvl3pPr>
            <a:lvl4pPr algn="l">
              <a:defRPr sz="2025" b="1">
                <a:solidFill>
                  <a:srgbClr val="0F766E"/>
                </a:solidFill>
              </a:defRPr>
            </a:lvl4pPr>
            <a:lvl5pPr algn="l">
              <a:defRPr sz="2025" b="1">
                <a:solidFill>
                  <a:srgbClr val="0F766E"/>
                </a:solidFill>
              </a:defRPr>
            </a:lvl5pPr>
            <a:lvl6pPr algn="l">
              <a:defRPr sz="2025" b="1">
                <a:solidFill>
                  <a:srgbClr val="0F766E"/>
                </a:solidFill>
              </a:defRPr>
            </a:lvl6pPr>
            <a:lvl7pPr algn="l">
              <a:defRPr sz="2025" b="1">
                <a:solidFill>
                  <a:srgbClr val="0F766E"/>
                </a:solidFill>
              </a:defRPr>
            </a:lvl7pPr>
            <a:lvl8pPr algn="l">
              <a:defRPr sz="2025" b="1">
                <a:solidFill>
                  <a:srgbClr val="0F766E"/>
                </a:solidFill>
              </a:defRPr>
            </a:lvl8pPr>
            <a:lvl9pPr algn="l">
              <a:defRPr sz="20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F766E"/>
                </a:solidFill>
              </a:defRPr>
            </a:pPr>
            <a:r>
              <a:rPr sz="20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5E123-2935-485A-94D9-4B86A07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00525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Notice how variables, lists, conditions, loops, and functions control Mario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1257C-751D-4299-B2B2-C8ECFAB1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 b="1">
                <a:solidFill>
                  <a:srgbClr val="E85D4A"/>
                </a:solidFill>
              </a:defRPr>
            </a:defPPr>
            <a:lvl1pPr algn="ctr">
              <a:defRPr sz="1950" b="1">
                <a:solidFill>
                  <a:srgbClr val="E85D4A"/>
                </a:solidFill>
              </a:defRPr>
            </a:lvl1pPr>
            <a:lvl2pPr algn="ctr">
              <a:defRPr sz="1950" b="1">
                <a:solidFill>
                  <a:srgbClr val="E85D4A"/>
                </a:solidFill>
              </a:defRPr>
            </a:lvl2pPr>
            <a:lvl3pPr algn="ctr">
              <a:defRPr sz="1950" b="1">
                <a:solidFill>
                  <a:srgbClr val="E85D4A"/>
                </a:solidFill>
              </a:defRPr>
            </a:lvl3pPr>
            <a:lvl4pPr algn="ctr">
              <a:defRPr sz="1950" b="1">
                <a:solidFill>
                  <a:srgbClr val="E85D4A"/>
                </a:solidFill>
              </a:defRPr>
            </a:lvl4pPr>
            <a:lvl5pPr algn="ctr">
              <a:defRPr sz="1950" b="1">
                <a:solidFill>
                  <a:srgbClr val="E85D4A"/>
                </a:solidFill>
              </a:defRPr>
            </a:lvl5pPr>
            <a:lvl6pPr algn="ctr">
              <a:defRPr sz="1950" b="1">
                <a:solidFill>
                  <a:srgbClr val="E85D4A"/>
                </a:solidFill>
              </a:defRPr>
            </a:lvl6pPr>
            <a:lvl7pPr algn="ctr">
              <a:defRPr sz="1950" b="1">
                <a:solidFill>
                  <a:srgbClr val="E85D4A"/>
                </a:solidFill>
              </a:defRPr>
            </a:lvl7pPr>
            <a:lvl8pPr algn="ctr">
              <a:defRPr sz="1950" b="1">
                <a:solidFill>
                  <a:srgbClr val="E85D4A"/>
                </a:solidFill>
              </a:defRPr>
            </a:lvl8pPr>
            <a:lvl9pPr algn="ctr">
              <a:defRPr sz="195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E85D4A"/>
                </a:solidFill>
              </a:defRPr>
            </a:pPr>
            <a:r>
              <a:rPr sz="1950" b="1">
                <a:solidFill>
                  <a:srgbClr val="E85D4A"/>
                </a:solidFill>
              </a:rPr>
              <a:t>After the final gate, keep the same teams and open Module 1.</a:t>
            </a:r>
          </a:p>
        </p:txBody>
      </p:sp>
    </p:spTree>
    <p:extLst>
      <p:ext uri="{BB962C8B-B14F-4D97-AF65-F5344CB8AC3E}">
        <p14:creationId xmlns:p14="http://schemas.microsoft.com/office/powerpoint/2010/main" val="12994033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8D3960-EDC7-420C-BB53-9001D50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F2AF1-541A-478D-A74E-73C3BB5D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Google Colab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34875-7ACC-4FFC-953D-5FEAB4B2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Mario game leads directly into the first team notebook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50503-7EE5-4536-AD58-5E5DAF5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1A638-E206-4C9C-81A9-20CEE5BE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CF3792-82CD-4449-9F3D-3A4720D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287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Open Module 1 from the Week 5 GitHub README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A51D3-768A-4B02-94EA-7C8451A0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958E8F-ED26-4501-9CA4-A8E15C15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Sign into the Google account you will use for class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ECE93-9DA6-4637-920B-E6D9E1FD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09D7E-6880-4FCB-A1D2-24A3F4E2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146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File, then Save a copy in Drive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857C1-578E-403B-8EDF-D7C82E7B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4C64F-1D82-4B7A-AAF7-5EA09A94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Rename the copy with your name and module number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72261-0C02-4DCF-A48B-CBC1FDF1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3EECE8-5FF3-4D5D-8E06-E2F1953F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00550"/>
            <a:ext cx="10020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Stay with the same team from the review game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83082-78F3-44B9-A39D-E09B0FDA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67350"/>
            <a:ext cx="1042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575" b="1">
                <a:solidFill>
                  <a:srgbClr val="E85D4A"/>
                </a:solidFill>
              </a:defRPr>
            </a:defPPr>
            <a:lvl1pPr algn="l">
              <a:defRPr sz="1575" b="1">
                <a:solidFill>
                  <a:srgbClr val="E85D4A"/>
                </a:solidFill>
              </a:defRPr>
            </a:lvl1pPr>
            <a:lvl2pPr algn="l">
              <a:defRPr sz="1575" b="1">
                <a:solidFill>
                  <a:srgbClr val="E85D4A"/>
                </a:solidFill>
              </a:defRPr>
            </a:lvl2pPr>
            <a:lvl3pPr algn="l">
              <a:defRPr sz="1575" b="1">
                <a:solidFill>
                  <a:srgbClr val="E85D4A"/>
                </a:solidFill>
              </a:defRPr>
            </a:lvl3pPr>
            <a:lvl4pPr algn="l">
              <a:defRPr sz="1575" b="1">
                <a:solidFill>
                  <a:srgbClr val="E85D4A"/>
                </a:solidFill>
              </a:defRPr>
            </a:lvl4pPr>
            <a:lvl5pPr algn="l">
              <a:defRPr sz="1575" b="1">
                <a:solidFill>
                  <a:srgbClr val="E85D4A"/>
                </a:solidFill>
              </a:defRPr>
            </a:lvl5pPr>
            <a:lvl6pPr algn="l">
              <a:defRPr sz="1575" b="1">
                <a:solidFill>
                  <a:srgbClr val="E85D4A"/>
                </a:solidFill>
              </a:defRPr>
            </a:lvl6pPr>
            <a:lvl7pPr algn="l">
              <a:defRPr sz="1575" b="1">
                <a:solidFill>
                  <a:srgbClr val="E85D4A"/>
                </a:solidFill>
              </a:defRPr>
            </a:lvl7pPr>
            <a:lvl8pPr algn="l">
              <a:defRPr sz="1575" b="1">
                <a:solidFill>
                  <a:srgbClr val="E85D4A"/>
                </a:solidFill>
              </a:defRPr>
            </a:lvl8pPr>
            <a:lvl9pPr algn="l">
              <a:defRPr sz="1575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E85D4A"/>
                </a:solidFill>
              </a:defRPr>
            </a:pPr>
            <a:r>
              <a:rPr sz="1575" b="1">
                <a:solidFill>
                  <a:srgbClr val="E85D4A"/>
                </a:solidFill>
              </a:rPr>
              <a:t>git pull updates a repository on a local computer. You do not need it for today’s Colab lesson.</a:t>
            </a:r>
          </a:p>
        </p:txBody>
      </p:sp>
    </p:spTree>
    <p:extLst>
      <p:ext uri="{BB962C8B-B14F-4D97-AF65-F5344CB8AC3E}">
        <p14:creationId xmlns:p14="http://schemas.microsoft.com/office/powerpoint/2010/main" val="10287412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6480B-71DF-466F-82E4-1E4BC6BB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7FB2B1-BBA8-4FD1-88F9-FD11C86A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Super Mario Debug Quest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CB8A9-F853-4F0C-BCE2-DAD33CB9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Module 1 continues the same concepts and team energy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7EA69-EF7A-4169-94B2-B2449F6F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14FC9-530C-4FEF-8F02-6B65831C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049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BED22-D2D6-4061-8BA5-1B57CCF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049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Keep the same team from the review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A5E15-7C23-4F9C-B3D6-5929FF62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56154-90E9-4488-B41E-8F1B0DE7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Choose Driver, Navigator, Predictor, and Debugger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0D6DF-8443-4289-88B7-B63079C9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AFBE0-FA8C-4049-BE07-F71650D5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432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Run each broken mission once and watch Mario 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B796C-E13B-4C86-B539-34708FEC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40F18-B159-4DD5-8895-3AA9AE62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62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Use the tips to repair variables, lists, and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FE395-DFC9-402E-BD13-D7668109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1">
                <a:solidFill>
                  <a:srgbClr val="0F766E"/>
                </a:solidFill>
              </a:defRPr>
            </a:defPPr>
            <a:lvl1pPr algn="l">
              <a:defRPr sz="1875" b="1">
                <a:solidFill>
                  <a:srgbClr val="0F766E"/>
                </a:solidFill>
              </a:defRPr>
            </a:lvl1pPr>
            <a:lvl2pPr algn="l">
              <a:defRPr sz="1875" b="1">
                <a:solidFill>
                  <a:srgbClr val="0F766E"/>
                </a:solidFill>
              </a:defRPr>
            </a:lvl2pPr>
            <a:lvl3pPr algn="l">
              <a:defRPr sz="1875" b="1">
                <a:solidFill>
                  <a:srgbClr val="0F766E"/>
                </a:solidFill>
              </a:defRPr>
            </a:lvl3pPr>
            <a:lvl4pPr algn="l">
              <a:defRPr sz="1875" b="1">
                <a:solidFill>
                  <a:srgbClr val="0F766E"/>
                </a:solidFill>
              </a:defRPr>
            </a:lvl4pPr>
            <a:lvl5pPr algn="l">
              <a:defRPr sz="1875" b="1">
                <a:solidFill>
                  <a:srgbClr val="0F766E"/>
                </a:solidFill>
              </a:defRPr>
            </a:lvl5pPr>
            <a:lvl6pPr algn="l">
              <a:defRPr sz="1875" b="1">
                <a:solidFill>
                  <a:srgbClr val="0F766E"/>
                </a:solidFill>
              </a:defRPr>
            </a:lvl6pPr>
            <a:lvl7pPr algn="l">
              <a:defRPr sz="1875" b="1">
                <a:solidFill>
                  <a:srgbClr val="0F766E"/>
                </a:solidFill>
              </a:defRPr>
            </a:lvl7pPr>
            <a:lvl8pPr algn="l">
              <a:defRPr sz="1875" b="1">
                <a:solidFill>
                  <a:srgbClr val="0F766E"/>
                </a:solidFill>
              </a:defRPr>
            </a:lvl8pPr>
            <a:lvl9pPr algn="l">
              <a:defRPr sz="187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F766E"/>
                </a:solidFill>
              </a:defRPr>
            </a:pPr>
            <a:r>
              <a:rPr sz="187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5EFB83-38D9-4E63-AA37-37B5F1FF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8155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Finish with the Mario versus Bowser coding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417F4A-F0C8-4CAB-9A58-762B584E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1D4ED8"/>
                </a:solidFill>
              </a:defRPr>
            </a:defPPr>
            <a:lvl1pPr algn="l">
              <a:defRPr sz="1800" b="1">
                <a:solidFill>
                  <a:srgbClr val="1D4ED8"/>
                </a:solidFill>
              </a:defRPr>
            </a:lvl1pPr>
            <a:lvl2pPr algn="l">
              <a:defRPr sz="1800" b="1">
                <a:solidFill>
                  <a:srgbClr val="1D4ED8"/>
                </a:solidFill>
              </a:defRPr>
            </a:lvl2pPr>
            <a:lvl3pPr algn="l">
              <a:defRPr sz="1800" b="1">
                <a:solidFill>
                  <a:srgbClr val="1D4ED8"/>
                </a:solidFill>
              </a:defRPr>
            </a:lvl3pPr>
            <a:lvl4pPr algn="l">
              <a:defRPr sz="1800" b="1">
                <a:solidFill>
                  <a:srgbClr val="1D4ED8"/>
                </a:solidFill>
              </a:defRPr>
            </a:lvl4pPr>
            <a:lvl5pPr algn="l">
              <a:defRPr sz="1800" b="1">
                <a:solidFill>
                  <a:srgbClr val="1D4ED8"/>
                </a:solidFill>
              </a:defRPr>
            </a:lvl5pPr>
            <a:lvl6pPr algn="l">
              <a:defRPr sz="1800" b="1">
                <a:solidFill>
                  <a:srgbClr val="1D4ED8"/>
                </a:solidFill>
              </a:defRPr>
            </a:lvl6pPr>
            <a:lvl7pPr algn="l">
              <a:defRPr sz="1800" b="1">
                <a:solidFill>
                  <a:srgbClr val="1D4ED8"/>
                </a:solidFill>
              </a:defRPr>
            </a:lvl7pPr>
            <a:lvl8pPr algn="l">
              <a:defRPr sz="1800" b="1">
                <a:solidFill>
                  <a:srgbClr val="1D4ED8"/>
                </a:solidFill>
              </a:defRPr>
            </a:lvl8pPr>
            <a:lvl9pPr algn="l">
              <a:defRPr sz="1800" b="1">
                <a:solidFill>
                  <a:srgbClr val="1D4ED8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D4ED8"/>
                </a:solidFill>
              </a:defRPr>
            </a:pPr>
            <a:r>
              <a:rPr sz="1800" b="1">
                <a:solidFill>
                  <a:srgbClr val="1D4ED8"/>
                </a:solidFill>
              </a:rPr>
              <a:t>Open module-1-game-loadout.ipynb in Colab</a:t>
            </a:r>
          </a:p>
        </p:txBody>
      </p:sp>
    </p:spTree>
    <p:extLst>
      <p:ext uri="{BB962C8B-B14F-4D97-AF65-F5344CB8AC3E}">
        <p14:creationId xmlns:p14="http://schemas.microsoft.com/office/powerpoint/2010/main" val="1886569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D0853-B31C-4064-8A99-740BB1C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540C2-ADD2-4DFA-A8F2-CA69E133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1A46A-25FB-40C3-96BE-489F36E0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8845C-D8C1-49A6-82F7-B256EF8D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EB6DD-DE57-4162-A2AB-53E7C8CA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Stand up. Get water. Be back when the timer ends.</a:t>
            </a:r>
          </a:p>
        </p:txBody>
      </p:sp>
    </p:spTree>
    <p:extLst>
      <p:ext uri="{BB962C8B-B14F-4D97-AF65-F5344CB8AC3E}">
        <p14:creationId xmlns:p14="http://schemas.microsoft.com/office/powerpoint/2010/main" val="15436843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624ED-D274-41DC-A6EA-3F9CA3FB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42BDB-10B8-4C76-8793-C7F87D5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2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4D70E0-82DF-4E00-9C26-F71F6568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Arcade Loop Trainer is today’s main learning block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E1F7BB-F66B-4E5F-8486-9353C88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A70FB-CC12-40E5-A8FD-124A6CF2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0E128-65DD-485A-8D54-27CCC6FC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525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Act out one loop with student volunteers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31FF0-3901-4238-A783-CF46FCB4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9FED9-8BFC-488B-80A3-61BFC346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764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 counter through four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BAFEB9-F4AB-4692-9B4D-8DA249122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03A2E-FCC6-4371-8F8C-04D887A9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Trace an accumulator through three scores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F4F8F-E036-469F-AF1E-F5E10DEE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E43AA-AD71-414C-A8F6-8AF2AE5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242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Build a new list inside a loop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CD06FE-6B2C-45A0-8240-B27B24C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BA0DDF-F4D8-46C8-BAA8-940F039DF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481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Repair a while loop so it stops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903FE-D038-4E5B-8308-C2B48A6F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1">
                <a:solidFill>
                  <a:srgbClr val="0F766E"/>
                </a:solidFill>
              </a:defRPr>
            </a:defPPr>
            <a:lvl1pPr algn="l">
              <a:defRPr sz="1725" b="1">
                <a:solidFill>
                  <a:srgbClr val="0F766E"/>
                </a:solidFill>
              </a:defRPr>
            </a:lvl1pPr>
            <a:lvl2pPr algn="l">
              <a:defRPr sz="1725" b="1">
                <a:solidFill>
                  <a:srgbClr val="0F766E"/>
                </a:solidFill>
              </a:defRPr>
            </a:lvl2pPr>
            <a:lvl3pPr algn="l">
              <a:defRPr sz="1725" b="1">
                <a:solidFill>
                  <a:srgbClr val="0F766E"/>
                </a:solidFill>
              </a:defRPr>
            </a:lvl3pPr>
            <a:lvl4pPr algn="l">
              <a:defRPr sz="1725" b="1">
                <a:solidFill>
                  <a:srgbClr val="0F766E"/>
                </a:solidFill>
              </a:defRPr>
            </a:lvl4pPr>
            <a:lvl5pPr algn="l">
              <a:defRPr sz="1725" b="1">
                <a:solidFill>
                  <a:srgbClr val="0F766E"/>
                </a:solidFill>
              </a:defRPr>
            </a:lvl5pPr>
            <a:lvl6pPr algn="l">
              <a:defRPr sz="1725" b="1">
                <a:solidFill>
                  <a:srgbClr val="0F766E"/>
                </a:solidFill>
              </a:defRPr>
            </a:lvl6pPr>
            <a:lvl7pPr algn="l">
              <a:defRPr sz="1725" b="1">
                <a:solidFill>
                  <a:srgbClr val="0F766E"/>
                </a:solidFill>
              </a:defRPr>
            </a:lvl7pPr>
            <a:lvl8pPr algn="l">
              <a:defRPr sz="1725" b="1">
                <a:solidFill>
                  <a:srgbClr val="0F766E"/>
                </a:solidFill>
              </a:defRPr>
            </a:lvl8pPr>
            <a:lvl9pPr algn="l">
              <a:defRPr sz="1725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F766E"/>
                </a:solidFill>
              </a:defRPr>
            </a:pPr>
            <a:r>
              <a:rPr sz="1725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87BA4-248D-4E0B-9F5C-D123E6BB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720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725" b="0">
                <a:solidFill>
                  <a:srgbClr val="122033"/>
                </a:solidFill>
              </a:defRPr>
            </a:defPPr>
            <a:lvl1pPr algn="l">
              <a:defRPr sz="1725" b="0">
                <a:solidFill>
                  <a:srgbClr val="122033"/>
                </a:solidFill>
              </a:defRPr>
            </a:lvl1pPr>
            <a:lvl2pPr algn="l">
              <a:defRPr sz="1725" b="0">
                <a:solidFill>
                  <a:srgbClr val="122033"/>
                </a:solidFill>
              </a:defRPr>
            </a:lvl2pPr>
            <a:lvl3pPr algn="l">
              <a:defRPr sz="1725" b="0">
                <a:solidFill>
                  <a:srgbClr val="122033"/>
                </a:solidFill>
              </a:defRPr>
            </a:lvl3pPr>
            <a:lvl4pPr algn="l">
              <a:defRPr sz="1725" b="0">
                <a:solidFill>
                  <a:srgbClr val="122033"/>
                </a:solidFill>
              </a:defRPr>
            </a:lvl4pPr>
            <a:lvl5pPr algn="l">
              <a:defRPr sz="1725" b="0">
                <a:solidFill>
                  <a:srgbClr val="122033"/>
                </a:solidFill>
              </a:defRPr>
            </a:lvl5pPr>
            <a:lvl6pPr algn="l">
              <a:defRPr sz="1725" b="0">
                <a:solidFill>
                  <a:srgbClr val="122033"/>
                </a:solidFill>
              </a:defRPr>
            </a:lvl6pPr>
            <a:lvl7pPr algn="l">
              <a:defRPr sz="1725" b="0">
                <a:solidFill>
                  <a:srgbClr val="122033"/>
                </a:solidFill>
              </a:defRPr>
            </a:lvl7pPr>
            <a:lvl8pPr algn="l">
              <a:defRPr sz="1725" b="0">
                <a:solidFill>
                  <a:srgbClr val="122033"/>
                </a:solidFill>
              </a:defRPr>
            </a:lvl8pPr>
            <a:lvl9pPr algn="l">
              <a:defRPr sz="17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22033"/>
                </a:solidFill>
              </a:defRPr>
            </a:pPr>
            <a:r>
              <a:rPr sz="1725" b="0">
                <a:solidFill>
                  <a:srgbClr val="122033"/>
                </a:solidFill>
              </a:rPr>
              <a:t>Complete the arcade scoreboard boss</a:t>
            </a:r>
          </a:p>
        </p:txBody>
      </p:sp>
    </p:spTree>
    <p:extLst>
      <p:ext uri="{BB962C8B-B14F-4D97-AF65-F5344CB8AC3E}">
        <p14:creationId xmlns:p14="http://schemas.microsoft.com/office/powerpoint/2010/main" val="1880712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399565-2EC4-4D43-BE50-DC22F888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F7995-A0C0-4773-A50E-3F06E735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Loop boss challenge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CDC7B-92F1-47C1-BB2D-3A5CE05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Count games, total scores, and identify bonus rounds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192109-76E1-493A-BFB6-0F918462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5C32B-EC85-4F29-884E-4081742E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695325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7021-3AB2-4BC6-B8B3-1716EBDD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19250"/>
            <a:ext cx="641985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scores = [8, 12, 5, 15]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games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games += 1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if score &gt;= 10: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print("BONUS", score)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C16FE-389E-40D4-97C1-DFBF473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573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Before Run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D3CA73-1A61-498F-A147-390852E2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38375"/>
            <a:ext cx="2952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games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total =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bonus scores = ___</a:t>
            </a:r>
          </a:p>
        </p:txBody>
      </p:sp>
    </p:spTree>
    <p:extLst>
      <p:ext uri="{BB962C8B-B14F-4D97-AF65-F5344CB8AC3E}">
        <p14:creationId xmlns:p14="http://schemas.microsoft.com/office/powerpoint/2010/main" val="125136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7EAF87-A835-4A07-A2EF-82166D3A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6F2B1-BB38-4BD1-BB56-1BA38D51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Break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57ECB-E403-4412-8170-0D5179C5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10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A05E74-2F7C-4AA6-9955-774202E1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46AAA-22CB-4C12-A4FC-FF16C1C4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400" b="1">
                <a:solidFill>
                  <a:srgbClr val="071A33"/>
                </a:solidFill>
              </a:defRPr>
            </a:defPPr>
            <a:lvl1pPr algn="ctr">
              <a:defRPr sz="2400" b="1">
                <a:solidFill>
                  <a:srgbClr val="071A33"/>
                </a:solidFill>
              </a:defRPr>
            </a:lvl1pPr>
            <a:lvl2pPr algn="ctr">
              <a:defRPr sz="2400" b="1">
                <a:solidFill>
                  <a:srgbClr val="071A33"/>
                </a:solidFill>
              </a:defRPr>
            </a:lvl2pPr>
            <a:lvl3pPr algn="ctr">
              <a:defRPr sz="2400" b="1">
                <a:solidFill>
                  <a:srgbClr val="071A33"/>
                </a:solidFill>
              </a:defRPr>
            </a:lvl3pPr>
            <a:lvl4pPr algn="ctr">
              <a:defRPr sz="2400" b="1">
                <a:solidFill>
                  <a:srgbClr val="071A33"/>
                </a:solidFill>
              </a:defRPr>
            </a:lvl4pPr>
            <a:lvl5pPr algn="ctr">
              <a:defRPr sz="2400" b="1">
                <a:solidFill>
                  <a:srgbClr val="071A33"/>
                </a:solidFill>
              </a:defRPr>
            </a:lvl5pPr>
            <a:lvl6pPr algn="ctr">
              <a:defRPr sz="2400" b="1">
                <a:solidFill>
                  <a:srgbClr val="071A33"/>
                </a:solidFill>
              </a:defRPr>
            </a:lvl6pPr>
            <a:lvl7pPr algn="ctr">
              <a:defRPr sz="2400" b="1">
                <a:solidFill>
                  <a:srgbClr val="071A33"/>
                </a:solidFill>
              </a:defRPr>
            </a:lvl7pPr>
            <a:lvl8pPr algn="ctr">
              <a:defRPr sz="2400" b="1">
                <a:solidFill>
                  <a:srgbClr val="071A33"/>
                </a:solidFill>
              </a:defRPr>
            </a:lvl8pPr>
            <a:lvl9pPr algn="ctr">
              <a:defRPr sz="240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71A33"/>
                </a:solidFill>
              </a:defRPr>
            </a:pPr>
            <a:r>
              <a:rPr sz="2400" b="1">
                <a:solidFill>
                  <a:srgbClr val="071A33"/>
                </a:solidFill>
              </a:rPr>
              <a:t>Reset your brain. Module 3 connects functions and loops.</a:t>
            </a:r>
          </a:p>
        </p:txBody>
      </p:sp>
    </p:spTree>
    <p:extLst>
      <p:ext uri="{BB962C8B-B14F-4D97-AF65-F5344CB8AC3E}">
        <p14:creationId xmlns:p14="http://schemas.microsoft.com/office/powerpoint/2010/main" val="113642992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42DFA-A441-4BF0-B19F-F6FADE2E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45B0C7-9705-411D-BC60-1A7ED5AC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Module 3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33736-2640-40E9-A423-A2CE2F3B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Power-Up Functions: name reusable jobs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B25DD-1188-4FF4-BD7E-ECCF58CF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7DB32-A274-4028-9B74-1AE7D5E0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6572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8F814-F5C2-4464-8EE2-708AE969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60388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add_bonus(score, bonus):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new_score = score + bonus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new_score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final_score = add_bonus(10, 5)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AF750-F6AC-44AA-9C54-4BFFA2C7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0F766E"/>
                </a:solidFill>
              </a:defRPr>
            </a:defPPr>
            <a:lvl1pPr algn="l">
              <a:defRPr sz="1800" b="1">
                <a:solidFill>
                  <a:srgbClr val="0F766E"/>
                </a:solidFill>
              </a:defRPr>
            </a:lvl1pPr>
            <a:lvl2pPr algn="l">
              <a:defRPr sz="1800" b="1">
                <a:solidFill>
                  <a:srgbClr val="0F766E"/>
                </a:solidFill>
              </a:defRPr>
            </a:lvl2pPr>
            <a:lvl3pPr algn="l">
              <a:defRPr sz="1800" b="1">
                <a:solidFill>
                  <a:srgbClr val="0F766E"/>
                </a:solidFill>
              </a:defRPr>
            </a:lvl3pPr>
            <a:lvl4pPr algn="l">
              <a:defRPr sz="1800" b="1">
                <a:solidFill>
                  <a:srgbClr val="0F766E"/>
                </a:solidFill>
              </a:defRPr>
            </a:lvl4pPr>
            <a:lvl5pPr algn="l">
              <a:defRPr sz="1800" b="1">
                <a:solidFill>
                  <a:srgbClr val="0F766E"/>
                </a:solidFill>
              </a:defRPr>
            </a:lvl5pPr>
            <a:lvl6pPr algn="l">
              <a:defRPr sz="1800" b="1">
                <a:solidFill>
                  <a:srgbClr val="0F766E"/>
                </a:solidFill>
              </a:defRPr>
            </a:lvl6pPr>
            <a:lvl7pPr algn="l">
              <a:defRPr sz="1800" b="1">
                <a:solidFill>
                  <a:srgbClr val="0F766E"/>
                </a:solidFill>
              </a:defRPr>
            </a:lvl7pPr>
            <a:lvl8pPr algn="l">
              <a:defRPr sz="1800" b="1">
                <a:solidFill>
                  <a:srgbClr val="0F766E"/>
                </a:solidFill>
              </a:defRPr>
            </a:lvl8pPr>
            <a:lvl9pPr algn="l">
              <a:defRPr sz="180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F766E"/>
                </a:solidFill>
              </a:defRPr>
            </a:pPr>
            <a:r>
              <a:rPr sz="1800" b="1">
                <a:solidFill>
                  <a:srgbClr val="0F766E"/>
                </a:solidFill>
              </a:rPr>
              <a:t>Trace the call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93363-35A3-41AC-B78A-E069A24F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33600"/>
            <a:ext cx="3048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122033"/>
                </a:solidFill>
              </a:defRPr>
            </a:defPPr>
            <a:lvl1pPr algn="l">
              <a:defRPr sz="1875" b="0">
                <a:solidFill>
                  <a:srgbClr val="122033"/>
                </a:solidFill>
              </a:defRPr>
            </a:lvl1pPr>
            <a:lvl2pPr algn="l">
              <a:defRPr sz="1875" b="0">
                <a:solidFill>
                  <a:srgbClr val="122033"/>
                </a:solidFill>
              </a:defRPr>
            </a:lvl2pPr>
            <a:lvl3pPr algn="l">
              <a:defRPr sz="1875" b="0">
                <a:solidFill>
                  <a:srgbClr val="122033"/>
                </a:solidFill>
              </a:defRPr>
            </a:lvl3pPr>
            <a:lvl4pPr algn="l">
              <a:defRPr sz="1875" b="0">
                <a:solidFill>
                  <a:srgbClr val="122033"/>
                </a:solidFill>
              </a:defRPr>
            </a:lvl4pPr>
            <a:lvl5pPr algn="l">
              <a:defRPr sz="1875" b="0">
                <a:solidFill>
                  <a:srgbClr val="122033"/>
                </a:solidFill>
              </a:defRPr>
            </a:lvl5pPr>
            <a:lvl6pPr algn="l">
              <a:defRPr sz="1875" b="0">
                <a:solidFill>
                  <a:srgbClr val="122033"/>
                </a:solidFill>
              </a:defRPr>
            </a:lvl6pPr>
            <a:lvl7pPr algn="l">
              <a:defRPr sz="1875" b="0">
                <a:solidFill>
                  <a:srgbClr val="122033"/>
                </a:solidFill>
              </a:defRPr>
            </a:lvl7pPr>
            <a:lvl8pPr algn="l">
              <a:defRPr sz="1875" b="0">
                <a:solidFill>
                  <a:srgbClr val="122033"/>
                </a:solidFill>
              </a:defRPr>
            </a:lvl8pPr>
            <a:lvl9pPr algn="l">
              <a:defRPr sz="187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arguments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10 and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parameters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score and bonus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return value</a:t>
            </a:r>
          </a:p>
          <a:p xmlns:a="http://schemas.openxmlformats.org/drawingml/2006/main">
            <a:pPr algn="l">
              <a:defRPr sz="1875" b="0">
                <a:solidFill>
                  <a:srgbClr val="122033"/>
                </a:solidFill>
              </a:defRPr>
            </a:pPr>
            <a:r>
              <a:rPr sz="1875" b="0">
                <a:solidFill>
                  <a:srgbClr val="12203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933853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60494-ADB5-40E6-9E31-F5D2B7E7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5535D-6EF7-4DE3-9DB6-E04AB9A9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Functions can contain loops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B9C10-44BD-4BF5-B682-022BB23A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One function can own the complete totaling job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1491E-48BD-4B73-BAE7-6FD8B74B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0CD0-D6FA-4F0C-853B-14A44746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7334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C8D3D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C0DDB-F8A7-4ABA-8165-F690608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62125"/>
            <a:ext cx="68008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0">
                <a:solidFill>
                  <a:srgbClr val="122033"/>
                </a:solidFill>
              </a:defRPr>
            </a:defPPr>
            <a:lvl1pPr algn="l">
              <a:defRPr sz="1800" b="0">
                <a:solidFill>
                  <a:srgbClr val="122033"/>
                </a:solidFill>
              </a:defRPr>
            </a:lvl1pPr>
            <a:lvl2pPr algn="l">
              <a:defRPr sz="1800" b="0">
                <a:solidFill>
                  <a:srgbClr val="122033"/>
                </a:solidFill>
              </a:defRPr>
            </a:lvl2pPr>
            <a:lvl3pPr algn="l">
              <a:defRPr sz="1800" b="0">
                <a:solidFill>
                  <a:srgbClr val="122033"/>
                </a:solidFill>
              </a:defRPr>
            </a:lvl3pPr>
            <a:lvl4pPr algn="l">
              <a:defRPr sz="1800" b="0">
                <a:solidFill>
                  <a:srgbClr val="122033"/>
                </a:solidFill>
              </a:defRPr>
            </a:lvl4pPr>
            <a:lvl5pPr algn="l">
              <a:defRPr sz="1800" b="0">
                <a:solidFill>
                  <a:srgbClr val="122033"/>
                </a:solidFill>
              </a:defRPr>
            </a:lvl5pPr>
            <a:lvl6pPr algn="l">
              <a:defRPr sz="1800" b="0">
                <a:solidFill>
                  <a:srgbClr val="122033"/>
                </a:solidFill>
              </a:defRPr>
            </a:lvl6pPr>
            <a:lvl7pPr algn="l">
              <a:defRPr sz="1800" b="0">
                <a:solidFill>
                  <a:srgbClr val="122033"/>
                </a:solidFill>
              </a:defRPr>
            </a:lvl7pPr>
            <a:lvl8pPr algn="l">
              <a:defRPr sz="1800" b="0">
                <a:solidFill>
                  <a:srgbClr val="122033"/>
                </a:solidFill>
              </a:defRPr>
            </a:lvl8pPr>
            <a:lvl9pPr algn="l">
              <a:defRPr sz="180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def total_scores(scores):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total = 0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for score in scores: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    total += score</a:t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22033"/>
                </a:solidFill>
              </a:defRPr>
            </a:pPr>
            <a:r>
              <a:rPr sz="1800" b="0">
                <a:solidFill>
                  <a:srgbClr val="122033"/>
                </a:solidFill>
              </a:rPr>
              <a:t>team_total = total_scores([4, 6, 5])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34BAA-F71A-4158-A2E7-3DE4F4A0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00" b="1">
                <a:solidFill>
                  <a:srgbClr val="E85D4A"/>
                </a:solidFill>
              </a:defRPr>
            </a:defPPr>
            <a:lvl1pPr algn="l">
              <a:defRPr sz="1800" b="1">
                <a:solidFill>
                  <a:srgbClr val="E85D4A"/>
                </a:solidFill>
              </a:defRPr>
            </a:lvl1pPr>
            <a:lvl2pPr algn="l">
              <a:defRPr sz="1800" b="1">
                <a:solidFill>
                  <a:srgbClr val="E85D4A"/>
                </a:solidFill>
              </a:defRPr>
            </a:lvl2pPr>
            <a:lvl3pPr algn="l">
              <a:defRPr sz="1800" b="1">
                <a:solidFill>
                  <a:srgbClr val="E85D4A"/>
                </a:solidFill>
              </a:defRPr>
            </a:lvl3pPr>
            <a:lvl4pPr algn="l">
              <a:defRPr sz="1800" b="1">
                <a:solidFill>
                  <a:srgbClr val="E85D4A"/>
                </a:solidFill>
              </a:defRPr>
            </a:lvl4pPr>
            <a:lvl5pPr algn="l">
              <a:defRPr sz="1800" b="1">
                <a:solidFill>
                  <a:srgbClr val="E85D4A"/>
                </a:solidFill>
              </a:defRPr>
            </a:lvl5pPr>
            <a:lvl6pPr algn="l">
              <a:defRPr sz="1800" b="1">
                <a:solidFill>
                  <a:srgbClr val="E85D4A"/>
                </a:solidFill>
              </a:defRPr>
            </a:lvl6pPr>
            <a:lvl7pPr algn="l">
              <a:defRPr sz="1800" b="1">
                <a:solidFill>
                  <a:srgbClr val="E85D4A"/>
                </a:solidFill>
              </a:defRPr>
            </a:lvl7pPr>
            <a:lvl8pPr algn="l">
              <a:defRPr sz="1800" b="1">
                <a:solidFill>
                  <a:srgbClr val="E85D4A"/>
                </a:solidFill>
              </a:defRPr>
            </a:lvl8pPr>
            <a:lvl9pPr algn="l">
              <a:defRPr sz="1800" b="1">
                <a:solidFill>
                  <a:srgbClr val="E85D4A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E85D4A"/>
                </a:solidFill>
              </a:defRPr>
            </a:pPr>
            <a:r>
              <a:rPr sz="1800" b="1">
                <a:solidFill>
                  <a:srgbClr val="E85D4A"/>
                </a:solidFill>
              </a:rPr>
              <a:t>Explain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16110-96F8-4C5D-AD9F-37802945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38375"/>
            <a:ext cx="2571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025" b="0">
                <a:solidFill>
                  <a:srgbClr val="122033"/>
                </a:solidFill>
              </a:defRPr>
            </a:defPPr>
            <a:lvl1pPr algn="l">
              <a:defRPr sz="2025" b="0">
                <a:solidFill>
                  <a:srgbClr val="122033"/>
                </a:solidFill>
              </a:defRPr>
            </a:lvl1pPr>
            <a:lvl2pPr algn="l">
              <a:defRPr sz="2025" b="0">
                <a:solidFill>
                  <a:srgbClr val="122033"/>
                </a:solidFill>
              </a:defRPr>
            </a:lvl2pPr>
            <a:lvl3pPr algn="l">
              <a:defRPr sz="2025" b="0">
                <a:solidFill>
                  <a:srgbClr val="122033"/>
                </a:solidFill>
              </a:defRPr>
            </a:lvl3pPr>
            <a:lvl4pPr algn="l">
              <a:defRPr sz="2025" b="0">
                <a:solidFill>
                  <a:srgbClr val="122033"/>
                </a:solidFill>
              </a:defRPr>
            </a:lvl4pPr>
            <a:lvl5pPr algn="l">
              <a:defRPr sz="2025" b="0">
                <a:solidFill>
                  <a:srgbClr val="122033"/>
                </a:solidFill>
              </a:defRPr>
            </a:lvl5pPr>
            <a:lvl6pPr algn="l">
              <a:defRPr sz="2025" b="0">
                <a:solidFill>
                  <a:srgbClr val="122033"/>
                </a:solidFill>
              </a:defRPr>
            </a:lvl6pPr>
            <a:lvl7pPr algn="l">
              <a:defRPr sz="2025" b="0">
                <a:solidFill>
                  <a:srgbClr val="122033"/>
                </a:solidFill>
              </a:defRPr>
            </a:lvl7pPr>
            <a:lvl8pPr algn="l">
              <a:defRPr sz="2025" b="0">
                <a:solidFill>
                  <a:srgbClr val="122033"/>
                </a:solidFill>
              </a:defRPr>
            </a:lvl8pPr>
            <a:lvl9pPr algn="l">
              <a:defRPr sz="2025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enters?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repeats?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changes?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2033"/>
                </a:solidFill>
              </a:defRPr>
            </a:pPr>
            <a:r>
              <a:rPr sz="2025" b="0">
                <a:solidFill>
                  <a:srgbClr val="122033"/>
                </a:solidFill>
              </a:rPr>
              <a:t>What returns?</a:t>
            </a:r>
          </a:p>
        </p:txBody>
      </p:sp>
    </p:spTree>
    <p:extLst>
      <p:ext uri="{BB962C8B-B14F-4D97-AF65-F5344CB8AC3E}">
        <p14:creationId xmlns:p14="http://schemas.microsoft.com/office/powerpoint/2010/main" val="21448339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0484D-DF16-454A-8539-7AF81A7A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889B7-3832-446E-862C-0C3F8B84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Peer debug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8E4A9-35EA-4600-9458-74E037FE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The reviewer explains before touching the keyboard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202FC-59A8-4917-BBA4-3AF3CD24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7915E8-8104-48A2-814C-0528BE28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89C606-C596-4E1E-B508-D08688BB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5240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states the expected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7743C-52F1-4789-99E3-F9D8902F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735C4-6B2E-4189-ACE3-1E461475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622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traces one test case on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F00469-A24B-44EA-A6C0-67E99090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255E7-2385-4997-9E52-836C0F28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Pair runs the same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99DA4-F037-47E8-8907-184B542C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531F9-883B-495A-83DC-51CF9BB4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386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Reviewer names the first unexpected value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23AEC-3529-48E1-BFE9-264034A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A1344-9EFD-4074-AF5E-0D12E358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768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Developer changes one line and retests</a:t>
            </a:r>
          </a:p>
        </p:txBody>
      </p:sp>
    </p:spTree>
    <p:extLst>
      <p:ext uri="{BB962C8B-B14F-4D97-AF65-F5344CB8AC3E}">
        <p14:creationId xmlns:p14="http://schemas.microsoft.com/office/powerpoint/2010/main" val="23140788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45B1A6-C1AF-490B-B933-541B6FEB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238B7-0F1A-4F42-9C40-8BD883B4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2550" b="1">
                <a:solidFill>
                  <a:srgbClr val="071A33"/>
                </a:solidFill>
              </a:defRPr>
            </a:defPPr>
            <a:lvl1pPr algn="l">
              <a:defRPr sz="2550" b="1">
                <a:solidFill>
                  <a:srgbClr val="071A33"/>
                </a:solidFill>
              </a:defRPr>
            </a:lvl1pPr>
            <a:lvl2pPr algn="l">
              <a:defRPr sz="2550" b="1">
                <a:solidFill>
                  <a:srgbClr val="071A33"/>
                </a:solidFill>
              </a:defRPr>
            </a:lvl2pPr>
            <a:lvl3pPr algn="l">
              <a:defRPr sz="2550" b="1">
                <a:solidFill>
                  <a:srgbClr val="071A33"/>
                </a:solidFill>
              </a:defRPr>
            </a:lvl3pPr>
            <a:lvl4pPr algn="l">
              <a:defRPr sz="2550" b="1">
                <a:solidFill>
                  <a:srgbClr val="071A33"/>
                </a:solidFill>
              </a:defRPr>
            </a:lvl4pPr>
            <a:lvl5pPr algn="l">
              <a:defRPr sz="2550" b="1">
                <a:solidFill>
                  <a:srgbClr val="071A33"/>
                </a:solidFill>
              </a:defRPr>
            </a:lvl5pPr>
            <a:lvl6pPr algn="l">
              <a:defRPr sz="2550" b="1">
                <a:solidFill>
                  <a:srgbClr val="071A33"/>
                </a:solidFill>
              </a:defRPr>
            </a:lvl6pPr>
            <a:lvl7pPr algn="l">
              <a:defRPr sz="2550" b="1">
                <a:solidFill>
                  <a:srgbClr val="071A33"/>
                </a:solidFill>
              </a:defRPr>
            </a:lvl7pPr>
            <a:lvl8pPr algn="l">
              <a:defRPr sz="2550" b="1">
                <a:solidFill>
                  <a:srgbClr val="071A33"/>
                </a:solidFill>
              </a:defRPr>
            </a:lvl8pPr>
            <a:lvl9pPr algn="l">
              <a:defRPr sz="2550" b="1">
                <a:solidFill>
                  <a:srgbClr val="071A33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071A33"/>
                </a:solidFill>
              </a:defRPr>
            </a:pPr>
            <a:r>
              <a:rPr sz="2550" b="1">
                <a:solidFill>
                  <a:srgbClr val="071A33"/>
                </a:solidFill>
              </a:rPr>
              <a:t>Exit ticket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3C0C3C-5F99-4168-B6B7-79FA7F9F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350" b="0">
                <a:solidFill>
                  <a:srgbClr val="526174"/>
                </a:solidFill>
              </a:defRPr>
            </a:defPPr>
            <a:lvl1pPr algn="l">
              <a:defRPr sz="1350" b="0">
                <a:solidFill>
                  <a:srgbClr val="526174"/>
                </a:solidFill>
              </a:defRPr>
            </a:lvl1pPr>
            <a:lvl2pPr algn="l">
              <a:defRPr sz="1350" b="0">
                <a:solidFill>
                  <a:srgbClr val="526174"/>
                </a:solidFill>
              </a:defRPr>
            </a:lvl2pPr>
            <a:lvl3pPr algn="l">
              <a:defRPr sz="1350" b="0">
                <a:solidFill>
                  <a:srgbClr val="526174"/>
                </a:solidFill>
              </a:defRPr>
            </a:lvl3pPr>
            <a:lvl4pPr algn="l">
              <a:defRPr sz="1350" b="0">
                <a:solidFill>
                  <a:srgbClr val="526174"/>
                </a:solidFill>
              </a:defRPr>
            </a:lvl4pPr>
            <a:lvl5pPr algn="l">
              <a:defRPr sz="1350" b="0">
                <a:solidFill>
                  <a:srgbClr val="526174"/>
                </a:solidFill>
              </a:defRPr>
            </a:lvl5pPr>
            <a:lvl6pPr algn="l">
              <a:defRPr sz="1350" b="0">
                <a:solidFill>
                  <a:srgbClr val="526174"/>
                </a:solidFill>
              </a:defRPr>
            </a:lvl6pPr>
            <a:lvl7pPr algn="l">
              <a:defRPr sz="1350" b="0">
                <a:solidFill>
                  <a:srgbClr val="526174"/>
                </a:solidFill>
              </a:defRPr>
            </a:lvl7pPr>
            <a:lvl8pPr algn="l">
              <a:defRPr sz="1350" b="0">
                <a:solidFill>
                  <a:srgbClr val="526174"/>
                </a:solidFill>
              </a:defRPr>
            </a:lvl8pPr>
            <a:lvl9pPr algn="l">
              <a:defRPr sz="1350" b="0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26174"/>
                </a:solidFill>
              </a:defRPr>
            </a:pPr>
            <a:r>
              <a:rPr sz="1350" b="0">
                <a:solidFill>
                  <a:srgbClr val="526174"/>
                </a:solidFill>
              </a:rPr>
              <a:t>Write complete sentences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7AD08E-835F-4642-8D44-AE83B6FA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900" b="1">
                <a:solidFill>
                  <a:srgbClr val="526174"/>
                </a:solidFill>
              </a:defRPr>
            </a:defPPr>
            <a:lvl1pPr algn="l">
              <a:defRPr sz="900" b="1">
                <a:solidFill>
                  <a:srgbClr val="526174"/>
                </a:solidFill>
              </a:defRPr>
            </a:lvl1pPr>
            <a:lvl2pPr algn="l">
              <a:defRPr sz="900" b="1">
                <a:solidFill>
                  <a:srgbClr val="526174"/>
                </a:solidFill>
              </a:defRPr>
            </a:lvl2pPr>
            <a:lvl3pPr algn="l">
              <a:defRPr sz="900" b="1">
                <a:solidFill>
                  <a:srgbClr val="526174"/>
                </a:solidFill>
              </a:defRPr>
            </a:lvl3pPr>
            <a:lvl4pPr algn="l">
              <a:defRPr sz="900" b="1">
                <a:solidFill>
                  <a:srgbClr val="526174"/>
                </a:solidFill>
              </a:defRPr>
            </a:lvl4pPr>
            <a:lvl5pPr algn="l">
              <a:defRPr sz="900" b="1">
                <a:solidFill>
                  <a:srgbClr val="526174"/>
                </a:solidFill>
              </a:defRPr>
            </a:lvl5pPr>
            <a:lvl6pPr algn="l">
              <a:defRPr sz="900" b="1">
                <a:solidFill>
                  <a:srgbClr val="526174"/>
                </a:solidFill>
              </a:defRPr>
            </a:lvl6pPr>
            <a:lvl7pPr algn="l">
              <a:defRPr sz="900" b="1">
                <a:solidFill>
                  <a:srgbClr val="526174"/>
                </a:solidFill>
              </a:defRPr>
            </a:lvl7pPr>
            <a:lvl8pPr algn="l">
              <a:defRPr sz="900" b="1">
                <a:solidFill>
                  <a:srgbClr val="526174"/>
                </a:solidFill>
              </a:defRPr>
            </a:lvl8pPr>
            <a:lvl9pPr algn="l">
              <a:defRPr sz="900" b="1">
                <a:solidFill>
                  <a:srgbClr val="526174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26174"/>
                </a:solidFill>
              </a:defRPr>
            </a:pPr>
            <a:r>
              <a:rPr sz="900" b="1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CD9EE6-E230-4D03-99CB-1D0785E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859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9C979F-0E81-41FD-AD0D-9D00C1B5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859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does a loop variable hold?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47247-FCE9-4C97-9701-552F934A4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241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74A3C3-EA99-4542-A6B7-747AA1629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241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does an accumulator change?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F1771-9D32-4550-9643-960BA64F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0924A-C891-4BF5-B20C-6C059EC3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When would you choose while instead of for?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E76080-6E89-4106-A646-E2C14852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DC5E6D-A0C6-4193-BFBC-C3C6AE2A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005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What must happen so a while loop stops?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CFE665-75F2-4E02-AFB6-C27E4E6D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38700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1">
                <a:solidFill>
                  <a:srgbClr val="0F766E"/>
                </a:solidFill>
              </a:defRPr>
            </a:defPPr>
            <a:lvl1pPr algn="l">
              <a:defRPr sz="1950" b="1">
                <a:solidFill>
                  <a:srgbClr val="0F766E"/>
                </a:solidFill>
              </a:defRPr>
            </a:lvl1pPr>
            <a:lvl2pPr algn="l">
              <a:defRPr sz="1950" b="1">
                <a:solidFill>
                  <a:srgbClr val="0F766E"/>
                </a:solidFill>
              </a:defRPr>
            </a:lvl2pPr>
            <a:lvl3pPr algn="l">
              <a:defRPr sz="1950" b="1">
                <a:solidFill>
                  <a:srgbClr val="0F766E"/>
                </a:solidFill>
              </a:defRPr>
            </a:lvl3pPr>
            <a:lvl4pPr algn="l">
              <a:defRPr sz="1950" b="1">
                <a:solidFill>
                  <a:srgbClr val="0F766E"/>
                </a:solidFill>
              </a:defRPr>
            </a:lvl4pPr>
            <a:lvl5pPr algn="l">
              <a:defRPr sz="1950" b="1">
                <a:solidFill>
                  <a:srgbClr val="0F766E"/>
                </a:solidFill>
              </a:defRPr>
            </a:lvl5pPr>
            <a:lvl6pPr algn="l">
              <a:defRPr sz="1950" b="1">
                <a:solidFill>
                  <a:srgbClr val="0F766E"/>
                </a:solidFill>
              </a:defRPr>
            </a:lvl6pPr>
            <a:lvl7pPr algn="l">
              <a:defRPr sz="1950" b="1">
                <a:solidFill>
                  <a:srgbClr val="0F766E"/>
                </a:solidFill>
              </a:defRPr>
            </a:lvl7pPr>
            <a:lvl8pPr algn="l">
              <a:defRPr sz="1950" b="1">
                <a:solidFill>
                  <a:srgbClr val="0F766E"/>
                </a:solidFill>
              </a:defRPr>
            </a:lvl8pPr>
            <a:lvl9pPr algn="l">
              <a:defRPr sz="1950" b="1">
                <a:solidFill>
                  <a:srgbClr val="0F766E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0F766E"/>
                </a:solidFill>
              </a:defRPr>
            </a:pPr>
            <a:r>
              <a:rPr sz="1950" b="1">
                <a:solidFill>
                  <a:srgbClr val="0F766E"/>
                </a:solidFill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CD703-C76E-4426-A270-34062175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9925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950" b="0">
                <a:solidFill>
                  <a:srgbClr val="122033"/>
                </a:solidFill>
              </a:defRPr>
            </a:defPPr>
            <a:lvl1pPr algn="l">
              <a:defRPr sz="1950" b="0">
                <a:solidFill>
                  <a:srgbClr val="122033"/>
                </a:solidFill>
              </a:defRPr>
            </a:lvl1pPr>
            <a:lvl2pPr algn="l">
              <a:defRPr sz="1950" b="0">
                <a:solidFill>
                  <a:srgbClr val="122033"/>
                </a:solidFill>
              </a:defRPr>
            </a:lvl2pPr>
            <a:lvl3pPr algn="l">
              <a:defRPr sz="1950" b="0">
                <a:solidFill>
                  <a:srgbClr val="122033"/>
                </a:solidFill>
              </a:defRPr>
            </a:lvl3pPr>
            <a:lvl4pPr algn="l">
              <a:defRPr sz="1950" b="0">
                <a:solidFill>
                  <a:srgbClr val="122033"/>
                </a:solidFill>
              </a:defRPr>
            </a:lvl4pPr>
            <a:lvl5pPr algn="l">
              <a:defRPr sz="1950" b="0">
                <a:solidFill>
                  <a:srgbClr val="122033"/>
                </a:solidFill>
              </a:defRPr>
            </a:lvl5pPr>
            <a:lvl6pPr algn="l">
              <a:defRPr sz="1950" b="0">
                <a:solidFill>
                  <a:srgbClr val="122033"/>
                </a:solidFill>
              </a:defRPr>
            </a:lvl6pPr>
            <a:lvl7pPr algn="l">
              <a:defRPr sz="1950" b="0">
                <a:solidFill>
                  <a:srgbClr val="122033"/>
                </a:solidFill>
              </a:defRPr>
            </a:lvl7pPr>
            <a:lvl8pPr algn="l">
              <a:defRPr sz="1950" b="0">
                <a:solidFill>
                  <a:srgbClr val="122033"/>
                </a:solidFill>
              </a:defRPr>
            </a:lvl8pPr>
            <a:lvl9pPr algn="l">
              <a:defRPr sz="1950" b="0">
                <a:solidFill>
                  <a:srgbClr val="122033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122033"/>
                </a:solidFill>
              </a:defRPr>
            </a:pPr>
            <a:r>
              <a:rPr sz="1950" b="0">
                <a:solidFill>
                  <a:srgbClr val="122033"/>
                </a:solidFill>
              </a:rPr>
              <a:t>How can a function use a loop?</a:t>
            </a:r>
          </a:p>
        </p:txBody>
      </p:sp>
    </p:spTree>
    <p:extLst>
      <p:ext uri="{BB962C8B-B14F-4D97-AF65-F5344CB8AC3E}">
        <p14:creationId xmlns:p14="http://schemas.microsoft.com/office/powerpoint/2010/main" val="1064532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2026-10-31T04:45:58.7240000Z</dcterms:created>
  <dcterms:modified xsi:type="dcterms:W3CDTF">2026-10-31T04:45:58.7240000Z</dcterms:modified>
</coreProperties>
</file>