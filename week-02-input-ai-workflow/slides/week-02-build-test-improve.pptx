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5243ce05854702" /><Relationship Type="http://schemas.openxmlformats.org/officeDocument/2006/relationships/extended-properties" Target="/docProps/app.xml" Id="Ra3fc3f9d67c34689" /><Relationship Type="http://schemas.openxmlformats.org/officeDocument/2006/relationships/officeDocument" Target="/ppt/presentation.xml" Id="R6f74af4032c04d99" /></Relationships>
</file>

<file path=ppt/presentation.xml><?xml version="1.0" encoding="utf-8"?>
<p:presentation xmlns:p="http://schemas.openxmlformats.org/presentationml/2006/main">
  <p:sldMasterIdLst>
    <p:sldMasterId xmlns:r="http://schemas.openxmlformats.org/officeDocument/2006/relationships" id="2147483648" r:id="R5bdd29d7cc134d7c"/>
  </p:sldMasterIdLst>
  <p:notesMasterIdLst>
    <p:notesMasterId xmlns:r="http://schemas.openxmlformats.org/officeDocument/2006/relationships" r:id="R7c2d35cf78204883"/>
  </p:notesMasterIdLst>
  <p:sldIdLst>
    <p:sldId xmlns:r="http://schemas.openxmlformats.org/officeDocument/2006/relationships" id="256" r:id="R43f2531302db4216"/>
    <p:sldId xmlns:r="http://schemas.openxmlformats.org/officeDocument/2006/relationships" id="257" r:id="R728e620e4d2e4e83"/>
    <p:sldId xmlns:r="http://schemas.openxmlformats.org/officeDocument/2006/relationships" id="258" r:id="R7e7ba91aac4344ff"/>
    <p:sldId xmlns:r="http://schemas.openxmlformats.org/officeDocument/2006/relationships" id="259" r:id="R5c5683f36ac5472a"/>
    <p:sldId xmlns:r="http://schemas.openxmlformats.org/officeDocument/2006/relationships" id="260" r:id="R50d65b57fcf74a7f"/>
    <p:sldId xmlns:r="http://schemas.openxmlformats.org/officeDocument/2006/relationships" id="261" r:id="R40520db29b6d4ff3"/>
    <p:sldId xmlns:r="http://schemas.openxmlformats.org/officeDocument/2006/relationships" id="262" r:id="Re8a487ea11eb4e49"/>
    <p:sldId xmlns:r="http://schemas.openxmlformats.org/officeDocument/2006/relationships" id="263" r:id="Rab7c7591bb9b499c"/>
    <p:sldId xmlns:r="http://schemas.openxmlformats.org/officeDocument/2006/relationships" id="264" r:id="Rc0cef4b39e0f4b94"/>
    <p:sldId xmlns:r="http://schemas.openxmlformats.org/officeDocument/2006/relationships" id="265" r:id="R0903eeb662a0429c"/>
    <p:sldId xmlns:r="http://schemas.openxmlformats.org/officeDocument/2006/relationships" id="266" r:id="R8b620e26ce1d4646"/>
    <p:sldId xmlns:r="http://schemas.openxmlformats.org/officeDocument/2006/relationships" id="267" r:id="Rfaf81f68f39f428f"/>
    <p:sldId xmlns:r="http://schemas.openxmlformats.org/officeDocument/2006/relationships" id="268" r:id="R80cf467d62cc4fd1"/>
    <p:sldId xmlns:r="http://schemas.openxmlformats.org/officeDocument/2006/relationships" id="269" r:id="R2691e8fa79604428"/>
    <p:sldId xmlns:r="http://schemas.openxmlformats.org/officeDocument/2006/relationships" id="270" r:id="R90dcd597ee0c45f5"/>
    <p:sldId xmlns:r="http://schemas.openxmlformats.org/officeDocument/2006/relationships" id="271" r:id="R3b3e3d065ba14e1d"/>
    <p:sldId xmlns:r="http://schemas.openxmlformats.org/officeDocument/2006/relationships" id="272" r:id="R5bd58ead03f14d42"/>
    <p:sldId xmlns:r="http://schemas.openxmlformats.org/officeDocument/2006/relationships" id="273" r:id="R4f897641f85046a2"/>
    <p:sldId xmlns:r="http://schemas.openxmlformats.org/officeDocument/2006/relationships" id="274" r:id="Rabcd992cdebe4223"/>
    <p:sldId xmlns:r="http://schemas.openxmlformats.org/officeDocument/2006/relationships" id="275" r:id="R16e3d4d5c27249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e20e5823da4f6a" /><Relationship Type="http://schemas.openxmlformats.org/officeDocument/2006/relationships/slideMaster" Target="/ppt/slideMasters/slideMaster1.xml" Id="R5bdd29d7cc134d7c" /><Relationship Type="http://schemas.openxmlformats.org/officeDocument/2006/relationships/notesMaster" Target="/ppt/notesMasters/notesMaster1.xml" Id="R7c2d35cf78204883" /><Relationship Type="http://schemas.openxmlformats.org/officeDocument/2006/relationships/presProps" Target="/ppt/presProps.xml" Id="Rc8e02995bc2544d4" /><Relationship Type="http://schemas.openxmlformats.org/officeDocument/2006/relationships/tableStyles" Target="/ppt/tableStyles.xml" Id="R526a997a1d3548c7" /><Relationship Type="http://schemas.openxmlformats.org/officeDocument/2006/relationships/slide" Target="/ppt/slides/slide1.xml" Id="R43f2531302db4216" /><Relationship Type="http://schemas.openxmlformats.org/officeDocument/2006/relationships/slide" Target="/ppt/slides/slide2.xml" Id="R728e620e4d2e4e83" /><Relationship Type="http://schemas.openxmlformats.org/officeDocument/2006/relationships/slide" Target="/ppt/slides/slide3.xml" Id="R7e7ba91aac4344ff" /><Relationship Type="http://schemas.openxmlformats.org/officeDocument/2006/relationships/slide" Target="/ppt/slides/slide4.xml" Id="R5c5683f36ac5472a" /><Relationship Type="http://schemas.openxmlformats.org/officeDocument/2006/relationships/slide" Target="/ppt/slides/slide5.xml" Id="R50d65b57fcf74a7f" /><Relationship Type="http://schemas.openxmlformats.org/officeDocument/2006/relationships/slide" Target="/ppt/slides/slide6.xml" Id="R40520db29b6d4ff3" /><Relationship Type="http://schemas.openxmlformats.org/officeDocument/2006/relationships/slide" Target="/ppt/slides/slide7.xml" Id="Re8a487ea11eb4e49" /><Relationship Type="http://schemas.openxmlformats.org/officeDocument/2006/relationships/slide" Target="/ppt/slides/slide8.xml" Id="Rab7c7591bb9b499c" /><Relationship Type="http://schemas.openxmlformats.org/officeDocument/2006/relationships/slide" Target="/ppt/slides/slide9.xml" Id="Rc0cef4b39e0f4b94" /><Relationship Type="http://schemas.openxmlformats.org/officeDocument/2006/relationships/slide" Target="/ppt/slides/slide10.xml" Id="R0903eeb662a0429c" /><Relationship Type="http://schemas.openxmlformats.org/officeDocument/2006/relationships/slide" Target="/ppt/slides/slide11.xml" Id="R8b620e26ce1d4646" /><Relationship Type="http://schemas.openxmlformats.org/officeDocument/2006/relationships/slide" Target="/ppt/slides/slide12.xml" Id="Rfaf81f68f39f428f" /><Relationship Type="http://schemas.openxmlformats.org/officeDocument/2006/relationships/slide" Target="/ppt/slides/slide13.xml" Id="R80cf467d62cc4fd1" /><Relationship Type="http://schemas.openxmlformats.org/officeDocument/2006/relationships/slide" Target="/ppt/slides/slide14.xml" Id="R2691e8fa79604428" /><Relationship Type="http://schemas.openxmlformats.org/officeDocument/2006/relationships/slide" Target="/ppt/slides/slide15.xml" Id="R90dcd597ee0c45f5" /><Relationship Type="http://schemas.openxmlformats.org/officeDocument/2006/relationships/slide" Target="/ppt/slides/slide16.xml" Id="R3b3e3d065ba14e1d" /><Relationship Type="http://schemas.openxmlformats.org/officeDocument/2006/relationships/slide" Target="/ppt/slides/slide17.xml" Id="R5bd58ead03f14d42" /><Relationship Type="http://schemas.openxmlformats.org/officeDocument/2006/relationships/slide" Target="/ppt/slides/slide18.xml" Id="R4f897641f85046a2" /><Relationship Type="http://schemas.openxmlformats.org/officeDocument/2006/relationships/slide" Target="/ppt/slides/slide19.xml" Id="Rabcd992cdebe4223" /><Relationship Type="http://schemas.openxmlformats.org/officeDocument/2006/relationships/slide" Target="/ppt/slides/slide20.xml" Id="R16e3d4d5c27249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8f108a187e4a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511f25341b4d13" /><Relationship Type="http://schemas.openxmlformats.org/officeDocument/2006/relationships/notesMaster" Target="/ppt/notesMasters/notesMaster1.xml" Id="R06d8925a46c94c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e69e8b55b34b6c" /><Relationship Type="http://schemas.openxmlformats.org/officeDocument/2006/relationships/notesMaster" Target="/ppt/notesMasters/notesMaster1.xml" Id="R49fea3572244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4feec5a91e45a2" /><Relationship Type="http://schemas.openxmlformats.org/officeDocument/2006/relationships/notesMaster" Target="/ppt/notesMasters/notesMaster1.xml" Id="R968d6104096040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6c603a89c74774" /><Relationship Type="http://schemas.openxmlformats.org/officeDocument/2006/relationships/notesMaster" Target="/ppt/notesMasters/notesMaster1.xml" Id="Rdbdad31c079444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577eb7523440d7" /><Relationship Type="http://schemas.openxmlformats.org/officeDocument/2006/relationships/notesMaster" Target="/ppt/notesMasters/notesMaster1.xml" Id="R9400b6df382546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239d6472da4e21" /><Relationship Type="http://schemas.openxmlformats.org/officeDocument/2006/relationships/notesMaster" Target="/ppt/notesMasters/notesMaster1.xml" Id="Ra432d8d485ee46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042f66dcb54457" /><Relationship Type="http://schemas.openxmlformats.org/officeDocument/2006/relationships/notesMaster" Target="/ppt/notesMasters/notesMaster1.xml" Id="R217d00d692e642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85dafa7fd04b30" /><Relationship Type="http://schemas.openxmlformats.org/officeDocument/2006/relationships/notesMaster" Target="/ppt/notesMasters/notesMaster1.xml" Id="R58747a3a74614f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0bfcd05bdc430d" /><Relationship Type="http://schemas.openxmlformats.org/officeDocument/2006/relationships/notesMaster" Target="/ppt/notesMasters/notesMaster1.xml" Id="R7c26f555525e48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c8804da96f4bdf" /><Relationship Type="http://schemas.openxmlformats.org/officeDocument/2006/relationships/notesMaster" Target="/ppt/notesMasters/notesMaster1.xml" Id="R6959e7cb19474d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ba77752d1b4d7d" /><Relationship Type="http://schemas.openxmlformats.org/officeDocument/2006/relationships/notesMaster" Target="/ppt/notesMasters/notesMaster1.xml" Id="R0a1109e9b4e14c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7fd8a8bdb64c77" /><Relationship Type="http://schemas.openxmlformats.org/officeDocument/2006/relationships/notesMaster" Target="/ppt/notesMasters/notesMaster1.xml" Id="R553e9b541d4349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03be851314483c" /><Relationship Type="http://schemas.openxmlformats.org/officeDocument/2006/relationships/notesMaster" Target="/ppt/notesMasters/notesMaster1.xml" Id="R17093e2534d14e1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49c2a03e1447df" /><Relationship Type="http://schemas.openxmlformats.org/officeDocument/2006/relationships/notesMaster" Target="/ppt/notesMasters/notesMaster1.xml" Id="R2d0973fa9cc947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50fb07e089496b" /><Relationship Type="http://schemas.openxmlformats.org/officeDocument/2006/relationships/notesMaster" Target="/ppt/notesMasters/notesMaster1.xml" Id="R3003e855301246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0d30cf7fe2846a9" /><Relationship Type="http://schemas.openxmlformats.org/officeDocument/2006/relationships/notesMaster" Target="/ppt/notesMasters/notesMaster1.xml" Id="R7219ff6326e645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9557a7196f4426" /><Relationship Type="http://schemas.openxmlformats.org/officeDocument/2006/relationships/notesMaster" Target="/ppt/notesMasters/notesMaster1.xml" Id="R254f201f92d64f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f235b394ec40da" /><Relationship Type="http://schemas.openxmlformats.org/officeDocument/2006/relationships/notesMaster" Target="/ppt/notesMasters/notesMaster1.xml" Id="Rf95266420ed14f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e24f60aef84a8d" /><Relationship Type="http://schemas.openxmlformats.org/officeDocument/2006/relationships/notesMaster" Target="/ppt/notesMasters/notesMaster1.xml" Id="R944034ba1f814a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9078abc77c4bc0" /><Relationship Type="http://schemas.openxmlformats.org/officeDocument/2006/relationships/notesMaster" Target="/ppt/notesMasters/notesMaster1.xml" Id="R47bc9f341dcc42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Generated classroom illustration. It does not depict an actual Project Syncere class. Open with the joke that code working once does not mean the job is finished. Today students will build an app, test it, and let a classmate find the next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both breaks. Use the browser version of ChatGPT immediately if desktop installation becomes a time sink.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four steps aloud before starting. Give students two minutes to invent their robot, four minutes to share with their partner, five minutes for selected introductions, and four minutes to discuss which funny bug they would fix first. Connect the discussion to engineering priorities such as user impact and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commits today. The Git goal is limited to pulling updates and visualizing repository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each command. Do not teach conflict resolution today. Protect student work by pausing when a pull cannot complete cleanly.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https://github.com/mhutchie/vscode-git-graph. Install extension ID mhutchie.git-graph. Use it only for viewing today. Do not introduce creating commits.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word compile: Python automatically compiles source into bytecode before execution, but students do not run a separate compile command in this lesson. Focus on write, save, run, observe, fix.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is stored in one ordinary PowerPoint text box rather than a rounded code shape. Students must open the deck in Edit mode to select text. PowerPoint Slide Show mode does not allow text selection. The same code is also available in examples/adventure_demo.py.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 Keep the return time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OpenAI Windows installation source: https://learn.chatgpt.com/docs/windows/windows-app. Pair students or use the browser fallback when the Microsoft Store is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https://learn.chatgpt.com/docs/prompting. Model a narrow prompt using the guide in exercises/chatgpt-prompt-guide.md.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https://learn.chatgpt.com/docs/use-chatgpt. Demonstrate a plausible but flawed response and ask the class how they would test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 Ask students to leave adventure.py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have free choice over the app. The adventure starter is available only for students who want it. First help each student describe a small version they can finish. They may ask ChatGPT to generate a Windows start.bat launcher and to add an in-app restart question. Before peer review, have them close VS Code and double-click start.bat to test the experience as a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exercises/peer-feedback.md. Feedback should describe an observable problem or improvement. Examples: a choice was unclear, an input crashed, or an ending needs more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step is required and comes before the larger reflection. Help students reduce oversized requests to one change they can finish and verify in ten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this as a thought experiment, not a lecture on cloud architecture. Accept ideas such as more servers, load balancing, databases, caching, queues, monitoring, and graceful failure. Ask students to justify priority.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conceptual. Invite answers about privacy, passwords, input validation, rate limits, updates, backups, logs, and incident response. Emphasize that security is part of design, not a final decoration.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peer revision to the larger message. Engineers grow by building, exposing work to evidence and feedback, studying what failed, and trying again. Ask students to keep this project as a future comparison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commit is required. Confirm files are saved. Collect the four responses verbally, on paper, or through the class platform.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dbba206c649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d3ac9ab24b44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8fd265ea034f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35fac1b09614b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37b2d6720b4a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08cd7d65c24c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6C3EFD-AA59-480E-9B0D-FDF2FD8A95C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8ED701-ADBD-44A6-B902-A4C44CEBC9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D65E5ED-E3CC-4177-8981-F98A9589B7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B699FF-07CE-4E3C-92F8-236E85D105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ACBDE84-E430-486C-B153-E6F56F8C5A0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457DED-9A8A-4564-BF74-D6B6380880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C815BA-F82C-4F56-BF53-A1566371B9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6665F1-7166-461C-9F30-41F2DDCF00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7BD446-C431-4748-8B48-C3864BBBB5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633C29-6143-49DC-8EA2-65DFB687BB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3c68c1994c4035" /><Relationship Type="http://schemas.openxmlformats.org/officeDocument/2006/relationships/slideLayout" Target="/ppt/slideLayouts/slideLayout1.xml" Id="R2c9d0feac27e44ce" /><Relationship Type="http://schemas.openxmlformats.org/officeDocument/2006/relationships/slideLayout" Target="/ppt/slideLayouts/slideLayout2.xml" Id="R409f214a1850422c" /><Relationship Type="http://schemas.openxmlformats.org/officeDocument/2006/relationships/slideLayout" Target="/ppt/slideLayouts/slideLayout3.xml" Id="Rab59e4dbd5f342f1" /><Relationship Type="http://schemas.openxmlformats.org/officeDocument/2006/relationships/slideLayout" Target="/ppt/slideLayouts/slideLayout4.xml" Id="Reaed609b6d5c459d" /><Relationship Type="http://schemas.openxmlformats.org/officeDocument/2006/relationships/slideLayout" Target="/ppt/slideLayouts/slideLayout5.xml" Id="Rd9b08e6cbe8d45fd" /><Relationship Type="http://schemas.openxmlformats.org/officeDocument/2006/relationships/slideLayout" Target="/ppt/slideLayouts/slideLayout6.xml" Id="R05fbdd9bc15040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9d0feac27e44ce"/>
    <p:sldLayoutId xmlns:r="http://schemas.openxmlformats.org/officeDocument/2006/relationships" id="2147483650" r:id="R409f214a1850422c"/>
    <p:sldLayoutId xmlns:r="http://schemas.openxmlformats.org/officeDocument/2006/relationships" id="2147483651" r:id="Rab59e4dbd5f342f1"/>
    <p:sldLayoutId xmlns:r="http://schemas.openxmlformats.org/officeDocument/2006/relationships" id="2147483652" r:id="Reaed609b6d5c459d"/>
    <p:sldLayoutId xmlns:r="http://schemas.openxmlformats.org/officeDocument/2006/relationships" id="2147483653" r:id="Rd9b08e6cbe8d45fd"/>
    <p:sldLayoutId xmlns:r="http://schemas.openxmlformats.org/officeDocument/2006/relationships" id="2147483654" r:id="R05fbdd9bc15040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f0239f3402435d" /><Relationship Type="http://schemas.openxmlformats.org/officeDocument/2006/relationships/image" Target="/ppt/media/image.png" Id="Rf6dce6a1dab64dc4" /><Relationship Type="http://schemas.openxmlformats.org/officeDocument/2006/relationships/notesSlide" Target="/ppt/notesSlides/notesSlide1.xml" Id="R3831a88b7eba4d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c5e62d3c6a4de0" /><Relationship Type="http://schemas.openxmlformats.org/officeDocument/2006/relationships/notesSlide" Target="/ppt/notesSlides/notesSlide2.xml" Id="R70915a2bbf9a44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2084f6a7894f27" /><Relationship Type="http://schemas.openxmlformats.org/officeDocument/2006/relationships/notesSlide" Target="/ppt/notesSlides/notesSlide3.xml" Id="R961349a174ab4f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5a1fc8bbf2481e" /><Relationship Type="http://schemas.openxmlformats.org/officeDocument/2006/relationships/notesSlide" Target="/ppt/notesSlides/notesSlide4.xml" Id="R9a08505a81a241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a2a5a165fe4b1f" /><Relationship Type="http://schemas.openxmlformats.org/officeDocument/2006/relationships/notesSlide" Target="/ppt/notesSlides/notesSlide5.xml" Id="Rc428771d3d724f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a96417f64374d41" /><Relationship Type="http://schemas.openxmlformats.org/officeDocument/2006/relationships/notesSlide" Target="/ppt/notesSlides/notesSlide6.xml" Id="R56c56d8fdaed40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aa5c313b2a4619" /><Relationship Type="http://schemas.openxmlformats.org/officeDocument/2006/relationships/notesSlide" Target="/ppt/notesSlides/notesSlide7.xml" Id="R6711941ca4ca4f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76d7ced8ae4620" /><Relationship Type="http://schemas.openxmlformats.org/officeDocument/2006/relationships/notesSlide" Target="/ppt/notesSlides/notesSlide8.xml" Id="Rb7109105f1b244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24f07d98cf4e26" /><Relationship Type="http://schemas.openxmlformats.org/officeDocument/2006/relationships/notesSlide" Target="/ppt/notesSlides/notesSlide9.xml" Id="Rf3d012f93bfd48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7f7c6a1a49e4937" /><Relationship Type="http://schemas.openxmlformats.org/officeDocument/2006/relationships/notesSlide" Target="/ppt/notesSlides/notesSlide10.xml" Id="Re91a4e0eb6ca4b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31f861c33984585" /><Relationship Type="http://schemas.openxmlformats.org/officeDocument/2006/relationships/notesSlide" Target="/ppt/notesSlides/notesSlide11.xml" Id="R783c22533dd245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20024b2c0b44eb1" /><Relationship Type="http://schemas.openxmlformats.org/officeDocument/2006/relationships/notesSlide" Target="/ppt/notesSlides/notesSlide12.xml" Id="Ra776bfbda03f41a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3a3cc7ae9664790" /><Relationship Type="http://schemas.openxmlformats.org/officeDocument/2006/relationships/notesSlide" Target="/ppt/notesSlides/notesSlide13.xml" Id="Re706843449a94c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8593fe15f1a4bbd" /><Relationship Type="http://schemas.openxmlformats.org/officeDocument/2006/relationships/notesSlide" Target="/ppt/notesSlides/notesSlide14.xml" Id="Rbfdc956d874b41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7cc6312e69d4797" /><Relationship Type="http://schemas.openxmlformats.org/officeDocument/2006/relationships/notesSlide" Target="/ppt/notesSlides/notesSlide15.xml" Id="R7c0654a64b394a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f1bc25fc4d24601" /><Relationship Type="http://schemas.openxmlformats.org/officeDocument/2006/relationships/notesSlide" Target="/ppt/notesSlides/notesSlide16.xml" Id="R63a9b23e326d4f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b1d612e33c54a2b" /><Relationship Type="http://schemas.openxmlformats.org/officeDocument/2006/relationships/notesSlide" Target="/ppt/notesSlides/notesSlide17.xml" Id="R6e4ade3fd56b4a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d5395d8007943fc" /><Relationship Type="http://schemas.openxmlformats.org/officeDocument/2006/relationships/notesSlide" Target="/ppt/notesSlides/notesSlide18.xml" Id="R2501b51230d045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e53286d4673431b" /><Relationship Type="http://schemas.openxmlformats.org/officeDocument/2006/relationships/notesSlide" Target="/ppt/notesSlides/notesSlide19.xml" Id="R96ddb179b6534a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214f3464ea7478b" /><Relationship Type="http://schemas.openxmlformats.org/officeDocument/2006/relationships/notesSlide" Target="/ppt/notesSlides/notesSlide20.xml" Id="Rb38534f3720440c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9B67473-B268-4AED-B879-EF65225F4568}"/>
              </a:ext>
            </a:extLst>
          </p:cNvPr>
          <p:cNvPicPr>
            <a:picLocks xmlns:a="http://schemas.openxmlformats.org/drawingml/2006/main" noChangeAspect="1"/>
          </p:cNvPicPr>
          <p:nvPr/>
        </p:nvPicPr>
        <p:blipFill>
          <a:blip xmlns:r="http://schemas.openxmlformats.org/officeDocument/2006/relationships" xmlns:a="http://schemas.openxmlformats.org/drawingml/2006/main" r:embed="Rf6dce6a1dab64dc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240B78-3C11-4A6D-9F4D-6356ECCC61CE}"/>
              </a:ext>
            </a:extLst>
          </p:cNvPr>
          <p:cNvSpPr>
            <a:spLocks xmlns:a="http://schemas.openxmlformats.org/drawingml/2006/main" noGrp="1"/>
          </p:cNvSpPr>
          <p:nvPr/>
        </p:nvSpPr>
        <p:spPr>
          <a:xfrm xmlns:a="http://schemas.openxmlformats.org/drawingml/2006/main">
            <a:off x="666750" y="1714500"/>
            <a:ext cx="5238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750" b="1" i="0">
                <a:solidFill>
                  <a:srgbClr val="FFFFFF"/>
                </a:solidFill>
                <a:latin typeface="Arial"/>
                <a:ea typeface="Arial"/>
                <a:cs typeface="Arial"/>
              </a:defRPr>
            </a:defPPr>
          </a:lstStyle>
          <a:p xmlns:a="http://schemas.openxmlformats.org/drawingml/2006/main">
            <a:pPr>
              <a:defRPr sz="3750" b="1" i="0">
                <a:solidFill>
                  <a:srgbClr val="FFFFFF"/>
                </a:solidFill>
                <a:latin typeface="Arial"/>
                <a:ea typeface="Arial"/>
                <a:cs typeface="Arial"/>
              </a:defRPr>
            </a:pPr>
            <a:r>
              <a:rPr sz="3750" b="1" i="0">
                <a:solidFill>
                  <a:srgbClr val="FFFFFF"/>
                </a:solidFill>
                <a:latin typeface="Arial"/>
                <a:ea typeface="Arial"/>
                <a:cs typeface="Arial"/>
              </a:rPr>
              <a:t>Your code works.</a:t>
            </a:r>
          </a:p>
          <a:p xmlns:a="http://schemas.openxmlformats.org/drawingml/2006/main">
            <a:pPr>
              <a:defRPr sz="3750" b="1" i="0">
                <a:solidFill>
                  <a:srgbClr val="FFFFFF"/>
                </a:solidFill>
                <a:latin typeface="Arial"/>
                <a:ea typeface="Arial"/>
                <a:cs typeface="Arial"/>
              </a:defRPr>
            </a:pPr>
            <a:r>
              <a:rPr sz="3750" b="1" i="0">
                <a:solidFill>
                  <a:srgbClr val="FFFFFF"/>
                </a:solidFill>
                <a:latin typeface="Arial"/>
                <a:ea typeface="Arial"/>
                <a:cs typeface="Arial"/>
              </a:rPr>
              <a:t>Somehow.</a:t>
            </a:r>
          </a:p>
        </p:txBody>
      </p:sp>
      <p:sp>
        <p:nvSpPr>
          <p:cNvPr id="3" name="">
            <a:extLst xmlns:a="http://schemas.openxmlformats.org/drawingml/2006/main">
              <a:ext uri="{FF2B5EF4-FFF2-40B4-BE49-F238E27FC236}">
                <a16:creationId xmlns:a16="http://schemas.microsoft.com/office/drawing/2014/main" id="{E0908DBE-A730-4448-BA39-C257AD220820}"/>
              </a:ext>
            </a:extLst>
          </p:cNvPr>
          <p:cNvSpPr>
            <a:spLocks xmlns:a="http://schemas.openxmlformats.org/drawingml/2006/main" noGrp="1"/>
          </p:cNvSpPr>
          <p:nvPr/>
        </p:nvSpPr>
        <p:spPr>
          <a:xfrm xmlns:a="http://schemas.openxmlformats.org/drawingml/2006/main">
            <a:off x="704850" y="33337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B9DBA8"/>
                </a:solidFill>
                <a:latin typeface="Arial"/>
                <a:ea typeface="Arial"/>
                <a:cs typeface="Arial"/>
              </a:defRPr>
            </a:defPPr>
          </a:lstStyle>
          <a:p xmlns:a="http://schemas.openxmlformats.org/drawingml/2006/main">
            <a:pPr>
              <a:defRPr sz="1875" b="1" i="0">
                <a:solidFill>
                  <a:srgbClr val="B9DBA8"/>
                </a:solidFill>
                <a:latin typeface="Arial"/>
                <a:ea typeface="Arial"/>
                <a:cs typeface="Arial"/>
              </a:defRPr>
            </a:pPr>
            <a:r>
              <a:rPr sz="1875" b="1" i="0">
                <a:solidFill>
                  <a:srgbClr val="B9DBA8"/>
                </a:solidFill>
                <a:latin typeface="Arial"/>
                <a:ea typeface="Arial"/>
                <a:cs typeface="Arial"/>
              </a:rPr>
              <a:t>WEEK 2: BUILD, TEST, IMPROVE</a:t>
            </a:r>
          </a:p>
        </p:txBody>
      </p:sp>
      <p:sp>
        <p:nvSpPr>
          <p:cNvPr id="4" name="">
            <a:extLst xmlns:a="http://schemas.openxmlformats.org/drawingml/2006/main">
              <a:ext uri="{FF2B5EF4-FFF2-40B4-BE49-F238E27FC236}">
                <a16:creationId xmlns:a16="http://schemas.microsoft.com/office/drawing/2014/main" id="{EEAE3F03-F373-4673-9310-8C8B45CB891A}"/>
              </a:ext>
            </a:extLst>
          </p:cNvPr>
          <p:cNvSpPr>
            <a:spLocks xmlns:a="http://schemas.openxmlformats.org/drawingml/2006/main" noGrp="1"/>
          </p:cNvSpPr>
          <p:nvPr/>
        </p:nvSpPr>
        <p:spPr>
          <a:xfrm xmlns:a="http://schemas.openxmlformats.org/drawingml/2006/main">
            <a:off x="704850" y="394335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FFFFFF"/>
                </a:solidFill>
                <a:latin typeface="Arial"/>
                <a:ea typeface="Arial"/>
                <a:cs typeface="Arial"/>
              </a:defRPr>
            </a:defPPr>
          </a:lstStyle>
          <a:p xmlns:a="http://schemas.openxmlformats.org/drawingml/2006/main">
            <a:pPr>
              <a:defRPr sz="1650" b="0" i="0">
                <a:solidFill>
                  <a:srgbClr val="FFFFFF"/>
                </a:solidFill>
                <a:latin typeface="Arial"/>
                <a:ea typeface="Arial"/>
                <a:cs typeface="Arial"/>
              </a:defRPr>
            </a:pPr>
            <a:r>
              <a:rPr sz="1650" b="0" i="0">
                <a:solidFill>
                  <a:srgbClr val="FFFFFF"/>
                </a:solidFill>
                <a:latin typeface="Arial"/>
                <a:ea typeface="Arial"/>
                <a:cs typeface="Arial"/>
              </a:rPr>
              <a:t>Build an app. Let your classmates try to break it.</a:t>
            </a:r>
          </a:p>
        </p:txBody>
      </p:sp>
    </p:spTree>
    <p:extLst>
      <p:ext uri="{BB962C8B-B14F-4D97-AF65-F5344CB8AC3E}">
        <p14:creationId xmlns:p14="http://schemas.microsoft.com/office/powerpoint/2010/main" val="15765149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2EE8D6A-8F76-4A2D-A7C5-BB6EB0F6B23D}"/>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Today’s schedule</a:t>
            </a:r>
          </a:p>
        </p:txBody>
      </p:sp>
      <p:sp>
        <p:nvSpPr>
          <p:cNvPr id="2" name="">
            <a:extLst xmlns:a="http://schemas.openxmlformats.org/drawingml/2006/main">
              <a:ext uri="{FF2B5EF4-FFF2-40B4-BE49-F238E27FC236}">
                <a16:creationId xmlns:a16="http://schemas.microsoft.com/office/drawing/2014/main" id="{D043481B-0FDF-48B9-B263-A10798272079}"/>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Saturday, 9:00 AM-1:00 PM</a:t>
            </a:r>
          </a:p>
        </p:txBody>
      </p:sp>
      <p:sp>
        <p:nvSpPr>
          <p:cNvPr id="3" name="">
            <a:extLst xmlns:a="http://schemas.openxmlformats.org/drawingml/2006/main">
              <a:ext uri="{FF2B5EF4-FFF2-40B4-BE49-F238E27FC236}">
                <a16:creationId xmlns:a16="http://schemas.microsoft.com/office/drawing/2014/main" id="{6CA16F9C-DB89-4D2E-BCF3-A4C75212C5A7}"/>
              </a:ext>
            </a:extLst>
          </p:cNvPr>
          <p:cNvSpPr>
            <a:spLocks xmlns:a="http://schemas.openxmlformats.org/drawingml/2006/main" noGrp="1"/>
          </p:cNvSpPr>
          <p:nvPr/>
        </p:nvSpPr>
        <p:spPr>
          <a:xfrm xmlns:a="http://schemas.openxmlformats.org/drawingml/2006/main">
            <a:off x="914400" y="14668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DF6765"/>
                </a:solidFill>
                <a:latin typeface="Arial"/>
                <a:ea typeface="Arial"/>
                <a:cs typeface="Arial"/>
              </a:defRPr>
            </a:defPPr>
          </a:lstStyle>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9:00</a:t>
            </a:r>
          </a:p>
        </p:txBody>
      </p:sp>
      <p:sp>
        <p:nvSpPr>
          <p:cNvPr id="4" name="">
            <a:extLst xmlns:a="http://schemas.openxmlformats.org/drawingml/2006/main">
              <a:ext uri="{FF2B5EF4-FFF2-40B4-BE49-F238E27FC236}">
                <a16:creationId xmlns:a16="http://schemas.microsoft.com/office/drawing/2014/main" id="{12ABE36E-5040-4065-AF64-D6D3E869D6FC}"/>
              </a:ext>
            </a:extLst>
          </p:cNvPr>
          <p:cNvSpPr>
            <a:spLocks xmlns:a="http://schemas.openxmlformats.org/drawingml/2006/main" noGrp="1"/>
          </p:cNvSpPr>
          <p:nvPr/>
        </p:nvSpPr>
        <p:spPr>
          <a:xfrm xmlns:a="http://schemas.openxmlformats.org/drawingml/2006/main">
            <a:off x="2895600" y="14668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Build-a-Bot icebreaker</a:t>
            </a:r>
          </a:p>
        </p:txBody>
      </p:sp>
      <p:sp>
        <p:nvSpPr>
          <p:cNvPr id="5" name="">
            <a:extLst xmlns:a="http://schemas.openxmlformats.org/drawingml/2006/main">
              <a:ext uri="{FF2B5EF4-FFF2-40B4-BE49-F238E27FC236}">
                <a16:creationId xmlns:a16="http://schemas.microsoft.com/office/drawing/2014/main" id="{F3AFE62A-466C-4DF2-8591-3D96D3DEEC36}"/>
              </a:ext>
            </a:extLst>
          </p:cNvPr>
          <p:cNvSpPr>
            <a:spLocks xmlns:a="http://schemas.openxmlformats.org/drawingml/2006/main" noGrp="1"/>
          </p:cNvSpPr>
          <p:nvPr/>
        </p:nvSpPr>
        <p:spPr>
          <a:xfrm xmlns:a="http://schemas.openxmlformats.org/drawingml/2006/main">
            <a:off x="914400" y="19716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173654"/>
                </a:solidFill>
                <a:latin typeface="Arial"/>
                <a:ea typeface="Arial"/>
                <a:cs typeface="Arial"/>
              </a:defRPr>
            </a:defPPr>
          </a:lstStyle>
          <a:p xmlns:a="http://schemas.openxmlformats.org/drawingml/2006/main">
            <a:pPr>
              <a:defRPr sz="1800" b="1" i="0">
                <a:solidFill>
                  <a:srgbClr val="173654"/>
                </a:solidFill>
                <a:latin typeface="Arial"/>
                <a:ea typeface="Arial"/>
                <a:cs typeface="Arial"/>
              </a:defRPr>
            </a:pPr>
            <a:r>
              <a:rPr sz="1800" b="1" i="0">
                <a:solidFill>
                  <a:srgbClr val="173654"/>
                </a:solidFill>
                <a:latin typeface="Arial"/>
                <a:ea typeface="Arial"/>
                <a:cs typeface="Arial"/>
              </a:rPr>
              <a:t>9:15</a:t>
            </a:r>
          </a:p>
        </p:txBody>
      </p:sp>
      <p:sp>
        <p:nvSpPr>
          <p:cNvPr id="6" name="">
            <a:extLst xmlns:a="http://schemas.openxmlformats.org/drawingml/2006/main">
              <a:ext uri="{FF2B5EF4-FFF2-40B4-BE49-F238E27FC236}">
                <a16:creationId xmlns:a16="http://schemas.microsoft.com/office/drawing/2014/main" id="{2E8CE26F-53A4-4FDB-83BF-3D309E980157}"/>
              </a:ext>
            </a:extLst>
          </p:cNvPr>
          <p:cNvSpPr>
            <a:spLocks xmlns:a="http://schemas.openxmlformats.org/drawingml/2006/main" noGrp="1"/>
          </p:cNvSpPr>
          <p:nvPr/>
        </p:nvSpPr>
        <p:spPr>
          <a:xfrm xmlns:a="http://schemas.openxmlformats.org/drawingml/2006/main">
            <a:off x="2895600" y="19716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Git pull and Git Graph</a:t>
            </a:r>
          </a:p>
        </p:txBody>
      </p:sp>
      <p:sp>
        <p:nvSpPr>
          <p:cNvPr id="7" name="">
            <a:extLst xmlns:a="http://schemas.openxmlformats.org/drawingml/2006/main">
              <a:ext uri="{FF2B5EF4-FFF2-40B4-BE49-F238E27FC236}">
                <a16:creationId xmlns:a16="http://schemas.microsoft.com/office/drawing/2014/main" id="{50331123-1973-4F2D-94A6-9C111CF96AA1}"/>
              </a:ext>
            </a:extLst>
          </p:cNvPr>
          <p:cNvSpPr>
            <a:spLocks xmlns:a="http://schemas.openxmlformats.org/drawingml/2006/main" noGrp="1"/>
          </p:cNvSpPr>
          <p:nvPr/>
        </p:nvSpPr>
        <p:spPr>
          <a:xfrm xmlns:a="http://schemas.openxmlformats.org/drawingml/2006/main">
            <a:off x="914400" y="24765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5F9F4B"/>
                </a:solidFill>
                <a:latin typeface="Arial"/>
                <a:ea typeface="Arial"/>
                <a:cs typeface="Arial"/>
              </a:defRPr>
            </a:defPPr>
          </a:lstStyle>
          <a:p xmlns:a="http://schemas.openxmlformats.org/drawingml/2006/main">
            <a:pPr>
              <a:defRPr sz="1800" b="1" i="0">
                <a:solidFill>
                  <a:srgbClr val="5F9F4B"/>
                </a:solidFill>
                <a:latin typeface="Arial"/>
                <a:ea typeface="Arial"/>
                <a:cs typeface="Arial"/>
              </a:defRPr>
            </a:pPr>
            <a:r>
              <a:rPr sz="1800" b="1" i="0">
                <a:solidFill>
                  <a:srgbClr val="5F9F4B"/>
                </a:solidFill>
                <a:latin typeface="Arial"/>
                <a:ea typeface="Arial"/>
                <a:cs typeface="Arial"/>
              </a:rPr>
              <a:t>9:30</a:t>
            </a:r>
          </a:p>
        </p:txBody>
      </p:sp>
      <p:sp>
        <p:nvSpPr>
          <p:cNvPr id="8" name="">
            <a:extLst xmlns:a="http://schemas.openxmlformats.org/drawingml/2006/main">
              <a:ext uri="{FF2B5EF4-FFF2-40B4-BE49-F238E27FC236}">
                <a16:creationId xmlns:a16="http://schemas.microsoft.com/office/drawing/2014/main" id="{0C224886-8919-41E5-B863-63A2E184436C}"/>
              </a:ext>
            </a:extLst>
          </p:cNvPr>
          <p:cNvSpPr>
            <a:spLocks xmlns:a="http://schemas.openxmlformats.org/drawingml/2006/main" noGrp="1"/>
          </p:cNvSpPr>
          <p:nvPr/>
        </p:nvSpPr>
        <p:spPr>
          <a:xfrm xmlns:a="http://schemas.openxmlformats.org/drawingml/2006/main">
            <a:off x="2895600" y="24765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Run the starter and set goals</a:t>
            </a:r>
          </a:p>
        </p:txBody>
      </p:sp>
      <p:sp>
        <p:nvSpPr>
          <p:cNvPr id="9" name="">
            <a:extLst xmlns:a="http://schemas.openxmlformats.org/drawingml/2006/main">
              <a:ext uri="{FF2B5EF4-FFF2-40B4-BE49-F238E27FC236}">
                <a16:creationId xmlns:a16="http://schemas.microsoft.com/office/drawing/2014/main" id="{C46043AE-95A9-4A0C-93CF-F19F070411C4}"/>
              </a:ext>
            </a:extLst>
          </p:cNvPr>
          <p:cNvSpPr>
            <a:spLocks xmlns:a="http://schemas.openxmlformats.org/drawingml/2006/main" noGrp="1"/>
          </p:cNvSpPr>
          <p:nvPr/>
        </p:nvSpPr>
        <p:spPr>
          <a:xfrm xmlns:a="http://schemas.openxmlformats.org/drawingml/2006/main">
            <a:off x="914400" y="298132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2F6F89"/>
                </a:solidFill>
                <a:latin typeface="Arial"/>
                <a:ea typeface="Arial"/>
                <a:cs typeface="Arial"/>
              </a:defRPr>
            </a:defPPr>
          </a:lstStyle>
          <a:p xmlns:a="http://schemas.openxmlformats.org/drawingml/2006/main">
            <a:pPr>
              <a:defRPr sz="1800" b="1" i="0">
                <a:solidFill>
                  <a:srgbClr val="2F6F89"/>
                </a:solidFill>
                <a:latin typeface="Arial"/>
                <a:ea typeface="Arial"/>
                <a:cs typeface="Arial"/>
              </a:defRPr>
            </a:pPr>
            <a:r>
              <a:rPr sz="1800" b="1" i="0">
                <a:solidFill>
                  <a:srgbClr val="2F6F89"/>
                </a:solidFill>
                <a:latin typeface="Arial"/>
                <a:ea typeface="Arial"/>
                <a:cs typeface="Arial"/>
              </a:rPr>
              <a:t>9:45</a:t>
            </a:r>
          </a:p>
        </p:txBody>
      </p:sp>
      <p:sp>
        <p:nvSpPr>
          <p:cNvPr id="10" name="">
            <a:extLst xmlns:a="http://schemas.openxmlformats.org/drawingml/2006/main">
              <a:ext uri="{FF2B5EF4-FFF2-40B4-BE49-F238E27FC236}">
                <a16:creationId xmlns:a16="http://schemas.microsoft.com/office/drawing/2014/main" id="{9F78CF3D-787B-4087-8764-6E2D71847293}"/>
              </a:ext>
            </a:extLst>
          </p:cNvPr>
          <p:cNvSpPr>
            <a:spLocks xmlns:a="http://schemas.openxmlformats.org/drawingml/2006/main" noGrp="1"/>
          </p:cNvSpPr>
          <p:nvPr/>
        </p:nvSpPr>
        <p:spPr>
          <a:xfrm xmlns:a="http://schemas.openxmlformats.org/drawingml/2006/main">
            <a:off x="2895600" y="298132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Write, save, run, observe, fix</a:t>
            </a:r>
          </a:p>
        </p:txBody>
      </p:sp>
      <p:sp>
        <p:nvSpPr>
          <p:cNvPr id="11" name="">
            <a:extLst xmlns:a="http://schemas.openxmlformats.org/drawingml/2006/main">
              <a:ext uri="{FF2B5EF4-FFF2-40B4-BE49-F238E27FC236}">
                <a16:creationId xmlns:a16="http://schemas.microsoft.com/office/drawing/2014/main" id="{47AECD9F-9AE7-4FA8-A02B-0FDF5189936E}"/>
              </a:ext>
            </a:extLst>
          </p:cNvPr>
          <p:cNvSpPr>
            <a:spLocks xmlns:a="http://schemas.openxmlformats.org/drawingml/2006/main" noGrp="1"/>
          </p:cNvSpPr>
          <p:nvPr/>
        </p:nvSpPr>
        <p:spPr>
          <a:xfrm xmlns:a="http://schemas.openxmlformats.org/drawingml/2006/main">
            <a:off x="914400" y="34861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DF6765"/>
                </a:solidFill>
                <a:latin typeface="Arial"/>
                <a:ea typeface="Arial"/>
                <a:cs typeface="Arial"/>
              </a:defRPr>
            </a:defPPr>
          </a:lstStyle>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10:25</a:t>
            </a:r>
          </a:p>
        </p:txBody>
      </p:sp>
      <p:sp>
        <p:nvSpPr>
          <p:cNvPr id="12" name="">
            <a:extLst xmlns:a="http://schemas.openxmlformats.org/drawingml/2006/main">
              <a:ext uri="{FF2B5EF4-FFF2-40B4-BE49-F238E27FC236}">
                <a16:creationId xmlns:a16="http://schemas.microsoft.com/office/drawing/2014/main" id="{FE68AE42-F17E-4546-B47B-4A3CB163643E}"/>
              </a:ext>
            </a:extLst>
          </p:cNvPr>
          <p:cNvSpPr>
            <a:spLocks xmlns:a="http://schemas.openxmlformats.org/drawingml/2006/main" noGrp="1"/>
          </p:cNvSpPr>
          <p:nvPr/>
        </p:nvSpPr>
        <p:spPr>
          <a:xfrm xmlns:a="http://schemas.openxmlformats.org/drawingml/2006/main">
            <a:off x="2895600" y="34861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Break</a:t>
            </a:r>
          </a:p>
        </p:txBody>
      </p:sp>
      <p:sp>
        <p:nvSpPr>
          <p:cNvPr id="13" name="">
            <a:extLst xmlns:a="http://schemas.openxmlformats.org/drawingml/2006/main">
              <a:ext uri="{FF2B5EF4-FFF2-40B4-BE49-F238E27FC236}">
                <a16:creationId xmlns:a16="http://schemas.microsoft.com/office/drawing/2014/main" id="{AC518018-C57F-44F0-BE65-1C43859D3484}"/>
              </a:ext>
            </a:extLst>
          </p:cNvPr>
          <p:cNvSpPr>
            <a:spLocks xmlns:a="http://schemas.openxmlformats.org/drawingml/2006/main" noGrp="1"/>
          </p:cNvSpPr>
          <p:nvPr/>
        </p:nvSpPr>
        <p:spPr>
          <a:xfrm xmlns:a="http://schemas.openxmlformats.org/drawingml/2006/main">
            <a:off x="914400" y="39909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3C8994"/>
                </a:solidFill>
                <a:latin typeface="Arial"/>
                <a:ea typeface="Arial"/>
                <a:cs typeface="Arial"/>
              </a:defRPr>
            </a:defPPr>
          </a:lstStyle>
          <a:p xmlns:a="http://schemas.openxmlformats.org/drawingml/2006/main">
            <a:pPr>
              <a:defRPr sz="1800" b="1" i="0">
                <a:solidFill>
                  <a:srgbClr val="3C8994"/>
                </a:solidFill>
                <a:latin typeface="Arial"/>
                <a:ea typeface="Arial"/>
                <a:cs typeface="Arial"/>
              </a:defRPr>
            </a:pPr>
            <a:r>
              <a:rPr sz="1800" b="1" i="0">
                <a:solidFill>
                  <a:srgbClr val="3C8994"/>
                </a:solidFill>
                <a:latin typeface="Arial"/>
                <a:ea typeface="Arial"/>
                <a:cs typeface="Arial"/>
              </a:rPr>
              <a:t>10:35</a:t>
            </a:r>
          </a:p>
        </p:txBody>
      </p:sp>
      <p:sp>
        <p:nvSpPr>
          <p:cNvPr id="14" name="">
            <a:extLst xmlns:a="http://schemas.openxmlformats.org/drawingml/2006/main">
              <a:ext uri="{FF2B5EF4-FFF2-40B4-BE49-F238E27FC236}">
                <a16:creationId xmlns:a16="http://schemas.microsoft.com/office/drawing/2014/main" id="{C018A11E-568A-4F10-9D69-AE8B05386C7A}"/>
              </a:ext>
            </a:extLst>
          </p:cNvPr>
          <p:cNvSpPr>
            <a:spLocks xmlns:a="http://schemas.openxmlformats.org/drawingml/2006/main" noGrp="1"/>
          </p:cNvSpPr>
          <p:nvPr/>
        </p:nvSpPr>
        <p:spPr>
          <a:xfrm xmlns:a="http://schemas.openxmlformats.org/drawingml/2006/main">
            <a:off x="2895600" y="399097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ChatGPT setup and prompting</a:t>
            </a:r>
          </a:p>
        </p:txBody>
      </p:sp>
      <p:sp>
        <p:nvSpPr>
          <p:cNvPr id="15" name="">
            <a:extLst xmlns:a="http://schemas.openxmlformats.org/drawingml/2006/main">
              <a:ext uri="{FF2B5EF4-FFF2-40B4-BE49-F238E27FC236}">
                <a16:creationId xmlns:a16="http://schemas.microsoft.com/office/drawing/2014/main" id="{51E0CFE7-6B48-4983-9684-8A4F11F2DAD1}"/>
              </a:ext>
            </a:extLst>
          </p:cNvPr>
          <p:cNvSpPr>
            <a:spLocks xmlns:a="http://schemas.openxmlformats.org/drawingml/2006/main" noGrp="1"/>
          </p:cNvSpPr>
          <p:nvPr/>
        </p:nvSpPr>
        <p:spPr>
          <a:xfrm xmlns:a="http://schemas.openxmlformats.org/drawingml/2006/main">
            <a:off x="914400" y="44958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DF6765"/>
                </a:solidFill>
                <a:latin typeface="Arial"/>
                <a:ea typeface="Arial"/>
                <a:cs typeface="Arial"/>
              </a:defRPr>
            </a:defPPr>
          </a:lstStyle>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11:20</a:t>
            </a:r>
          </a:p>
        </p:txBody>
      </p:sp>
      <p:sp>
        <p:nvSpPr>
          <p:cNvPr id="16" name="">
            <a:extLst xmlns:a="http://schemas.openxmlformats.org/drawingml/2006/main">
              <a:ext uri="{FF2B5EF4-FFF2-40B4-BE49-F238E27FC236}">
                <a16:creationId xmlns:a16="http://schemas.microsoft.com/office/drawing/2014/main" id="{88232ACD-B9EC-4DBE-B4DA-E86AC9E37735}"/>
              </a:ext>
            </a:extLst>
          </p:cNvPr>
          <p:cNvSpPr>
            <a:spLocks xmlns:a="http://schemas.openxmlformats.org/drawingml/2006/main" noGrp="1"/>
          </p:cNvSpPr>
          <p:nvPr/>
        </p:nvSpPr>
        <p:spPr>
          <a:xfrm xmlns:a="http://schemas.openxmlformats.org/drawingml/2006/main">
            <a:off x="2895600" y="449580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Break</a:t>
            </a:r>
          </a:p>
        </p:txBody>
      </p:sp>
      <p:sp>
        <p:nvSpPr>
          <p:cNvPr id="17" name="">
            <a:extLst xmlns:a="http://schemas.openxmlformats.org/drawingml/2006/main">
              <a:ext uri="{FF2B5EF4-FFF2-40B4-BE49-F238E27FC236}">
                <a16:creationId xmlns:a16="http://schemas.microsoft.com/office/drawing/2014/main" id="{1A04C84B-5829-4786-B036-8F30F7B449A9}"/>
              </a:ext>
            </a:extLst>
          </p:cNvPr>
          <p:cNvSpPr>
            <a:spLocks xmlns:a="http://schemas.openxmlformats.org/drawingml/2006/main" noGrp="1"/>
          </p:cNvSpPr>
          <p:nvPr/>
        </p:nvSpPr>
        <p:spPr>
          <a:xfrm xmlns:a="http://schemas.openxmlformats.org/drawingml/2006/main">
            <a:off x="914400" y="500062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2F6F89"/>
                </a:solidFill>
                <a:latin typeface="Arial"/>
                <a:ea typeface="Arial"/>
                <a:cs typeface="Arial"/>
              </a:defRPr>
            </a:defPPr>
          </a:lstStyle>
          <a:p xmlns:a="http://schemas.openxmlformats.org/drawingml/2006/main">
            <a:pPr>
              <a:defRPr sz="1800" b="1" i="0">
                <a:solidFill>
                  <a:srgbClr val="2F6F89"/>
                </a:solidFill>
                <a:latin typeface="Arial"/>
                <a:ea typeface="Arial"/>
                <a:cs typeface="Arial"/>
              </a:defRPr>
            </a:pPr>
            <a:r>
              <a:rPr sz="1800" b="1" i="0">
                <a:solidFill>
                  <a:srgbClr val="2F6F89"/>
                </a:solidFill>
                <a:latin typeface="Arial"/>
                <a:ea typeface="Arial"/>
                <a:cs typeface="Arial"/>
              </a:rPr>
              <a:t>11:30</a:t>
            </a:r>
          </a:p>
        </p:txBody>
      </p:sp>
      <p:sp>
        <p:nvSpPr>
          <p:cNvPr id="18" name="">
            <a:extLst xmlns:a="http://schemas.openxmlformats.org/drawingml/2006/main">
              <a:ext uri="{FF2B5EF4-FFF2-40B4-BE49-F238E27FC236}">
                <a16:creationId xmlns:a16="http://schemas.microsoft.com/office/drawing/2014/main" id="{CDDB760C-7F77-4B1F-AD89-A4D4DA347635}"/>
              </a:ext>
            </a:extLst>
          </p:cNvPr>
          <p:cNvSpPr>
            <a:spLocks xmlns:a="http://schemas.openxmlformats.org/drawingml/2006/main" noGrp="1"/>
          </p:cNvSpPr>
          <p:nvPr/>
        </p:nvSpPr>
        <p:spPr>
          <a:xfrm xmlns:a="http://schemas.openxmlformats.org/drawingml/2006/main">
            <a:off x="2895600" y="5000625"/>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Build, launch, and peer test</a:t>
            </a:r>
          </a:p>
        </p:txBody>
      </p:sp>
      <p:sp>
        <p:nvSpPr>
          <p:cNvPr id="19" name="">
            <a:extLst xmlns:a="http://schemas.openxmlformats.org/drawingml/2006/main">
              <a:ext uri="{FF2B5EF4-FFF2-40B4-BE49-F238E27FC236}">
                <a16:creationId xmlns:a16="http://schemas.microsoft.com/office/drawing/2014/main" id="{4B0C6089-A05B-4B7B-BD03-8E92A435EAC7}"/>
              </a:ext>
            </a:extLst>
          </p:cNvPr>
          <p:cNvSpPr>
            <a:spLocks xmlns:a="http://schemas.openxmlformats.org/drawingml/2006/main" noGrp="1"/>
          </p:cNvSpPr>
          <p:nvPr/>
        </p:nvSpPr>
        <p:spPr>
          <a:xfrm xmlns:a="http://schemas.openxmlformats.org/drawingml/2006/main">
            <a:off x="914400" y="55054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5F9F4B"/>
                </a:solidFill>
                <a:latin typeface="Arial"/>
                <a:ea typeface="Arial"/>
                <a:cs typeface="Arial"/>
              </a:defRPr>
            </a:defPPr>
          </a:lstStyle>
          <a:p xmlns:a="http://schemas.openxmlformats.org/drawingml/2006/main">
            <a:pPr>
              <a:defRPr sz="1800" b="1" i="0">
                <a:solidFill>
                  <a:srgbClr val="5F9F4B"/>
                </a:solidFill>
                <a:latin typeface="Arial"/>
                <a:ea typeface="Arial"/>
                <a:cs typeface="Arial"/>
              </a:defRPr>
            </a:pPr>
            <a:r>
              <a:rPr sz="1800" b="1" i="0">
                <a:solidFill>
                  <a:srgbClr val="5F9F4B"/>
                </a:solidFill>
                <a:latin typeface="Arial"/>
                <a:ea typeface="Arial"/>
                <a:cs typeface="Arial"/>
              </a:rPr>
              <a:t>12:40</a:t>
            </a:r>
          </a:p>
        </p:txBody>
      </p:sp>
      <p:sp>
        <p:nvSpPr>
          <p:cNvPr id="20" name="">
            <a:extLst xmlns:a="http://schemas.openxmlformats.org/drawingml/2006/main">
              <a:ext uri="{FF2B5EF4-FFF2-40B4-BE49-F238E27FC236}">
                <a16:creationId xmlns:a16="http://schemas.microsoft.com/office/drawing/2014/main" id="{6648D1E1-4058-4AB8-B94C-605804391BE2}"/>
              </a:ext>
            </a:extLst>
          </p:cNvPr>
          <p:cNvSpPr>
            <a:spLocks xmlns:a="http://schemas.openxmlformats.org/drawingml/2006/main" noGrp="1"/>
          </p:cNvSpPr>
          <p:nvPr/>
        </p:nvSpPr>
        <p:spPr>
          <a:xfrm xmlns:a="http://schemas.openxmlformats.org/drawingml/2006/main">
            <a:off x="2895600" y="5505450"/>
            <a:ext cx="800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Improve and reflect</a:t>
            </a:r>
          </a:p>
        </p:txBody>
      </p:sp>
      <p:sp>
        <p:nvSpPr>
          <p:cNvPr id="21" name="">
            <a:extLst xmlns:a="http://schemas.openxmlformats.org/drawingml/2006/main">
              <a:ext uri="{FF2B5EF4-FFF2-40B4-BE49-F238E27FC236}">
                <a16:creationId xmlns:a16="http://schemas.microsoft.com/office/drawing/2014/main" id="{FB8B3DD0-B0E9-4102-8F67-4BB5BDCED477}"/>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Week 2 | Build, Test, Improve</a:t>
            </a:r>
          </a:p>
        </p:txBody>
      </p:sp>
    </p:spTree>
    <p:extLst>
      <p:ext uri="{BB962C8B-B14F-4D97-AF65-F5344CB8AC3E}">
        <p14:creationId xmlns:p14="http://schemas.microsoft.com/office/powerpoint/2010/main" val="2046001974"/>
      </p:ext>
    </p:extLst>
  </p:cSld>
</p:sld>
</file>

<file path=ppt/slides/slide3.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433FE4E-EB35-42E4-A49A-3F881873053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Build-a-Bot: 4 Simple Steps</a:t>
            </a:r>
          </a:p>
        </p:txBody>
      </p:sp>
      <p:sp>
        <p:nvSpPr>
          <p:cNvPr id="2" name="">
            <a:extLst xmlns:a="http://schemas.openxmlformats.org/drawingml/2006/main">
              <a:ext uri="{FF2B5EF4-FFF2-40B4-BE49-F238E27FC236}">
                <a16:creationId xmlns:a16="http://schemas.microsoft.com/office/drawing/2014/main" id="{19B3FB12-3C9F-41C2-89FA-27DF55550925}"/>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You will introduce your partner’s robot to the class</a:t>
            </a:r>
          </a:p>
        </p:txBody>
      </p:sp>
      <p:sp>
        <p:nvSpPr>
          <p:cNvPr id="3" name="">
            <a:extLst xmlns:a="http://schemas.openxmlformats.org/drawingml/2006/main">
              <a:ext uri="{FF2B5EF4-FFF2-40B4-BE49-F238E27FC236}">
                <a16:creationId xmlns:a16="http://schemas.microsoft.com/office/drawing/2014/main" id="{8B672A9C-D8FB-433B-9485-69E305B59730}"/>
              </a:ext>
            </a:extLst>
          </p:cNvPr>
          <p:cNvSpPr>
            <a:spLocks xmlns:a="http://schemas.openxmlformats.org/drawingml/2006/main" noGrp="1"/>
          </p:cNvSpPr>
          <p:nvPr/>
        </p:nvSpPr>
        <p:spPr>
          <a:xfrm xmlns:a="http://schemas.openxmlformats.org/drawingml/2006/main">
            <a:off x="876300" y="16764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DF6765"/>
                </a:solidFill>
                <a:latin typeface="Arial"/>
                <a:ea typeface="Arial"/>
                <a:cs typeface="Arial"/>
              </a:defRPr>
            </a:defPPr>
          </a:lstStyle>
          <a:p xmlns:a="http://schemas.openxmlformats.org/drawingml/2006/main">
            <a:pPr>
              <a:defRPr sz="2325" b="1" i="0">
                <a:solidFill>
                  <a:srgbClr val="DF6765"/>
                </a:solidFill>
                <a:latin typeface="Arial"/>
                <a:ea typeface="Arial"/>
                <a:cs typeface="Arial"/>
              </a:defRPr>
            </a:pPr>
            <a:r>
              <a:rPr sz="2325"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8199CDB8-798B-4188-B014-7AF6C599F720}"/>
              </a:ext>
            </a:extLst>
          </p:cNvPr>
          <p:cNvSpPr>
            <a:spLocks xmlns:a="http://schemas.openxmlformats.org/drawingml/2006/main" noGrp="1"/>
          </p:cNvSpPr>
          <p:nvPr/>
        </p:nvSpPr>
        <p:spPr>
          <a:xfrm xmlns:a="http://schemas.openxmlformats.org/drawingml/2006/main">
            <a:off x="1657350" y="16764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Find a partner</a:t>
            </a:r>
          </a:p>
        </p:txBody>
      </p:sp>
      <p:sp>
        <p:nvSpPr>
          <p:cNvPr id="5" name="">
            <a:extLst xmlns:a="http://schemas.openxmlformats.org/drawingml/2006/main">
              <a:ext uri="{FF2B5EF4-FFF2-40B4-BE49-F238E27FC236}">
                <a16:creationId xmlns:a16="http://schemas.microsoft.com/office/drawing/2014/main" id="{CD967C59-0003-4F30-92FC-CFB8124EAEC7}"/>
              </a:ext>
            </a:extLst>
          </p:cNvPr>
          <p:cNvSpPr>
            <a:spLocks xmlns:a="http://schemas.openxmlformats.org/drawingml/2006/main" noGrp="1"/>
          </p:cNvSpPr>
          <p:nvPr/>
        </p:nvSpPr>
        <p:spPr>
          <a:xfrm xmlns:a="http://schemas.openxmlformats.org/drawingml/2006/main">
            <a:off x="5467350" y="169545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Choose someone you did not work with last week.</a:t>
            </a:r>
          </a:p>
        </p:txBody>
      </p:sp>
      <p:sp>
        <p:nvSpPr>
          <p:cNvPr id="6" name="">
            <a:extLst xmlns:a="http://schemas.openxmlformats.org/drawingml/2006/main">
              <a:ext uri="{FF2B5EF4-FFF2-40B4-BE49-F238E27FC236}">
                <a16:creationId xmlns:a16="http://schemas.microsoft.com/office/drawing/2014/main" id="{34CB3734-CD5D-47F2-9AE0-C24B65462616}"/>
              </a:ext>
            </a:extLst>
          </p:cNvPr>
          <p:cNvSpPr>
            <a:spLocks xmlns:a="http://schemas.openxmlformats.org/drawingml/2006/main" noGrp="1"/>
          </p:cNvSpPr>
          <p:nvPr/>
        </p:nvSpPr>
        <p:spPr>
          <a:xfrm xmlns:a="http://schemas.openxmlformats.org/drawingml/2006/main">
            <a:off x="876300" y="25527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5F9F4B"/>
                </a:solidFill>
                <a:latin typeface="Arial"/>
                <a:ea typeface="Arial"/>
                <a:cs typeface="Arial"/>
              </a:defRPr>
            </a:defPPr>
          </a:lstStyle>
          <a:p xmlns:a="http://schemas.openxmlformats.org/drawingml/2006/main">
            <a:pPr>
              <a:defRPr sz="2325" b="1" i="0">
                <a:solidFill>
                  <a:srgbClr val="5F9F4B"/>
                </a:solidFill>
                <a:latin typeface="Arial"/>
                <a:ea typeface="Arial"/>
                <a:cs typeface="Arial"/>
              </a:defRPr>
            </a:pPr>
            <a:r>
              <a:rPr sz="2325" b="1" i="0">
                <a:solidFill>
                  <a:srgbClr val="5F9F4B"/>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8E0241ED-85A1-4C84-95A1-7B5B6D4E401C}"/>
              </a:ext>
            </a:extLst>
          </p:cNvPr>
          <p:cNvSpPr>
            <a:spLocks xmlns:a="http://schemas.openxmlformats.org/drawingml/2006/main" noGrp="1"/>
          </p:cNvSpPr>
          <p:nvPr/>
        </p:nvSpPr>
        <p:spPr>
          <a:xfrm xmlns:a="http://schemas.openxmlformats.org/drawingml/2006/main">
            <a:off x="1657350" y="25527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Invent your robot</a:t>
            </a:r>
          </a:p>
        </p:txBody>
      </p:sp>
      <p:sp>
        <p:nvSpPr>
          <p:cNvPr id="8" name="">
            <a:extLst xmlns:a="http://schemas.openxmlformats.org/drawingml/2006/main">
              <a:ext uri="{FF2B5EF4-FFF2-40B4-BE49-F238E27FC236}">
                <a16:creationId xmlns:a16="http://schemas.microsoft.com/office/drawing/2014/main" id="{8C48AF8A-8094-4F26-9776-778374DE29D0}"/>
              </a:ext>
            </a:extLst>
          </p:cNvPr>
          <p:cNvSpPr>
            <a:spLocks xmlns:a="http://schemas.openxmlformats.org/drawingml/2006/main" noGrp="1"/>
          </p:cNvSpPr>
          <p:nvPr/>
        </p:nvSpPr>
        <p:spPr>
          <a:xfrm xmlns:a="http://schemas.openxmlformats.org/drawingml/2006/main">
            <a:off x="5467350" y="257175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Give it a name, a useful job, and one funny bug.</a:t>
            </a:r>
          </a:p>
        </p:txBody>
      </p:sp>
      <p:sp>
        <p:nvSpPr>
          <p:cNvPr id="9" name="">
            <a:extLst xmlns:a="http://schemas.openxmlformats.org/drawingml/2006/main">
              <a:ext uri="{FF2B5EF4-FFF2-40B4-BE49-F238E27FC236}">
                <a16:creationId xmlns:a16="http://schemas.microsoft.com/office/drawing/2014/main" id="{552A786E-4C6F-4994-9B0B-694BAE7E25F6}"/>
              </a:ext>
            </a:extLst>
          </p:cNvPr>
          <p:cNvSpPr>
            <a:spLocks xmlns:a="http://schemas.openxmlformats.org/drawingml/2006/main" noGrp="1"/>
          </p:cNvSpPr>
          <p:nvPr/>
        </p:nvSpPr>
        <p:spPr>
          <a:xfrm xmlns:a="http://schemas.openxmlformats.org/drawingml/2006/main">
            <a:off x="876300" y="34290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DF6765"/>
                </a:solidFill>
                <a:latin typeface="Arial"/>
                <a:ea typeface="Arial"/>
                <a:cs typeface="Arial"/>
              </a:defRPr>
            </a:defPPr>
          </a:lstStyle>
          <a:p xmlns:a="http://schemas.openxmlformats.org/drawingml/2006/main">
            <a:pPr>
              <a:defRPr sz="2325" b="1" i="0">
                <a:solidFill>
                  <a:srgbClr val="DF6765"/>
                </a:solidFill>
                <a:latin typeface="Arial"/>
                <a:ea typeface="Arial"/>
                <a:cs typeface="Arial"/>
              </a:defRPr>
            </a:pPr>
            <a:r>
              <a:rPr sz="2325" b="1" i="0">
                <a:solidFill>
                  <a:srgbClr val="DF6765"/>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77A04F7C-ADBC-4D50-B80F-C4310BC0F181}"/>
              </a:ext>
            </a:extLst>
          </p:cNvPr>
          <p:cNvSpPr>
            <a:spLocks xmlns:a="http://schemas.openxmlformats.org/drawingml/2006/main" noGrp="1"/>
          </p:cNvSpPr>
          <p:nvPr/>
        </p:nvSpPr>
        <p:spPr>
          <a:xfrm xmlns:a="http://schemas.openxmlformats.org/drawingml/2006/main">
            <a:off x="1657350" y="34290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Share with your partner</a:t>
            </a:r>
          </a:p>
        </p:txBody>
      </p:sp>
      <p:sp>
        <p:nvSpPr>
          <p:cNvPr id="11" name="">
            <a:extLst xmlns:a="http://schemas.openxmlformats.org/drawingml/2006/main">
              <a:ext uri="{FF2B5EF4-FFF2-40B4-BE49-F238E27FC236}">
                <a16:creationId xmlns:a16="http://schemas.microsoft.com/office/drawing/2014/main" id="{009709D6-BBB5-482B-87AA-15E0A34B314C}"/>
              </a:ext>
            </a:extLst>
          </p:cNvPr>
          <p:cNvSpPr>
            <a:spLocks xmlns:a="http://schemas.openxmlformats.org/drawingml/2006/main" noGrp="1"/>
          </p:cNvSpPr>
          <p:nvPr/>
        </p:nvSpPr>
        <p:spPr>
          <a:xfrm xmlns:a="http://schemas.openxmlformats.org/drawingml/2006/main">
            <a:off x="5467350" y="344805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Take turns explaining your robots. Ask one question.</a:t>
            </a:r>
          </a:p>
        </p:txBody>
      </p:sp>
      <p:sp>
        <p:nvSpPr>
          <p:cNvPr id="12" name="">
            <a:extLst xmlns:a="http://schemas.openxmlformats.org/drawingml/2006/main">
              <a:ext uri="{FF2B5EF4-FFF2-40B4-BE49-F238E27FC236}">
                <a16:creationId xmlns:a16="http://schemas.microsoft.com/office/drawing/2014/main" id="{A34946E8-5776-4DC9-AA03-078312A9D698}"/>
              </a:ext>
            </a:extLst>
          </p:cNvPr>
          <p:cNvSpPr>
            <a:spLocks xmlns:a="http://schemas.openxmlformats.org/drawingml/2006/main" noGrp="1"/>
          </p:cNvSpPr>
          <p:nvPr/>
        </p:nvSpPr>
        <p:spPr>
          <a:xfrm xmlns:a="http://schemas.openxmlformats.org/drawingml/2006/main">
            <a:off x="876300" y="43053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5F9F4B"/>
                </a:solidFill>
                <a:latin typeface="Arial"/>
                <a:ea typeface="Arial"/>
                <a:cs typeface="Arial"/>
              </a:defRPr>
            </a:defPPr>
          </a:lstStyle>
          <a:p xmlns:a="http://schemas.openxmlformats.org/drawingml/2006/main">
            <a:pPr>
              <a:defRPr sz="2325" b="1" i="0">
                <a:solidFill>
                  <a:srgbClr val="5F9F4B"/>
                </a:solidFill>
                <a:latin typeface="Arial"/>
                <a:ea typeface="Arial"/>
                <a:cs typeface="Arial"/>
              </a:defRPr>
            </a:pPr>
            <a:r>
              <a:rPr sz="2325" b="1" i="0">
                <a:solidFill>
                  <a:srgbClr val="5F9F4B"/>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778AAB18-D7F8-4BFE-A3DF-B5601A8B2F3F}"/>
              </a:ext>
            </a:extLst>
          </p:cNvPr>
          <p:cNvSpPr>
            <a:spLocks xmlns:a="http://schemas.openxmlformats.org/drawingml/2006/main" noGrp="1"/>
          </p:cNvSpPr>
          <p:nvPr/>
        </p:nvSpPr>
        <p:spPr>
          <a:xfrm xmlns:a="http://schemas.openxmlformats.org/drawingml/2006/main">
            <a:off x="1657350" y="43053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Introduce your partner’s robot</a:t>
            </a:r>
          </a:p>
        </p:txBody>
      </p:sp>
      <p:sp>
        <p:nvSpPr>
          <p:cNvPr id="14" name="">
            <a:extLst xmlns:a="http://schemas.openxmlformats.org/drawingml/2006/main">
              <a:ext uri="{FF2B5EF4-FFF2-40B4-BE49-F238E27FC236}">
                <a16:creationId xmlns:a16="http://schemas.microsoft.com/office/drawing/2014/main" id="{60435BD9-ADCB-434B-B4AE-DB1E46AE8BF3}"/>
              </a:ext>
            </a:extLst>
          </p:cNvPr>
          <p:cNvSpPr>
            <a:spLocks xmlns:a="http://schemas.openxmlformats.org/drawingml/2006/main" noGrp="1"/>
          </p:cNvSpPr>
          <p:nvPr/>
        </p:nvSpPr>
        <p:spPr>
          <a:xfrm xmlns:a="http://schemas.openxmlformats.org/drawingml/2006/main">
            <a:off x="5467350" y="4324350"/>
            <a:ext cx="581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i="0">
                <a:solidFill>
                  <a:srgbClr val="172433"/>
                </a:solidFill>
                <a:latin typeface="Arial"/>
                <a:ea typeface="Arial"/>
                <a:cs typeface="Arial"/>
              </a:defRPr>
            </a:defPPr>
          </a:lstStyle>
          <a:p xmlns:a="http://schemas.openxmlformats.org/drawingml/2006/main">
            <a:pPr>
              <a:defRPr sz="1650" b="0" i="0">
                <a:solidFill>
                  <a:srgbClr val="172433"/>
                </a:solidFill>
                <a:latin typeface="Arial"/>
                <a:ea typeface="Arial"/>
                <a:cs typeface="Arial"/>
              </a:defRPr>
            </a:pPr>
            <a:r>
              <a:rPr sz="1650" b="0" i="0">
                <a:solidFill>
                  <a:srgbClr val="172433"/>
                </a:solidFill>
                <a:latin typeface="Arial"/>
                <a:ea typeface="Arial"/>
                <a:cs typeface="Arial"/>
              </a:rPr>
              <a:t>Tell the class its name, job, and funny bug.</a:t>
            </a:r>
          </a:p>
        </p:txBody>
      </p:sp>
      <p:sp>
        <p:nvSpPr>
          <p:cNvPr id="15" name="">
            <a:extLst xmlns:a="http://schemas.openxmlformats.org/drawingml/2006/main">
              <a:ext uri="{FF2B5EF4-FFF2-40B4-BE49-F238E27FC236}">
                <a16:creationId xmlns:a16="http://schemas.microsoft.com/office/drawing/2014/main" id="{AE2CB996-237B-46FD-96DB-BFA2DFDCD64C}"/>
              </a:ext>
            </a:extLst>
          </p:cNvPr>
          <p:cNvSpPr>
            <a:spLocks xmlns:a="http://schemas.openxmlformats.org/drawingml/2006/main" noGrp="1"/>
          </p:cNvSpPr>
          <p:nvPr/>
        </p:nvSpPr>
        <p:spPr>
          <a:xfrm xmlns:a="http://schemas.openxmlformats.org/drawingml/2006/main">
            <a:off x="1257300" y="5314950"/>
            <a:ext cx="9677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2F6F89"/>
                </a:solidFill>
                <a:latin typeface="Arial"/>
                <a:ea typeface="Arial"/>
                <a:cs typeface="Arial"/>
              </a:defRPr>
            </a:defPPr>
          </a:lstStyle>
          <a:p xmlns:a="http://schemas.openxmlformats.org/drawingml/2006/main">
            <a:pPr>
              <a:defRPr sz="1875" b="1" i="0">
                <a:solidFill>
                  <a:srgbClr val="2F6F89"/>
                </a:solidFill>
                <a:latin typeface="Arial"/>
                <a:ea typeface="Arial"/>
                <a:cs typeface="Arial"/>
              </a:defRPr>
            </a:pPr>
            <a:r>
              <a:rPr sz="1875" b="1" i="0">
                <a:solidFill>
                  <a:srgbClr val="2F6F89"/>
                </a:solidFill>
                <a:latin typeface="Arial"/>
                <a:ea typeface="Arial"/>
                <a:cs typeface="Arial"/>
              </a:rPr>
              <a:t>Example: SnackBot brings snacks, but it only delivers broccoli.</a:t>
            </a:r>
          </a:p>
        </p:txBody>
      </p:sp>
      <p:sp>
        <p:nvSpPr>
          <p:cNvPr id="16" name="">
            <a:extLst xmlns:a="http://schemas.openxmlformats.org/drawingml/2006/main">
              <a:ext uri="{FF2B5EF4-FFF2-40B4-BE49-F238E27FC236}">
                <a16:creationId xmlns:a16="http://schemas.microsoft.com/office/drawing/2014/main" id="{A935CD68-3D00-4400-9F9C-1791CCD3730A}"/>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9:00-9:15 | Icebreaker</a:t>
            </a:r>
          </a:p>
        </p:txBody>
      </p:sp>
    </p:spTree>
    <p:extLst>
      <p:ext uri="{BB962C8B-B14F-4D97-AF65-F5344CB8AC3E}">
        <p14:creationId xmlns:p14="http://schemas.microsoft.com/office/powerpoint/2010/main" val="84776002"/>
      </p:ext>
    </p:extLst>
  </p:cSld>
</p:sld>
</file>

<file path=ppt/slides/slide4.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BCC669-8C5B-4370-8269-5BBB1D6BC0F9}"/>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Learning objectives</a:t>
            </a:r>
          </a:p>
        </p:txBody>
      </p:sp>
      <p:sp>
        <p:nvSpPr>
          <p:cNvPr id="2" name="">
            <a:extLst xmlns:a="http://schemas.openxmlformats.org/drawingml/2006/main">
              <a:ext uri="{FF2B5EF4-FFF2-40B4-BE49-F238E27FC236}">
                <a16:creationId xmlns:a16="http://schemas.microsoft.com/office/drawing/2014/main" id="{3AA1DFDB-21FC-4488-A28E-777E29E932FB}"/>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By 1:00 PM, you should be able to...</a:t>
            </a:r>
          </a:p>
        </p:txBody>
      </p:sp>
      <p:sp>
        <p:nvSpPr>
          <p:cNvPr id="3" name="">
            <a:extLst xmlns:a="http://schemas.openxmlformats.org/drawingml/2006/main">
              <a:ext uri="{FF2B5EF4-FFF2-40B4-BE49-F238E27FC236}">
                <a16:creationId xmlns:a16="http://schemas.microsoft.com/office/drawing/2014/main" id="{51A9A3F7-3FCC-457E-8F33-D62D96B941DB}"/>
              </a:ext>
            </a:extLst>
          </p:cNvPr>
          <p:cNvSpPr>
            <a:spLocks xmlns:a="http://schemas.openxmlformats.org/drawingml/2006/main" noGrp="1"/>
          </p:cNvSpPr>
          <p:nvPr/>
        </p:nvSpPr>
        <p:spPr>
          <a:xfrm xmlns:a="http://schemas.openxmlformats.org/drawingml/2006/main">
            <a:off x="1123950" y="1695450"/>
            <a:ext cx="99060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172433"/>
                </a:solidFill>
                <a:latin typeface="Arial"/>
                <a:ea typeface="Arial"/>
                <a:cs typeface="Arial"/>
              </a:defRPr>
            </a:defPPr>
          </a:lstStyle>
          <a:p xmlns:a="http://schemas.openxmlformats.org/drawingml/2006/main">
            <a:pPr marL="254000" indent="-127000">
              <a:spcAft>
                <a:spcPts val="1400"/>
              </a:spcAft>
              <a:buChar char="•"/>
              <a:defRPr sz="2175">
                <a:solidFill>
                  <a:srgbClr val="172433"/>
                </a:solidFill>
                <a:latin typeface="Arial"/>
                <a:ea typeface="Arial"/>
                <a:cs typeface="Arial"/>
              </a:defRPr>
            </a:pPr>
            <a:r>
              <a:rPr sz="2175">
                <a:solidFill>
                  <a:srgbClr val="172433"/>
                </a:solidFill>
                <a:latin typeface="Arial"/>
                <a:ea typeface="Arial"/>
                <a:cs typeface="Arial"/>
              </a:rPr>
              <a:t>Update the class repository with git pull</a:t>
            </a:r>
          </a:p>
          <a:p xmlns:a="http://schemas.openxmlformats.org/drawingml/2006/main">
            <a:pPr marL="254000" indent="-127000">
              <a:spcAft>
                <a:spcPts val="1400"/>
              </a:spcAft>
              <a:buChar char="•"/>
              <a:defRPr sz="2175">
                <a:solidFill>
                  <a:srgbClr val="172433"/>
                </a:solidFill>
                <a:latin typeface="Arial"/>
                <a:ea typeface="Arial"/>
                <a:cs typeface="Arial"/>
              </a:defRPr>
            </a:pPr>
            <a:r>
              <a:rPr sz="2175">
                <a:solidFill>
                  <a:srgbClr val="172433"/>
                </a:solidFill>
                <a:latin typeface="Arial"/>
                <a:ea typeface="Arial"/>
                <a:cs typeface="Arial"/>
              </a:rPr>
              <a:t>Use input, variables, and choices in Python</a:t>
            </a:r>
          </a:p>
          <a:p xmlns:a="http://schemas.openxmlformats.org/drawingml/2006/main">
            <a:pPr marL="254000" indent="-127000">
              <a:spcAft>
                <a:spcPts val="1400"/>
              </a:spcAft>
              <a:buChar char="•"/>
              <a:defRPr sz="2175">
                <a:solidFill>
                  <a:srgbClr val="172433"/>
                </a:solidFill>
                <a:latin typeface="Arial"/>
                <a:ea typeface="Arial"/>
                <a:cs typeface="Arial"/>
              </a:defRPr>
            </a:pPr>
            <a:r>
              <a:rPr sz="2175">
                <a:solidFill>
                  <a:srgbClr val="172433"/>
                </a:solidFill>
                <a:latin typeface="Arial"/>
                <a:ea typeface="Arial"/>
                <a:cs typeface="Arial"/>
              </a:rPr>
              <a:t>Ask ChatGPT for a bounded change and verify it</a:t>
            </a:r>
          </a:p>
          <a:p xmlns:a="http://schemas.openxmlformats.org/drawingml/2006/main">
            <a:pPr marL="254000" indent="-127000">
              <a:spcAft>
                <a:spcPts val="1400"/>
              </a:spcAft>
              <a:buChar char="•"/>
              <a:defRPr sz="2175">
                <a:solidFill>
                  <a:srgbClr val="172433"/>
                </a:solidFill>
                <a:latin typeface="Arial"/>
                <a:ea typeface="Arial"/>
                <a:cs typeface="Arial"/>
              </a:defRPr>
            </a:pPr>
            <a:r>
              <a:rPr sz="2175">
                <a:solidFill>
                  <a:srgbClr val="172433"/>
                </a:solidFill>
                <a:latin typeface="Arial"/>
                <a:ea typeface="Arial"/>
                <a:cs typeface="Arial"/>
              </a:rPr>
              <a:t>Launch the project by double-clicking start.bat</a:t>
            </a:r>
          </a:p>
          <a:p xmlns:a="http://schemas.openxmlformats.org/drawingml/2006/main">
            <a:pPr marL="254000" indent="-127000">
              <a:spcAft>
                <a:spcPts val="1400"/>
              </a:spcAft>
              <a:buChar char="•"/>
              <a:defRPr sz="2175">
                <a:solidFill>
                  <a:srgbClr val="172433"/>
                </a:solidFill>
                <a:latin typeface="Arial"/>
                <a:ea typeface="Arial"/>
                <a:cs typeface="Arial"/>
              </a:defRPr>
            </a:pPr>
            <a:r>
              <a:rPr sz="2175">
                <a:solidFill>
                  <a:srgbClr val="172433"/>
                </a:solidFill>
                <a:latin typeface="Arial"/>
                <a:ea typeface="Arial"/>
                <a:cs typeface="Arial"/>
              </a:rPr>
              <a:t>Implement one improvement requested by a peer</a:t>
            </a:r>
          </a:p>
        </p:txBody>
      </p:sp>
      <p:sp>
        <p:nvSpPr>
          <p:cNvPr id="4" name="">
            <a:extLst xmlns:a="http://schemas.openxmlformats.org/drawingml/2006/main">
              <a:ext uri="{FF2B5EF4-FFF2-40B4-BE49-F238E27FC236}">
                <a16:creationId xmlns:a16="http://schemas.microsoft.com/office/drawing/2014/main" id="{679302B5-3D0F-4378-9AD9-E135BD19B9B0}"/>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9:30-9:45 | Goals and starter project</a:t>
            </a:r>
          </a:p>
        </p:txBody>
      </p:sp>
    </p:spTree>
    <p:extLst>
      <p:ext uri="{BB962C8B-B14F-4D97-AF65-F5344CB8AC3E}">
        <p14:creationId xmlns:p14="http://schemas.microsoft.com/office/powerpoint/2010/main" val="9520057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76DE7A-5DCF-4D24-9E80-D4524A9F719B}"/>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The Saturday update routine</a:t>
            </a:r>
          </a:p>
        </p:txBody>
      </p:sp>
      <p:sp>
        <p:nvSpPr>
          <p:cNvPr id="2" name="">
            <a:extLst xmlns:a="http://schemas.openxmlformats.org/drawingml/2006/main">
              <a:ext uri="{FF2B5EF4-FFF2-40B4-BE49-F238E27FC236}">
                <a16:creationId xmlns:a16="http://schemas.microsoft.com/office/drawing/2014/main" id="{770B4745-4AFD-4841-98C5-55E4825C1CB1}"/>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Start every class from the repository folder</a:t>
            </a:r>
          </a:p>
        </p:txBody>
      </p:sp>
      <p:sp>
        <p:nvSpPr>
          <p:cNvPr id="3" name="">
            <a:extLst xmlns:a="http://schemas.openxmlformats.org/drawingml/2006/main">
              <a:ext uri="{FF2B5EF4-FFF2-40B4-BE49-F238E27FC236}">
                <a16:creationId xmlns:a16="http://schemas.microsoft.com/office/drawing/2014/main" id="{2D0BE5A4-5980-47FC-92EA-51B6E04790DF}"/>
              </a:ext>
            </a:extLst>
          </p:cNvPr>
          <p:cNvSpPr>
            <a:spLocks xmlns:a="http://schemas.openxmlformats.org/drawingml/2006/main" noGrp="1"/>
          </p:cNvSpPr>
          <p:nvPr/>
        </p:nvSpPr>
        <p:spPr>
          <a:xfrm xmlns:a="http://schemas.openxmlformats.org/drawingml/2006/main">
            <a:off x="914400" y="1809750"/>
            <a:ext cx="4953000" cy="2381250"/>
          </a:xfrm>
          <a:prstGeom xmlns:a="http://schemas.openxmlformats.org/drawingml/2006/main" prst="roundRect">
            <a:avLst>
              <a:gd name="adj" fmla="val 3200"/>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850" b="0" i="0">
                <a:solidFill>
                  <a:srgbClr val="D9F2CF"/>
                </a:solidFill>
                <a:latin typeface="Consolas"/>
                <a:ea typeface="Consolas"/>
                <a:cs typeface="Consolas"/>
              </a:defRPr>
            </a:defPPr>
          </a:lstStyle>
          <a:p xmlns:a="http://schemas.openxmlformats.org/drawingml/2006/main">
            <a:pPr>
              <a:defRPr sz="2850" b="0" i="0">
                <a:solidFill>
                  <a:srgbClr val="D9F2CF"/>
                </a:solidFill>
                <a:latin typeface="Consolas"/>
                <a:ea typeface="Consolas"/>
                <a:cs typeface="Consolas"/>
              </a:defRPr>
            </a:pPr>
            <a:r>
              <a:rPr sz="2850" b="0" i="0">
                <a:solidFill>
                  <a:srgbClr val="D9F2CF"/>
                </a:solidFill>
                <a:latin typeface="Consolas"/>
                <a:ea typeface="Consolas"/>
                <a:cs typeface="Consolas"/>
              </a:rPr>
              <a:t>git status</a:t>
            </a:r>
          </a:p>
          <a:p xmlns:a="http://schemas.openxmlformats.org/drawingml/2006/main">
            <a:pPr>
              <a:defRPr sz="2850" b="0" i="0">
                <a:solidFill>
                  <a:srgbClr val="D9F2CF"/>
                </a:solidFill>
                <a:latin typeface="Consolas"/>
                <a:ea typeface="Consolas"/>
                <a:cs typeface="Consolas"/>
              </a:defRPr>
            </a:pPr>
            <a:r>
              <a:rPr sz="2850" b="0" i="0">
                <a:solidFill>
                  <a:srgbClr val="D9F2CF"/>
                </a:solidFill>
                <a:latin typeface="Consolas"/>
                <a:ea typeface="Consolas"/>
                <a:cs typeface="Consolas"/>
              </a:rPr>
              <a:t>git pull</a:t>
            </a:r>
          </a:p>
          <a:p xmlns:a="http://schemas.openxmlformats.org/drawingml/2006/main">
            <a:pPr>
              <a:defRPr sz="2850" b="0" i="0">
                <a:solidFill>
                  <a:srgbClr val="D9F2CF"/>
                </a:solidFill>
                <a:latin typeface="Consolas"/>
                <a:ea typeface="Consolas"/>
                <a:cs typeface="Consolas"/>
              </a:defRPr>
            </a:pPr>
            <a:r>
              <a:rPr sz="2850" b="0" i="0">
                <a:solidFill>
                  <a:srgbClr val="D9F2CF"/>
                </a:solidFill>
                <a:latin typeface="Consolas"/>
                <a:ea typeface="Consolas"/>
                <a:cs typeface="Consolas"/>
              </a:rPr>
              <a:t>code .</a:t>
            </a:r>
          </a:p>
        </p:txBody>
      </p:sp>
      <p:sp>
        <p:nvSpPr>
          <p:cNvPr id="4" name="">
            <a:extLst xmlns:a="http://schemas.openxmlformats.org/drawingml/2006/main">
              <a:ext uri="{FF2B5EF4-FFF2-40B4-BE49-F238E27FC236}">
                <a16:creationId xmlns:a16="http://schemas.microsoft.com/office/drawing/2014/main" id="{9F1770F3-F231-4BB2-AE90-0C6CBE44BBEB}"/>
              </a:ext>
            </a:extLst>
          </p:cNvPr>
          <p:cNvSpPr>
            <a:spLocks xmlns:a="http://schemas.openxmlformats.org/drawingml/2006/main" noGrp="1"/>
          </p:cNvSpPr>
          <p:nvPr/>
        </p:nvSpPr>
        <p:spPr>
          <a:xfrm xmlns:a="http://schemas.openxmlformats.org/drawingml/2006/main">
            <a:off x="6477000" y="1790700"/>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a:solidFill>
                  <a:srgbClr val="172433"/>
                </a:solidFill>
                <a:latin typeface="Arial"/>
                <a:ea typeface="Arial"/>
                <a:cs typeface="Arial"/>
              </a:defRPr>
            </a:defPPr>
          </a:lstStyle>
          <a:p xmlns:a="http://schemas.openxmlformats.org/drawingml/2006/main">
            <a:pPr marL="254000" indent="-127000">
              <a:spcAft>
                <a:spcPts val="1700"/>
              </a:spcAft>
              <a:buChar char="•"/>
              <a:defRPr sz="2025">
                <a:solidFill>
                  <a:srgbClr val="172433"/>
                </a:solidFill>
                <a:latin typeface="Arial"/>
                <a:ea typeface="Arial"/>
                <a:cs typeface="Arial"/>
              </a:defRPr>
            </a:pPr>
            <a:r>
              <a:rPr sz="2025">
                <a:solidFill>
                  <a:srgbClr val="172433"/>
                </a:solidFill>
                <a:latin typeface="Arial"/>
                <a:ea typeface="Arial"/>
                <a:cs typeface="Arial"/>
              </a:rPr>
              <a:t>git status checks for local changes</a:t>
            </a:r>
          </a:p>
          <a:p xmlns:a="http://schemas.openxmlformats.org/drawingml/2006/main">
            <a:pPr marL="254000" indent="-127000">
              <a:spcAft>
                <a:spcPts val="1700"/>
              </a:spcAft>
              <a:buChar char="•"/>
              <a:defRPr sz="2025">
                <a:solidFill>
                  <a:srgbClr val="172433"/>
                </a:solidFill>
                <a:latin typeface="Arial"/>
                <a:ea typeface="Arial"/>
                <a:cs typeface="Arial"/>
              </a:defRPr>
            </a:pPr>
            <a:r>
              <a:rPr sz="2025">
                <a:solidFill>
                  <a:srgbClr val="172433"/>
                </a:solidFill>
                <a:latin typeface="Arial"/>
                <a:ea typeface="Arial"/>
                <a:cs typeface="Arial"/>
              </a:rPr>
              <a:t>git pull downloads the newest lessons</a:t>
            </a:r>
          </a:p>
          <a:p xmlns:a="http://schemas.openxmlformats.org/drawingml/2006/main">
            <a:pPr marL="254000" indent="-127000">
              <a:spcAft>
                <a:spcPts val="1700"/>
              </a:spcAft>
              <a:buChar char="•"/>
              <a:defRPr sz="2025">
                <a:solidFill>
                  <a:srgbClr val="172433"/>
                </a:solidFill>
                <a:latin typeface="Arial"/>
                <a:ea typeface="Arial"/>
                <a:cs typeface="Arial"/>
              </a:defRPr>
            </a:pPr>
            <a:r>
              <a:rPr sz="2025">
                <a:solidFill>
                  <a:srgbClr val="172433"/>
                </a:solidFill>
                <a:latin typeface="Arial"/>
                <a:ea typeface="Arial"/>
                <a:cs typeface="Arial"/>
              </a:rPr>
              <a:t>code . opens this folder in VS Code</a:t>
            </a:r>
          </a:p>
        </p:txBody>
      </p:sp>
      <p:sp>
        <p:nvSpPr>
          <p:cNvPr id="5" name="">
            <a:extLst xmlns:a="http://schemas.openxmlformats.org/drawingml/2006/main">
              <a:ext uri="{FF2B5EF4-FFF2-40B4-BE49-F238E27FC236}">
                <a16:creationId xmlns:a16="http://schemas.microsoft.com/office/drawing/2014/main" id="{26074271-980E-4F5F-A3F4-A7BC9D22C1E2}"/>
              </a:ext>
            </a:extLst>
          </p:cNvPr>
          <p:cNvSpPr>
            <a:spLocks xmlns:a="http://schemas.openxmlformats.org/drawingml/2006/main" noGrp="1"/>
          </p:cNvSpPr>
          <p:nvPr/>
        </p:nvSpPr>
        <p:spPr>
          <a:xfrm xmlns:a="http://schemas.openxmlformats.org/drawingml/2006/main">
            <a:off x="1524000" y="5143500"/>
            <a:ext cx="914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DF6765"/>
                </a:solidFill>
                <a:latin typeface="Arial"/>
                <a:ea typeface="Arial"/>
                <a:cs typeface="Arial"/>
              </a:defRPr>
            </a:defPPr>
          </a:lstStyle>
          <a:p xmlns:a="http://schemas.openxmlformats.org/drawingml/2006/main">
            <a:pPr>
              <a:defRPr sz="2100" b="1" i="0">
                <a:solidFill>
                  <a:srgbClr val="DF6765"/>
                </a:solidFill>
                <a:latin typeface="Arial"/>
                <a:ea typeface="Arial"/>
                <a:cs typeface="Arial"/>
              </a:defRPr>
            </a:pPr>
            <a:r>
              <a:rPr sz="2100" b="1" i="0">
                <a:solidFill>
                  <a:srgbClr val="DF6765"/>
                </a:solidFill>
                <a:latin typeface="Arial"/>
                <a:ea typeface="Arial"/>
                <a:cs typeface="Arial"/>
              </a:rPr>
              <a:t>Stop and ask for help if git pull reports a conflict.</a:t>
            </a:r>
          </a:p>
        </p:txBody>
      </p:sp>
      <p:sp>
        <p:nvSpPr>
          <p:cNvPr id="6" name="">
            <a:extLst xmlns:a="http://schemas.openxmlformats.org/drawingml/2006/main">
              <a:ext uri="{FF2B5EF4-FFF2-40B4-BE49-F238E27FC236}">
                <a16:creationId xmlns:a16="http://schemas.microsoft.com/office/drawing/2014/main" id="{C2F88778-0EF8-454B-8417-BC313495771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9:15-9:25 | Repository update</a:t>
            </a:r>
          </a:p>
        </p:txBody>
      </p:sp>
    </p:spTree>
    <p:extLst>
      <p:ext uri="{BB962C8B-B14F-4D97-AF65-F5344CB8AC3E}">
        <p14:creationId xmlns:p14="http://schemas.microsoft.com/office/powerpoint/2010/main" val="468466252"/>
      </p:ext>
    </p:extLst>
  </p:cSld>
</p:sld>
</file>

<file path=ppt/slides/slide6.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1BD70D-8041-4CF0-8845-B2E0F17E087F}"/>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Git Graph for VS Code</a:t>
            </a:r>
          </a:p>
        </p:txBody>
      </p:sp>
      <p:sp>
        <p:nvSpPr>
          <p:cNvPr id="2" name="">
            <a:extLst xmlns:a="http://schemas.openxmlformats.org/drawingml/2006/main">
              <a:ext uri="{FF2B5EF4-FFF2-40B4-BE49-F238E27FC236}">
                <a16:creationId xmlns:a16="http://schemas.microsoft.com/office/drawing/2014/main" id="{EB45C8CB-930B-49ED-B1F6-DF94E11E27B9}"/>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A visual map of how the repository changes</a:t>
            </a:r>
          </a:p>
        </p:txBody>
      </p:sp>
      <p:sp>
        <p:nvSpPr>
          <p:cNvPr id="3" name="">
            <a:extLst xmlns:a="http://schemas.openxmlformats.org/drawingml/2006/main">
              <a:ext uri="{FF2B5EF4-FFF2-40B4-BE49-F238E27FC236}">
                <a16:creationId xmlns:a16="http://schemas.microsoft.com/office/drawing/2014/main" id="{29B3BB39-A7EB-4B70-8873-FA901EFA2C13}"/>
              </a:ext>
            </a:extLst>
          </p:cNvPr>
          <p:cNvSpPr>
            <a:spLocks xmlns:a="http://schemas.openxmlformats.org/drawingml/2006/main" noGrp="1"/>
          </p:cNvSpPr>
          <p:nvPr/>
        </p:nvSpPr>
        <p:spPr>
          <a:xfrm xmlns:a="http://schemas.openxmlformats.org/drawingml/2006/main">
            <a:off x="876300" y="16573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7D851910-B9EF-4B8C-B788-9662E629588C}"/>
              </a:ext>
            </a:extLst>
          </p:cNvPr>
          <p:cNvSpPr>
            <a:spLocks xmlns:a="http://schemas.openxmlformats.org/drawingml/2006/main" noGrp="1"/>
          </p:cNvSpPr>
          <p:nvPr/>
        </p:nvSpPr>
        <p:spPr>
          <a:xfrm xmlns:a="http://schemas.openxmlformats.org/drawingml/2006/main">
            <a:off x="1752600" y="16573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Open the VS Code terminal</a:t>
            </a:r>
          </a:p>
        </p:txBody>
      </p:sp>
      <p:sp>
        <p:nvSpPr>
          <p:cNvPr id="5" name="">
            <a:extLst xmlns:a="http://schemas.openxmlformats.org/drawingml/2006/main">
              <a:ext uri="{FF2B5EF4-FFF2-40B4-BE49-F238E27FC236}">
                <a16:creationId xmlns:a16="http://schemas.microsoft.com/office/drawing/2014/main" id="{9BE7F48C-1E13-428D-A663-88B400DC3815}"/>
              </a:ext>
            </a:extLst>
          </p:cNvPr>
          <p:cNvSpPr>
            <a:spLocks xmlns:a="http://schemas.openxmlformats.org/drawingml/2006/main" noGrp="1"/>
          </p:cNvSpPr>
          <p:nvPr/>
        </p:nvSpPr>
        <p:spPr>
          <a:xfrm xmlns:a="http://schemas.openxmlformats.org/drawingml/2006/main">
            <a:off x="876300" y="25527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5E5309BB-62FB-4C7A-B5E2-331C47CFBA1C}"/>
              </a:ext>
            </a:extLst>
          </p:cNvPr>
          <p:cNvSpPr>
            <a:spLocks xmlns:a="http://schemas.openxmlformats.org/drawingml/2006/main" noGrp="1"/>
          </p:cNvSpPr>
          <p:nvPr/>
        </p:nvSpPr>
        <p:spPr>
          <a:xfrm xmlns:a="http://schemas.openxmlformats.org/drawingml/2006/main">
            <a:off x="1752600" y="25527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Run the installation command</a:t>
            </a:r>
          </a:p>
        </p:txBody>
      </p:sp>
      <p:sp>
        <p:nvSpPr>
          <p:cNvPr id="7" name="">
            <a:extLst xmlns:a="http://schemas.openxmlformats.org/drawingml/2006/main">
              <a:ext uri="{FF2B5EF4-FFF2-40B4-BE49-F238E27FC236}">
                <a16:creationId xmlns:a16="http://schemas.microsoft.com/office/drawing/2014/main" id="{48D396BE-84EC-410E-B0CA-A35F4A2551AB}"/>
              </a:ext>
            </a:extLst>
          </p:cNvPr>
          <p:cNvSpPr>
            <a:spLocks xmlns:a="http://schemas.openxmlformats.org/drawingml/2006/main" noGrp="1"/>
          </p:cNvSpPr>
          <p:nvPr/>
        </p:nvSpPr>
        <p:spPr>
          <a:xfrm xmlns:a="http://schemas.openxmlformats.org/drawingml/2006/main">
            <a:off x="876300" y="34480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6185F515-2F12-4D56-A513-ED7A68BC8D66}"/>
              </a:ext>
            </a:extLst>
          </p:cNvPr>
          <p:cNvSpPr>
            <a:spLocks xmlns:a="http://schemas.openxmlformats.org/drawingml/2006/main" noGrp="1"/>
          </p:cNvSpPr>
          <p:nvPr/>
        </p:nvSpPr>
        <p:spPr>
          <a:xfrm xmlns:a="http://schemas.openxmlformats.org/drawingml/2006/main">
            <a:off x="1752600" y="34480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Open the Command Palette with Ctrl+Shift+P</a:t>
            </a:r>
          </a:p>
        </p:txBody>
      </p:sp>
      <p:sp>
        <p:nvSpPr>
          <p:cNvPr id="9" name="">
            <a:extLst xmlns:a="http://schemas.openxmlformats.org/drawingml/2006/main">
              <a:ext uri="{FF2B5EF4-FFF2-40B4-BE49-F238E27FC236}">
                <a16:creationId xmlns:a16="http://schemas.microsoft.com/office/drawing/2014/main" id="{14C7A619-E4EF-45AD-A0D5-8979501DEB2B}"/>
              </a:ext>
            </a:extLst>
          </p:cNvPr>
          <p:cNvSpPr>
            <a:spLocks xmlns:a="http://schemas.openxmlformats.org/drawingml/2006/main" noGrp="1"/>
          </p:cNvSpPr>
          <p:nvPr/>
        </p:nvSpPr>
        <p:spPr>
          <a:xfrm xmlns:a="http://schemas.openxmlformats.org/drawingml/2006/main">
            <a:off x="1752600" y="4114800"/>
            <a:ext cx="8858250" cy="647700"/>
          </a:xfrm>
          <a:prstGeom xmlns:a="http://schemas.openxmlformats.org/drawingml/2006/main" prst="roundRect">
            <a:avLst>
              <a:gd name="adj" fmla="val 11765"/>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1875" b="0" i="0">
                <a:solidFill>
                  <a:srgbClr val="D9F2CF"/>
                </a:solidFill>
                <a:latin typeface="Consolas"/>
                <a:ea typeface="Consolas"/>
                <a:cs typeface="Consolas"/>
              </a:defRPr>
            </a:defPPr>
          </a:lstStyle>
          <a:p xmlns:a="http://schemas.openxmlformats.org/drawingml/2006/main">
            <a:pPr>
              <a:defRPr sz="1875" b="0" i="0">
                <a:solidFill>
                  <a:srgbClr val="D9F2CF"/>
                </a:solidFill>
                <a:latin typeface="Consolas"/>
                <a:ea typeface="Consolas"/>
                <a:cs typeface="Consolas"/>
              </a:defRPr>
            </a:pPr>
            <a:r>
              <a:rPr sz="1875" b="0" i="0">
                <a:solidFill>
                  <a:srgbClr val="D9F2CF"/>
                </a:solidFill>
                <a:latin typeface="Consolas"/>
                <a:ea typeface="Consolas"/>
                <a:cs typeface="Consolas"/>
              </a:rPr>
              <a:t>code --install-extension mhutchie.git-graph</a:t>
            </a:r>
          </a:p>
        </p:txBody>
      </p:sp>
      <p:sp>
        <p:nvSpPr>
          <p:cNvPr id="10" name="">
            <a:extLst xmlns:a="http://schemas.openxmlformats.org/drawingml/2006/main">
              <a:ext uri="{FF2B5EF4-FFF2-40B4-BE49-F238E27FC236}">
                <a16:creationId xmlns:a16="http://schemas.microsoft.com/office/drawing/2014/main" id="{E969498A-0755-40CC-B1A1-4EA3649F1C34}"/>
              </a:ext>
            </a:extLst>
          </p:cNvPr>
          <p:cNvSpPr>
            <a:spLocks xmlns:a="http://schemas.openxmlformats.org/drawingml/2006/main" noGrp="1"/>
          </p:cNvSpPr>
          <p:nvPr/>
        </p:nvSpPr>
        <p:spPr>
          <a:xfrm xmlns:a="http://schemas.openxmlformats.org/drawingml/2006/main">
            <a:off x="1752600" y="491490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5F9F4B"/>
                </a:solidFill>
                <a:latin typeface="Consolas"/>
                <a:ea typeface="Consolas"/>
                <a:cs typeface="Consolas"/>
              </a:defRPr>
            </a:defPPr>
          </a:lstStyle>
          <a:p xmlns:a="http://schemas.openxmlformats.org/drawingml/2006/main">
            <a:pPr>
              <a:defRPr sz="2025" b="1" i="0">
                <a:solidFill>
                  <a:srgbClr val="5F9F4B"/>
                </a:solidFill>
                <a:latin typeface="Consolas"/>
                <a:ea typeface="Consolas"/>
                <a:cs typeface="Consolas"/>
              </a:defRPr>
            </a:pPr>
            <a:r>
              <a:rPr sz="2025" b="1" i="0">
                <a:solidFill>
                  <a:srgbClr val="5F9F4B"/>
                </a:solidFill>
                <a:latin typeface="Consolas"/>
                <a:ea typeface="Consolas"/>
                <a:cs typeface="Consolas"/>
              </a:rPr>
              <a:t>Choose Git Graph: View Git Graph</a:t>
            </a:r>
          </a:p>
        </p:txBody>
      </p:sp>
      <p:sp>
        <p:nvSpPr>
          <p:cNvPr id="11" name="">
            <a:extLst xmlns:a="http://schemas.openxmlformats.org/drawingml/2006/main">
              <a:ext uri="{FF2B5EF4-FFF2-40B4-BE49-F238E27FC236}">
                <a16:creationId xmlns:a16="http://schemas.microsoft.com/office/drawing/2014/main" id="{23DBB26C-18DA-4ED4-81DF-844A0C09D21B}"/>
              </a:ext>
            </a:extLst>
          </p:cNvPr>
          <p:cNvSpPr>
            <a:spLocks xmlns:a="http://schemas.openxmlformats.org/drawingml/2006/main" noGrp="1"/>
          </p:cNvSpPr>
          <p:nvPr/>
        </p:nvSpPr>
        <p:spPr>
          <a:xfrm xmlns:a="http://schemas.openxmlformats.org/drawingml/2006/main">
            <a:off x="1752600" y="5562600"/>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DF6765"/>
                </a:solidFill>
                <a:latin typeface="Arial"/>
                <a:ea typeface="Arial"/>
                <a:cs typeface="Arial"/>
              </a:defRPr>
            </a:defPPr>
          </a:lstStyle>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Find the commits that added the weekly lessons.</a:t>
            </a:r>
          </a:p>
        </p:txBody>
      </p:sp>
      <p:sp>
        <p:nvSpPr>
          <p:cNvPr id="12" name="">
            <a:extLst xmlns:a="http://schemas.openxmlformats.org/drawingml/2006/main">
              <a:ext uri="{FF2B5EF4-FFF2-40B4-BE49-F238E27FC236}">
                <a16:creationId xmlns:a16="http://schemas.microsoft.com/office/drawing/2014/main" id="{73EB3023-BE26-4E39-8B1F-FE8B4B835CA9}"/>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9:25-9:30 | Visualizing repository history</a:t>
            </a:r>
          </a:p>
        </p:txBody>
      </p:sp>
    </p:spTree>
    <p:extLst>
      <p:ext uri="{BB962C8B-B14F-4D97-AF65-F5344CB8AC3E}">
        <p14:creationId xmlns:p14="http://schemas.microsoft.com/office/powerpoint/2010/main" val="6418173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3D5964-F518-492D-AED9-913CC05BDFD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From source code to a running program</a:t>
            </a:r>
          </a:p>
        </p:txBody>
      </p:sp>
      <p:sp>
        <p:nvSpPr>
          <p:cNvPr id="2" name="">
            <a:extLst xmlns:a="http://schemas.openxmlformats.org/drawingml/2006/main">
              <a:ext uri="{FF2B5EF4-FFF2-40B4-BE49-F238E27FC236}">
                <a16:creationId xmlns:a16="http://schemas.microsoft.com/office/drawing/2014/main" id="{B0F3E42C-9A7A-4EE7-9AD9-94456A5B4FE5}"/>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Python handles preparation automatically when we run the file</a:t>
            </a:r>
          </a:p>
        </p:txBody>
      </p:sp>
      <p:sp>
        <p:nvSpPr>
          <p:cNvPr id="3" name="">
            <a:extLst xmlns:a="http://schemas.openxmlformats.org/drawingml/2006/main">
              <a:ext uri="{FF2B5EF4-FFF2-40B4-BE49-F238E27FC236}">
                <a16:creationId xmlns:a16="http://schemas.microsoft.com/office/drawing/2014/main" id="{A6E47614-9675-4EEC-9DDD-B66257756D05}"/>
              </a:ext>
            </a:extLst>
          </p:cNvPr>
          <p:cNvSpPr>
            <a:spLocks xmlns:a="http://schemas.openxmlformats.org/drawingml/2006/main" noGrp="1"/>
          </p:cNvSpPr>
          <p:nvPr/>
        </p:nvSpPr>
        <p:spPr>
          <a:xfrm xmlns:a="http://schemas.openxmlformats.org/drawingml/2006/main">
            <a:off x="571500" y="2266950"/>
            <a:ext cx="1809750" cy="781050"/>
          </a:xfrm>
          <a:prstGeom xmlns:a="http://schemas.openxmlformats.org/drawingml/2006/main" prst="roundRect">
            <a:avLst>
              <a:gd name="adj" fmla="val 9756"/>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173654"/>
                </a:solidFill>
                <a:latin typeface="Arial"/>
                <a:ea typeface="Arial"/>
                <a:cs typeface="Arial"/>
              </a:defRPr>
            </a:defPPr>
          </a:lstStyle>
          <a:p xmlns:a="http://schemas.openxmlformats.org/drawingml/2006/main">
            <a:pPr>
              <a:defRPr sz="1875" b="1" i="0">
                <a:solidFill>
                  <a:srgbClr val="173654"/>
                </a:solidFill>
                <a:latin typeface="Arial"/>
                <a:ea typeface="Arial"/>
                <a:cs typeface="Arial"/>
              </a:defRPr>
            </a:pPr>
            <a:r>
              <a:rPr sz="1875" b="1" i="0">
                <a:solidFill>
                  <a:srgbClr val="173654"/>
                </a:solidFill>
                <a:latin typeface="Arial"/>
                <a:ea typeface="Arial"/>
                <a:cs typeface="Arial"/>
              </a:rPr>
              <a:t>WRITE</a:t>
            </a:r>
          </a:p>
        </p:txBody>
      </p:sp>
      <p:sp>
        <p:nvSpPr>
          <p:cNvPr id="4" name="">
            <a:extLst xmlns:a="http://schemas.openxmlformats.org/drawingml/2006/main">
              <a:ext uri="{FF2B5EF4-FFF2-40B4-BE49-F238E27FC236}">
                <a16:creationId xmlns:a16="http://schemas.microsoft.com/office/drawing/2014/main" id="{F2FEEB3E-2A85-431A-8A2A-BC1CCD8729DD}"/>
              </a:ext>
            </a:extLst>
          </p:cNvPr>
          <p:cNvSpPr>
            <a:spLocks xmlns:a="http://schemas.openxmlformats.org/drawingml/2006/main" noGrp="1"/>
          </p:cNvSpPr>
          <p:nvPr/>
        </p:nvSpPr>
        <p:spPr>
          <a:xfrm xmlns:a="http://schemas.openxmlformats.org/drawingml/2006/main">
            <a:off x="2895600" y="2266950"/>
            <a:ext cx="1809750" cy="781050"/>
          </a:xfrm>
          <a:prstGeom xmlns:a="http://schemas.openxmlformats.org/drawingml/2006/main" prst="roundRect">
            <a:avLst>
              <a:gd name="adj" fmla="val 9756"/>
            </a:avLst>
          </a:prstGeom>
          <a:solidFill xmlns:a="http://schemas.openxmlformats.org/drawingml/2006/main">
            <a:srgbClr val="EDF5E9"/>
          </a:solidFill>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173654"/>
                </a:solidFill>
                <a:latin typeface="Arial"/>
                <a:ea typeface="Arial"/>
                <a:cs typeface="Arial"/>
              </a:defRPr>
            </a:defPPr>
          </a:lstStyle>
          <a:p xmlns:a="http://schemas.openxmlformats.org/drawingml/2006/main">
            <a:pPr>
              <a:defRPr sz="1875" b="1" i="0">
                <a:solidFill>
                  <a:srgbClr val="173654"/>
                </a:solidFill>
                <a:latin typeface="Arial"/>
                <a:ea typeface="Arial"/>
                <a:cs typeface="Arial"/>
              </a:defRPr>
            </a:pPr>
            <a:r>
              <a:rPr sz="1875" b="1" i="0">
                <a:solidFill>
                  <a:srgbClr val="173654"/>
                </a:solidFill>
                <a:latin typeface="Arial"/>
                <a:ea typeface="Arial"/>
                <a:cs typeface="Arial"/>
              </a:rPr>
              <a:t>SAVE</a:t>
            </a:r>
          </a:p>
        </p:txBody>
      </p:sp>
      <p:sp>
        <p:nvSpPr>
          <p:cNvPr id="5" name="">
            <a:extLst xmlns:a="http://schemas.openxmlformats.org/drawingml/2006/main">
              <a:ext uri="{FF2B5EF4-FFF2-40B4-BE49-F238E27FC236}">
                <a16:creationId xmlns:a16="http://schemas.microsoft.com/office/drawing/2014/main" id="{C873DC1C-BA3E-46A4-AF3C-B5DCF0DE1581}"/>
              </a:ext>
            </a:extLst>
          </p:cNvPr>
          <p:cNvSpPr>
            <a:spLocks xmlns:a="http://schemas.openxmlformats.org/drawingml/2006/main" noGrp="1"/>
          </p:cNvSpPr>
          <p:nvPr/>
        </p:nvSpPr>
        <p:spPr>
          <a:xfrm xmlns:a="http://schemas.openxmlformats.org/drawingml/2006/main">
            <a:off x="5219700" y="2266950"/>
            <a:ext cx="1809750" cy="781050"/>
          </a:xfrm>
          <a:prstGeom xmlns:a="http://schemas.openxmlformats.org/drawingml/2006/main" prst="roundRect">
            <a:avLst>
              <a:gd name="adj" fmla="val 9756"/>
            </a:avLst>
          </a:prstGeom>
          <a:solidFill xmlns:a="http://schemas.openxmlformats.org/drawingml/2006/main">
            <a:srgbClr val="FBECEC"/>
          </a:solidFill>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173654"/>
                </a:solidFill>
                <a:latin typeface="Arial"/>
                <a:ea typeface="Arial"/>
                <a:cs typeface="Arial"/>
              </a:defRPr>
            </a:defPPr>
          </a:lstStyle>
          <a:p xmlns:a="http://schemas.openxmlformats.org/drawingml/2006/main">
            <a:pPr>
              <a:defRPr sz="1875" b="1" i="0">
                <a:solidFill>
                  <a:srgbClr val="173654"/>
                </a:solidFill>
                <a:latin typeface="Arial"/>
                <a:ea typeface="Arial"/>
                <a:cs typeface="Arial"/>
              </a:defRPr>
            </a:pPr>
            <a:r>
              <a:rPr sz="1875" b="1" i="0">
                <a:solidFill>
                  <a:srgbClr val="173654"/>
                </a:solidFill>
                <a:latin typeface="Arial"/>
                <a:ea typeface="Arial"/>
                <a:cs typeface="Arial"/>
              </a:rPr>
              <a:t>RUN</a:t>
            </a:r>
          </a:p>
        </p:txBody>
      </p:sp>
      <p:sp>
        <p:nvSpPr>
          <p:cNvPr id="6" name="">
            <a:extLst xmlns:a="http://schemas.openxmlformats.org/drawingml/2006/main">
              <a:ext uri="{FF2B5EF4-FFF2-40B4-BE49-F238E27FC236}">
                <a16:creationId xmlns:a16="http://schemas.microsoft.com/office/drawing/2014/main" id="{D2E27D21-1363-4C8C-B5C8-9FB3F1EA4318}"/>
              </a:ext>
            </a:extLst>
          </p:cNvPr>
          <p:cNvSpPr>
            <a:spLocks xmlns:a="http://schemas.openxmlformats.org/drawingml/2006/main" noGrp="1"/>
          </p:cNvSpPr>
          <p:nvPr/>
        </p:nvSpPr>
        <p:spPr>
          <a:xfrm xmlns:a="http://schemas.openxmlformats.org/drawingml/2006/main">
            <a:off x="7543800" y="2266950"/>
            <a:ext cx="1809750" cy="781050"/>
          </a:xfrm>
          <a:prstGeom xmlns:a="http://schemas.openxmlformats.org/drawingml/2006/main" prst="roundRect">
            <a:avLst>
              <a:gd name="adj" fmla="val 9756"/>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173654"/>
                </a:solidFill>
                <a:latin typeface="Arial"/>
                <a:ea typeface="Arial"/>
                <a:cs typeface="Arial"/>
              </a:defRPr>
            </a:defPPr>
          </a:lstStyle>
          <a:p xmlns:a="http://schemas.openxmlformats.org/drawingml/2006/main">
            <a:pPr>
              <a:defRPr sz="1875" b="1" i="0">
                <a:solidFill>
                  <a:srgbClr val="173654"/>
                </a:solidFill>
                <a:latin typeface="Arial"/>
                <a:ea typeface="Arial"/>
                <a:cs typeface="Arial"/>
              </a:defRPr>
            </a:pPr>
            <a:r>
              <a:rPr sz="1875" b="1" i="0">
                <a:solidFill>
                  <a:srgbClr val="173654"/>
                </a:solidFill>
                <a:latin typeface="Arial"/>
                <a:ea typeface="Arial"/>
                <a:cs typeface="Arial"/>
              </a:rPr>
              <a:t>OBSERVE</a:t>
            </a:r>
          </a:p>
        </p:txBody>
      </p:sp>
      <p:sp>
        <p:nvSpPr>
          <p:cNvPr id="7" name="">
            <a:extLst xmlns:a="http://schemas.openxmlformats.org/drawingml/2006/main">
              <a:ext uri="{FF2B5EF4-FFF2-40B4-BE49-F238E27FC236}">
                <a16:creationId xmlns:a16="http://schemas.microsoft.com/office/drawing/2014/main" id="{87AABB75-391E-49F4-BB4B-F48AB27A31B7}"/>
              </a:ext>
            </a:extLst>
          </p:cNvPr>
          <p:cNvSpPr>
            <a:spLocks xmlns:a="http://schemas.openxmlformats.org/drawingml/2006/main" noGrp="1"/>
          </p:cNvSpPr>
          <p:nvPr/>
        </p:nvSpPr>
        <p:spPr>
          <a:xfrm xmlns:a="http://schemas.openxmlformats.org/drawingml/2006/main">
            <a:off x="9867900" y="2266950"/>
            <a:ext cx="1809750" cy="781050"/>
          </a:xfrm>
          <a:prstGeom xmlns:a="http://schemas.openxmlformats.org/drawingml/2006/main" prst="roundRect">
            <a:avLst>
              <a:gd name="adj" fmla="val 9756"/>
            </a:avLst>
          </a:prstGeom>
          <a:solidFill xmlns:a="http://schemas.openxmlformats.org/drawingml/2006/main">
            <a:srgbClr val="EDF5E9"/>
          </a:solidFill>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173654"/>
                </a:solidFill>
                <a:latin typeface="Arial"/>
                <a:ea typeface="Arial"/>
                <a:cs typeface="Arial"/>
              </a:defRPr>
            </a:defPPr>
          </a:lstStyle>
          <a:p xmlns:a="http://schemas.openxmlformats.org/drawingml/2006/main">
            <a:pPr>
              <a:defRPr sz="1875" b="1" i="0">
                <a:solidFill>
                  <a:srgbClr val="173654"/>
                </a:solidFill>
                <a:latin typeface="Arial"/>
                <a:ea typeface="Arial"/>
                <a:cs typeface="Arial"/>
              </a:defRPr>
            </a:pPr>
            <a:r>
              <a:rPr sz="1875" b="1" i="0">
                <a:solidFill>
                  <a:srgbClr val="173654"/>
                </a:solidFill>
                <a:latin typeface="Arial"/>
                <a:ea typeface="Arial"/>
                <a:cs typeface="Arial"/>
              </a:rPr>
              <a:t>FIX</a:t>
            </a:r>
          </a:p>
        </p:txBody>
      </p:sp>
      <p:sp>
        <p:nvSpPr>
          <p:cNvPr id="8" name="">
            <a:extLst xmlns:a="http://schemas.openxmlformats.org/drawingml/2006/main">
              <a:ext uri="{FF2B5EF4-FFF2-40B4-BE49-F238E27FC236}">
                <a16:creationId xmlns:a16="http://schemas.microsoft.com/office/drawing/2014/main" id="{4AC37915-E60C-4B3E-AAAD-2569C1B22DCD}"/>
              </a:ext>
            </a:extLst>
          </p:cNvPr>
          <p:cNvSpPr>
            <a:spLocks xmlns:a="http://schemas.openxmlformats.org/drawingml/2006/main" noGrp="1"/>
          </p:cNvSpPr>
          <p:nvPr/>
        </p:nvSpPr>
        <p:spPr>
          <a:xfrm xmlns:a="http://schemas.openxmlformats.org/drawingml/2006/main">
            <a:off x="1428750" y="400050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5F9F4B"/>
                </a:solidFill>
                <a:latin typeface="Arial"/>
                <a:ea typeface="Arial"/>
                <a:cs typeface="Arial"/>
              </a:defRPr>
            </a:defPPr>
          </a:lstStyle>
          <a:p xmlns:a="http://schemas.openxmlformats.org/drawingml/2006/main">
            <a:pPr>
              <a:defRPr sz="2400" b="1" i="0">
                <a:solidFill>
                  <a:srgbClr val="5F9F4B"/>
                </a:solidFill>
                <a:latin typeface="Arial"/>
                <a:ea typeface="Arial"/>
                <a:cs typeface="Arial"/>
              </a:defRPr>
            </a:pPr>
            <a:r>
              <a:rPr sz="2400" b="1" i="0">
                <a:solidFill>
                  <a:srgbClr val="5F9F4B"/>
                </a:solidFill>
                <a:latin typeface="Arial"/>
                <a:ea typeface="Arial"/>
                <a:cs typeface="Arial"/>
              </a:rPr>
              <a:t>Run the cycle again after every meaningful change.</a:t>
            </a:r>
          </a:p>
        </p:txBody>
      </p:sp>
      <p:sp>
        <p:nvSpPr>
          <p:cNvPr id="9" name="">
            <a:extLst xmlns:a="http://schemas.openxmlformats.org/drawingml/2006/main">
              <a:ext uri="{FF2B5EF4-FFF2-40B4-BE49-F238E27FC236}">
                <a16:creationId xmlns:a16="http://schemas.microsoft.com/office/drawing/2014/main" id="{2AE8CED4-F516-457E-BFFF-AC761E5847BB}"/>
              </a:ext>
            </a:extLst>
          </p:cNvPr>
          <p:cNvSpPr>
            <a:spLocks xmlns:a="http://schemas.openxmlformats.org/drawingml/2006/main" noGrp="1"/>
          </p:cNvSpPr>
          <p:nvPr/>
        </p:nvSpPr>
        <p:spPr>
          <a:xfrm xmlns:a="http://schemas.openxmlformats.org/drawingml/2006/main">
            <a:off x="1714500" y="495300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i="0">
                <a:solidFill>
                  <a:srgbClr val="5D6B78"/>
                </a:solidFill>
                <a:latin typeface="Arial"/>
                <a:ea typeface="Arial"/>
                <a:cs typeface="Arial"/>
              </a:defRPr>
            </a:defPPr>
          </a:lstStyle>
          <a:p xmlns:a="http://schemas.openxmlformats.org/drawingml/2006/main">
            <a:pPr>
              <a:defRPr sz="1950" b="0" i="0">
                <a:solidFill>
                  <a:srgbClr val="5D6B78"/>
                </a:solidFill>
                <a:latin typeface="Arial"/>
                <a:ea typeface="Arial"/>
                <a:cs typeface="Arial"/>
              </a:defRPr>
            </a:pPr>
            <a:r>
              <a:rPr sz="1950" b="0" i="0">
                <a:solidFill>
                  <a:srgbClr val="5D6B78"/>
                </a:solidFill>
                <a:latin typeface="Arial"/>
                <a:ea typeface="Arial"/>
                <a:cs typeface="Arial"/>
              </a:rPr>
              <a:t>A clear error message gives us evidence about what to fix.</a:t>
            </a:r>
          </a:p>
        </p:txBody>
      </p:sp>
      <p:sp>
        <p:nvSpPr>
          <p:cNvPr id="10" name="">
            <a:extLst xmlns:a="http://schemas.openxmlformats.org/drawingml/2006/main">
              <a:ext uri="{FF2B5EF4-FFF2-40B4-BE49-F238E27FC236}">
                <a16:creationId xmlns:a16="http://schemas.microsoft.com/office/drawing/2014/main" id="{77BD0792-D90E-4CD2-A3A5-70780C681A0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9:45-10:00 | Development cycle</a:t>
            </a:r>
          </a:p>
        </p:txBody>
      </p:sp>
    </p:spTree>
    <p:extLst>
      <p:ext uri="{BB962C8B-B14F-4D97-AF65-F5344CB8AC3E}">
        <p14:creationId xmlns:p14="http://schemas.microsoft.com/office/powerpoint/2010/main" val="1863316132"/>
      </p:ext>
    </p:extLst>
  </p:cSld>
</p:sld>
</file>

<file path=ppt/slides/slide8.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071191-AD90-4D41-B369-83E7EFB89164}"/>
              </a:ext>
            </a:extLst>
          </p:cNvPr>
          <p:cNvSpPr>
            <a:spLocks xmlns:a="http://schemas.openxmlformats.org/drawingml/2006/main" noGrp="1"/>
          </p:cNvSpPr>
          <p:nvPr/>
        </p:nvSpPr>
        <p:spPr>
          <a:xfrm xmlns:a="http://schemas.openxmlformats.org/drawingml/2006/main">
            <a:off x="685800" y="4572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FFFFFF"/>
                </a:solidFill>
                <a:latin typeface="Arial"/>
                <a:ea typeface="Arial"/>
                <a:cs typeface="Arial"/>
              </a:defRPr>
            </a:defPPr>
          </a:lstStyle>
          <a:p xmlns:a="http://schemas.openxmlformats.org/drawingml/2006/main">
            <a:pPr>
              <a:defRPr sz="3000" b="1" i="0">
                <a:solidFill>
                  <a:srgbClr val="FFFFFF"/>
                </a:solidFill>
                <a:latin typeface="Arial"/>
                <a:ea typeface="Arial"/>
                <a:cs typeface="Arial"/>
              </a:defRPr>
            </a:pPr>
            <a:r>
              <a:rPr sz="3000" b="1" i="0">
                <a:solidFill>
                  <a:srgbClr val="FFFFFF"/>
                </a:solidFill>
                <a:latin typeface="Arial"/>
                <a:ea typeface="Arial"/>
                <a:cs typeface="Arial"/>
              </a:rPr>
              <a:t>Copyable starter code</a:t>
            </a:r>
          </a:p>
        </p:txBody>
      </p:sp>
      <p:sp>
        <p:nvSpPr>
          <p:cNvPr id="2" name="">
            <a:extLst xmlns:a="http://schemas.openxmlformats.org/drawingml/2006/main">
              <a:ext uri="{FF2B5EF4-FFF2-40B4-BE49-F238E27FC236}">
                <a16:creationId xmlns:a16="http://schemas.microsoft.com/office/drawing/2014/main" id="{7285E84A-BFB4-4EA9-B75C-5CF5D5584385}"/>
              </a:ext>
            </a:extLst>
          </p:cNvPr>
          <p:cNvSpPr>
            <a:spLocks xmlns:a="http://schemas.openxmlformats.org/drawingml/2006/main" noGrp="1"/>
          </p:cNvSpPr>
          <p:nvPr/>
        </p:nvSpPr>
        <p:spPr>
          <a:xfrm xmlns:a="http://schemas.openxmlformats.org/drawingml/2006/main">
            <a:off x="723900" y="11049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725" b="0" i="0">
                <a:solidFill>
                  <a:srgbClr val="B9DBA8"/>
                </a:solidFill>
                <a:latin typeface="Arial"/>
                <a:ea typeface="Arial"/>
                <a:cs typeface="Arial"/>
              </a:defRPr>
            </a:defPPr>
          </a:lstStyle>
          <a:p xmlns:a="http://schemas.openxmlformats.org/drawingml/2006/main">
            <a:pPr>
              <a:defRPr sz="1725" b="0" i="0">
                <a:solidFill>
                  <a:srgbClr val="B9DBA8"/>
                </a:solidFill>
                <a:latin typeface="Arial"/>
                <a:ea typeface="Arial"/>
                <a:cs typeface="Arial"/>
              </a:defRPr>
            </a:pPr>
            <a:r>
              <a:rPr sz="1725" b="0" i="0">
                <a:solidFill>
                  <a:srgbClr val="B9DBA8"/>
                </a:solidFill>
                <a:latin typeface="Arial"/>
                <a:ea typeface="Arial"/>
                <a:cs typeface="Arial"/>
              </a:rPr>
              <a:t>In PowerPoint Edit mode: click inside the code, press Ctrl+A, then Ctrl+C.</a:t>
            </a:r>
          </a:p>
        </p:txBody>
      </p:sp>
      <p:sp>
        <p:nvSpPr>
          <p:cNvPr id="3" name="">
            <a:extLst xmlns:a="http://schemas.openxmlformats.org/drawingml/2006/main">
              <a:ext uri="{FF2B5EF4-FFF2-40B4-BE49-F238E27FC236}">
                <a16:creationId xmlns:a16="http://schemas.microsoft.com/office/drawing/2014/main" id="{7BF0AE44-D886-47DA-835F-465839871EA0}"/>
              </a:ext>
            </a:extLst>
          </p:cNvPr>
          <p:cNvSpPr>
            <a:spLocks xmlns:a="http://schemas.openxmlformats.org/drawingml/2006/main" noGrp="1"/>
          </p:cNvSpPr>
          <p:nvPr/>
        </p:nvSpPr>
        <p:spPr>
          <a:xfrm xmlns:a="http://schemas.openxmlformats.org/drawingml/2006/main">
            <a:off x="800100" y="1752600"/>
            <a:ext cx="10572750" cy="3714750"/>
          </a:xfrm>
          <a:prstGeom xmlns:a="http://schemas.openxmlformats.org/drawingml/2006/main" prst="roundRect">
            <a:avLst>
              <a:gd name="adj" fmla="val 2051"/>
            </a:avLst>
          </a:prstGeom>
          <a:solidFill xmlns:a="http://schemas.openxmlformats.org/drawingml/2006/main">
            <a:srgbClr val="0F263D"/>
          </a:solidFill>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6AA2E93C-00A8-4109-8BC9-D2AD4DE76DAD}"/>
              </a:ext>
            </a:extLst>
          </p:cNvPr>
          <p:cNvSpPr>
            <a:spLocks xmlns:a="http://schemas.openxmlformats.org/drawingml/2006/main" noGrp="1"/>
          </p:cNvSpPr>
          <p:nvPr/>
        </p:nvSpPr>
        <p:spPr>
          <a:xfrm xmlns:a="http://schemas.openxmlformats.org/drawingml/2006/main">
            <a:off x="933450" y="1943100"/>
            <a:ext cx="103060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i="0">
                <a:solidFill>
                  <a:srgbClr val="D9F2CF"/>
                </a:solidFill>
                <a:latin typeface="Consolas"/>
                <a:ea typeface="Consolas"/>
                <a:cs typeface="Consolas"/>
              </a:defRPr>
            </a:defPPr>
          </a:lstStyle>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choice = input("DOOR or WINDOW? ").strip().lower()</a:t>
            </a:r>
          </a:p>
          <a:p xmlns:a="http://schemas.openxmlformats.org/drawingml/2006/main">
            <a:r>
              <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if choice == "door":</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    print("The keypad asks for a code.")</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elif choice == "window":</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    print("A robot holds a keycard.")</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else:</a:t>
            </a:r>
          </a:p>
          <a:p xmlns:a="http://schemas.openxmlformats.org/drawingml/2006/main">
            <a:pPr>
              <a:defRPr sz="1950" b="0" i="0">
                <a:solidFill>
                  <a:srgbClr val="D9F2CF"/>
                </a:solidFill>
                <a:latin typeface="Consolas"/>
                <a:ea typeface="Consolas"/>
                <a:cs typeface="Consolas"/>
              </a:defRPr>
            </a:pPr>
            <a:r>
              <a:rPr sz="1950" b="0" i="0">
                <a:solidFill>
                  <a:srgbClr val="D9F2CF"/>
                </a:solidFill>
                <a:latin typeface="Consolas"/>
                <a:ea typeface="Consolas"/>
                <a:cs typeface="Consolas"/>
              </a:rPr>
              <a:t>    print("Try again.")</a:t>
            </a:r>
          </a:p>
        </p:txBody>
      </p:sp>
      <p:sp>
        <p:nvSpPr>
          <p:cNvPr id="5" name="">
            <a:extLst xmlns:a="http://schemas.openxmlformats.org/drawingml/2006/main">
              <a:ext uri="{FF2B5EF4-FFF2-40B4-BE49-F238E27FC236}">
                <a16:creationId xmlns:a16="http://schemas.microsoft.com/office/drawing/2014/main" id="{F16E927A-AC25-46F9-B266-57D91F82F99C}"/>
              </a:ext>
            </a:extLst>
          </p:cNvPr>
          <p:cNvSpPr>
            <a:spLocks xmlns:a="http://schemas.openxmlformats.org/drawingml/2006/main" noGrp="1"/>
          </p:cNvSpPr>
          <p:nvPr/>
        </p:nvSpPr>
        <p:spPr>
          <a:xfrm xmlns:a="http://schemas.openxmlformats.org/drawingml/2006/main">
            <a:off x="1238250" y="57721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FFB1AD"/>
                </a:solidFill>
                <a:latin typeface="Arial"/>
                <a:ea typeface="Arial"/>
                <a:cs typeface="Arial"/>
              </a:defRPr>
            </a:defPPr>
          </a:lstStyle>
          <a:p xmlns:a="http://schemas.openxmlformats.org/drawingml/2006/main">
            <a:pPr>
              <a:defRPr sz="1875" b="1" i="0">
                <a:solidFill>
                  <a:srgbClr val="FFB1AD"/>
                </a:solidFill>
                <a:latin typeface="Arial"/>
                <a:ea typeface="Arial"/>
                <a:cs typeface="Arial"/>
              </a:defRPr>
            </a:pPr>
            <a:r>
              <a:rPr sz="1875" b="1" i="0">
                <a:solidFill>
                  <a:srgbClr val="FFB1AD"/>
                </a:solidFill>
                <a:latin typeface="Arial"/>
                <a:ea typeface="Arial"/>
                <a:cs typeface="Arial"/>
              </a:rPr>
              <a:t>Paste it into a new .py file, save, and run it.</a:t>
            </a:r>
          </a:p>
        </p:txBody>
      </p:sp>
    </p:spTree>
    <p:extLst>
      <p:ext uri="{BB962C8B-B14F-4D97-AF65-F5344CB8AC3E}">
        <p14:creationId xmlns:p14="http://schemas.microsoft.com/office/powerpoint/2010/main" val="951738083"/>
      </p:ext>
    </p:extLst>
  </p:cSld>
</p:sld>
</file>

<file path=ppt/slides/slide9.xml><?xml version="1.0" encoding="utf-8"?>
<p:sld xmlns:p="http://schemas.openxmlformats.org/presentationml/2006/main">
  <p:cSld>
    <p:bg>
      <p:bgPr>
        <a:solidFill xmlns:a="http://schemas.openxmlformats.org/drawingml/2006/main">
          <a:srgbClr val="DF6765"/>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E575244-5578-4DC4-8DE2-2924C0F58923}"/>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i="0">
                <a:solidFill>
                  <a:srgbClr val="FFFFFF"/>
                </a:solidFill>
                <a:latin typeface="Arial"/>
                <a:ea typeface="Arial"/>
                <a:cs typeface="Arial"/>
              </a:defRPr>
            </a:defPPr>
          </a:lstStyle>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A4FF58BD-E4AC-4293-A63C-6912092C2CF5}"/>
              </a:ext>
            </a:extLst>
          </p:cNvPr>
          <p:cNvSpPr>
            <a:spLocks xmlns:a="http://schemas.openxmlformats.org/drawingml/2006/main" noGrp="1"/>
          </p:cNvSpPr>
          <p:nvPr/>
        </p:nvSpPr>
        <p:spPr>
          <a:xfrm xmlns:a="http://schemas.openxmlformats.org/drawingml/2006/main">
            <a:off x="685800" y="32004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i="0">
                <a:solidFill>
                  <a:srgbClr val="FFFFFF"/>
                </a:solidFill>
                <a:latin typeface="Arial"/>
                <a:ea typeface="Arial"/>
                <a:cs typeface="Arial"/>
              </a:defRPr>
            </a:defPPr>
          </a:lstStyle>
          <a:p xmlns:a="http://schemas.openxmlformats.org/drawingml/2006/main">
            <a:pPr>
              <a:defRPr sz="2550" b="0" i="0">
                <a:solidFill>
                  <a:srgbClr val="FFFFFF"/>
                </a:solidFill>
                <a:latin typeface="Arial"/>
                <a:ea typeface="Arial"/>
                <a:cs typeface="Arial"/>
              </a:defRPr>
            </a:pPr>
            <a:r>
              <a:rPr sz="2550" b="0" i="0">
                <a:solidFill>
                  <a:srgbClr val="FFFFFF"/>
                </a:solidFill>
                <a:latin typeface="Arial"/>
                <a:ea typeface="Arial"/>
                <a:cs typeface="Arial"/>
              </a:rPr>
              <a:t>Return at 10:35</a:t>
            </a:r>
          </a:p>
        </p:txBody>
      </p:sp>
    </p:spTree>
    <p:extLst>
      <p:ext uri="{BB962C8B-B14F-4D97-AF65-F5344CB8AC3E}">
        <p14:creationId xmlns:p14="http://schemas.microsoft.com/office/powerpoint/2010/main" val="15923911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9700FB-CFF5-4146-8349-FCFA115B6E21}"/>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ChatGPT setup</a:t>
            </a:r>
          </a:p>
        </p:txBody>
      </p:sp>
      <p:sp>
        <p:nvSpPr>
          <p:cNvPr id="2" name="">
            <a:extLst xmlns:a="http://schemas.openxmlformats.org/drawingml/2006/main">
              <a:ext uri="{FF2B5EF4-FFF2-40B4-BE49-F238E27FC236}">
                <a16:creationId xmlns:a16="http://schemas.microsoft.com/office/drawing/2014/main" id="{9487FD08-3722-4A64-97F3-7682CB35596E}"/>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Use the desktop app or the browser</a:t>
            </a:r>
          </a:p>
        </p:txBody>
      </p:sp>
      <p:sp>
        <p:nvSpPr>
          <p:cNvPr id="3" name="">
            <a:extLst xmlns:a="http://schemas.openxmlformats.org/drawingml/2006/main">
              <a:ext uri="{FF2B5EF4-FFF2-40B4-BE49-F238E27FC236}">
                <a16:creationId xmlns:a16="http://schemas.microsoft.com/office/drawing/2014/main" id="{43A243ED-AA14-47C7-8E5F-0B46A9FB4D3A}"/>
              </a:ext>
            </a:extLst>
          </p:cNvPr>
          <p:cNvSpPr>
            <a:spLocks xmlns:a="http://schemas.openxmlformats.org/drawingml/2006/main" noGrp="1"/>
          </p:cNvSpPr>
          <p:nvPr/>
        </p:nvSpPr>
        <p:spPr>
          <a:xfrm xmlns:a="http://schemas.openxmlformats.org/drawingml/2006/main">
            <a:off x="876300" y="16383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B0373FED-77FD-4A38-8EA8-25AC219C0E64}"/>
              </a:ext>
            </a:extLst>
          </p:cNvPr>
          <p:cNvSpPr>
            <a:spLocks xmlns:a="http://schemas.openxmlformats.org/drawingml/2006/main" noGrp="1"/>
          </p:cNvSpPr>
          <p:nvPr/>
        </p:nvSpPr>
        <p:spPr>
          <a:xfrm xmlns:a="http://schemas.openxmlformats.org/drawingml/2006/main">
            <a:off x="1752600" y="16383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Open setup/downloads/Install-ChatGPT.bat</a:t>
            </a:r>
          </a:p>
        </p:txBody>
      </p:sp>
      <p:sp>
        <p:nvSpPr>
          <p:cNvPr id="5" name="">
            <a:extLst xmlns:a="http://schemas.openxmlformats.org/drawingml/2006/main">
              <a:ext uri="{FF2B5EF4-FFF2-40B4-BE49-F238E27FC236}">
                <a16:creationId xmlns:a16="http://schemas.microsoft.com/office/drawing/2014/main" id="{9E852818-967C-4369-BA51-593F8C8FC653}"/>
              </a:ext>
            </a:extLst>
          </p:cNvPr>
          <p:cNvSpPr>
            <a:spLocks xmlns:a="http://schemas.openxmlformats.org/drawingml/2006/main" noGrp="1"/>
          </p:cNvSpPr>
          <p:nvPr/>
        </p:nvSpPr>
        <p:spPr>
          <a:xfrm xmlns:a="http://schemas.openxmlformats.org/drawingml/2006/main">
            <a:off x="876300" y="24765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3A976AE9-2746-4F8E-865C-525B643B117F}"/>
              </a:ext>
            </a:extLst>
          </p:cNvPr>
          <p:cNvSpPr>
            <a:spLocks xmlns:a="http://schemas.openxmlformats.org/drawingml/2006/main" noGrp="1"/>
          </p:cNvSpPr>
          <p:nvPr/>
        </p:nvSpPr>
        <p:spPr>
          <a:xfrm xmlns:a="http://schemas.openxmlformats.org/drawingml/2006/main">
            <a:off x="1752600" y="24765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Approve the Windows installation prompt</a:t>
            </a:r>
          </a:p>
        </p:txBody>
      </p:sp>
      <p:sp>
        <p:nvSpPr>
          <p:cNvPr id="7" name="">
            <a:extLst xmlns:a="http://schemas.openxmlformats.org/drawingml/2006/main">
              <a:ext uri="{FF2B5EF4-FFF2-40B4-BE49-F238E27FC236}">
                <a16:creationId xmlns:a16="http://schemas.microsoft.com/office/drawing/2014/main" id="{B4CAF615-3709-4F48-8178-BA413342256E}"/>
              </a:ext>
            </a:extLst>
          </p:cNvPr>
          <p:cNvSpPr>
            <a:spLocks xmlns:a="http://schemas.openxmlformats.org/drawingml/2006/main" noGrp="1"/>
          </p:cNvSpPr>
          <p:nvPr/>
        </p:nvSpPr>
        <p:spPr>
          <a:xfrm xmlns:a="http://schemas.openxmlformats.org/drawingml/2006/main">
            <a:off x="876300" y="33147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BBA60C47-E93D-47F2-B07E-C88048D6623C}"/>
              </a:ext>
            </a:extLst>
          </p:cNvPr>
          <p:cNvSpPr>
            <a:spLocks xmlns:a="http://schemas.openxmlformats.org/drawingml/2006/main" noGrp="1"/>
          </p:cNvSpPr>
          <p:nvPr/>
        </p:nvSpPr>
        <p:spPr>
          <a:xfrm xmlns:a="http://schemas.openxmlformats.org/drawingml/2006/main">
            <a:off x="1752600" y="33147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Open ChatGPT and sign in with a free account</a:t>
            </a:r>
          </a:p>
        </p:txBody>
      </p:sp>
      <p:sp>
        <p:nvSpPr>
          <p:cNvPr id="9" name="">
            <a:extLst xmlns:a="http://schemas.openxmlformats.org/drawingml/2006/main">
              <a:ext uri="{FF2B5EF4-FFF2-40B4-BE49-F238E27FC236}">
                <a16:creationId xmlns:a16="http://schemas.microsoft.com/office/drawing/2014/main" id="{1A6A66C8-97CA-4B09-88CC-8D617628DC26}"/>
              </a:ext>
            </a:extLst>
          </p:cNvPr>
          <p:cNvSpPr>
            <a:spLocks xmlns:a="http://schemas.openxmlformats.org/drawingml/2006/main" noGrp="1"/>
          </p:cNvSpPr>
          <p:nvPr/>
        </p:nvSpPr>
        <p:spPr>
          <a:xfrm xmlns:a="http://schemas.openxmlformats.org/drawingml/2006/main">
            <a:off x="876300" y="41529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9852B8FD-083F-465D-9D2A-420B7D3D65B5}"/>
              </a:ext>
            </a:extLst>
          </p:cNvPr>
          <p:cNvSpPr>
            <a:spLocks xmlns:a="http://schemas.openxmlformats.org/drawingml/2006/main" noGrp="1"/>
          </p:cNvSpPr>
          <p:nvPr/>
        </p:nvSpPr>
        <p:spPr>
          <a:xfrm xmlns:a="http://schemas.openxmlformats.org/drawingml/2006/main">
            <a:off x="1752600" y="41529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Use chatgpt.com if installation is blocked</a:t>
            </a:r>
          </a:p>
        </p:txBody>
      </p:sp>
      <p:sp>
        <p:nvSpPr>
          <p:cNvPr id="11" name="">
            <a:extLst xmlns:a="http://schemas.openxmlformats.org/drawingml/2006/main">
              <a:ext uri="{FF2B5EF4-FFF2-40B4-BE49-F238E27FC236}">
                <a16:creationId xmlns:a16="http://schemas.microsoft.com/office/drawing/2014/main" id="{89441D45-5858-431E-97DD-508DB65F8C3E}"/>
              </a:ext>
            </a:extLst>
          </p:cNvPr>
          <p:cNvSpPr>
            <a:spLocks xmlns:a="http://schemas.openxmlformats.org/drawingml/2006/main" noGrp="1"/>
          </p:cNvSpPr>
          <p:nvPr/>
        </p:nvSpPr>
        <p:spPr>
          <a:xfrm xmlns:a="http://schemas.openxmlformats.org/drawingml/2006/main">
            <a:off x="1428750" y="53530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DF6765"/>
                </a:solidFill>
                <a:latin typeface="Arial"/>
                <a:ea typeface="Arial"/>
                <a:cs typeface="Arial"/>
              </a:defRPr>
            </a:defPPr>
          </a:lstStyle>
          <a:p xmlns:a="http://schemas.openxmlformats.org/drawingml/2006/main">
            <a:pPr>
              <a:defRPr sz="2025" b="1" i="0">
                <a:solidFill>
                  <a:srgbClr val="DF6765"/>
                </a:solidFill>
                <a:latin typeface="Arial"/>
                <a:ea typeface="Arial"/>
                <a:cs typeface="Arial"/>
              </a:defRPr>
            </a:pPr>
            <a:r>
              <a:rPr sz="2025" b="1" i="0">
                <a:solidFill>
                  <a:srgbClr val="DF6765"/>
                </a:solidFill>
                <a:latin typeface="Arial"/>
                <a:ea typeface="Arial"/>
                <a:cs typeface="Arial"/>
              </a:rPr>
              <a:t>Do not spend the whole lesson troubleshooting one installation.</a:t>
            </a:r>
          </a:p>
        </p:txBody>
      </p:sp>
      <p:sp>
        <p:nvSpPr>
          <p:cNvPr id="12" name="">
            <a:extLst xmlns:a="http://schemas.openxmlformats.org/drawingml/2006/main">
              <a:ext uri="{FF2B5EF4-FFF2-40B4-BE49-F238E27FC236}">
                <a16:creationId xmlns:a16="http://schemas.microsoft.com/office/drawing/2014/main" id="{05F871D9-1124-4AC0-9C36-429C0B176FC0}"/>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10:35-10:50 | ChatGPT setup</a:t>
            </a:r>
          </a:p>
        </p:txBody>
      </p:sp>
    </p:spTree>
    <p:extLst>
      <p:ext uri="{BB962C8B-B14F-4D97-AF65-F5344CB8AC3E}">
        <p14:creationId xmlns:p14="http://schemas.microsoft.com/office/powerpoint/2010/main" val="1011602611"/>
      </p:ext>
    </p:extLst>
  </p:cSld>
</p:sld>
</file>

<file path=ppt/slides/slide11.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FE29F0-F693-4E99-A7E6-A88060E7C4B0}"/>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A useful coding prompt</a:t>
            </a:r>
          </a:p>
        </p:txBody>
      </p:sp>
      <p:sp>
        <p:nvSpPr>
          <p:cNvPr id="2" name="">
            <a:extLst xmlns:a="http://schemas.openxmlformats.org/drawingml/2006/main">
              <a:ext uri="{FF2B5EF4-FFF2-40B4-BE49-F238E27FC236}">
                <a16:creationId xmlns:a16="http://schemas.microsoft.com/office/drawing/2014/main" id="{96132238-A49A-4B2F-A890-B4989AD8C262}"/>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Give the AI enough context to make one safe, testable change</a:t>
            </a:r>
          </a:p>
        </p:txBody>
      </p:sp>
      <p:sp>
        <p:nvSpPr>
          <p:cNvPr id="3" name="">
            <a:extLst xmlns:a="http://schemas.openxmlformats.org/drawingml/2006/main">
              <a:ext uri="{FF2B5EF4-FFF2-40B4-BE49-F238E27FC236}">
                <a16:creationId xmlns:a16="http://schemas.microsoft.com/office/drawing/2014/main" id="{4183DBF6-D85F-464B-8DE3-E7F7330EA878}"/>
              </a:ext>
            </a:extLst>
          </p:cNvPr>
          <p:cNvSpPr>
            <a:spLocks xmlns:a="http://schemas.openxmlformats.org/drawingml/2006/main" noGrp="1"/>
          </p:cNvSpPr>
          <p:nvPr/>
        </p:nvSpPr>
        <p:spPr>
          <a:xfrm xmlns:a="http://schemas.openxmlformats.org/drawingml/2006/main">
            <a:off x="895350" y="171450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DF6765"/>
                </a:solidFill>
                <a:latin typeface="Arial"/>
                <a:ea typeface="Arial"/>
                <a:cs typeface="Arial"/>
              </a:defRPr>
            </a:defPPr>
          </a:lstStyle>
          <a:p xmlns:a="http://schemas.openxmlformats.org/drawingml/2006/main">
            <a:pPr>
              <a:defRPr sz="1800" b="1" i="0">
                <a:solidFill>
                  <a:srgbClr val="DF6765"/>
                </a:solidFill>
                <a:latin typeface="Arial"/>
                <a:ea typeface="Arial"/>
                <a:cs typeface="Arial"/>
              </a:defRPr>
            </a:pPr>
            <a:r>
              <a:rPr sz="1800" b="1" i="0">
                <a:solidFill>
                  <a:srgbClr val="DF6765"/>
                </a:solidFill>
                <a:latin typeface="Arial"/>
                <a:ea typeface="Arial"/>
                <a:cs typeface="Arial"/>
              </a:rPr>
              <a:t>GOAL</a:t>
            </a:r>
          </a:p>
        </p:txBody>
      </p:sp>
      <p:sp>
        <p:nvSpPr>
          <p:cNvPr id="4" name="">
            <a:extLst xmlns:a="http://schemas.openxmlformats.org/drawingml/2006/main">
              <a:ext uri="{FF2B5EF4-FFF2-40B4-BE49-F238E27FC236}">
                <a16:creationId xmlns:a16="http://schemas.microsoft.com/office/drawing/2014/main" id="{F525395C-8CF3-4B52-B49D-7B3AB7A38F5B}"/>
              </a:ext>
            </a:extLst>
          </p:cNvPr>
          <p:cNvSpPr>
            <a:spLocks xmlns:a="http://schemas.openxmlformats.org/drawingml/2006/main" noGrp="1"/>
          </p:cNvSpPr>
          <p:nvPr/>
        </p:nvSpPr>
        <p:spPr>
          <a:xfrm xmlns:a="http://schemas.openxmlformats.org/drawingml/2006/main">
            <a:off x="2705100" y="171450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What should the program do?</a:t>
            </a:r>
          </a:p>
        </p:txBody>
      </p:sp>
      <p:sp>
        <p:nvSpPr>
          <p:cNvPr id="5" name="">
            <a:extLst xmlns:a="http://schemas.openxmlformats.org/drawingml/2006/main">
              <a:ext uri="{FF2B5EF4-FFF2-40B4-BE49-F238E27FC236}">
                <a16:creationId xmlns:a16="http://schemas.microsoft.com/office/drawing/2014/main" id="{ECF58113-55FC-4DF4-B99B-F0FBDD201E19}"/>
              </a:ext>
            </a:extLst>
          </p:cNvPr>
          <p:cNvSpPr>
            <a:spLocks xmlns:a="http://schemas.openxmlformats.org/drawingml/2006/main" noGrp="1"/>
          </p:cNvSpPr>
          <p:nvPr/>
        </p:nvSpPr>
        <p:spPr>
          <a:xfrm xmlns:a="http://schemas.openxmlformats.org/drawingml/2006/main">
            <a:off x="895350" y="2571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5F9F4B"/>
                </a:solidFill>
                <a:latin typeface="Arial"/>
                <a:ea typeface="Arial"/>
                <a:cs typeface="Arial"/>
              </a:defRPr>
            </a:defPPr>
          </a:lstStyle>
          <a:p xmlns:a="http://schemas.openxmlformats.org/drawingml/2006/main">
            <a:pPr>
              <a:defRPr sz="1800" b="1" i="0">
                <a:solidFill>
                  <a:srgbClr val="5F9F4B"/>
                </a:solidFill>
                <a:latin typeface="Arial"/>
                <a:ea typeface="Arial"/>
                <a:cs typeface="Arial"/>
              </a:defRPr>
            </a:pPr>
            <a:r>
              <a:rPr sz="1800" b="1" i="0">
                <a:solidFill>
                  <a:srgbClr val="5F9F4B"/>
                </a:solidFill>
                <a:latin typeface="Arial"/>
                <a:ea typeface="Arial"/>
                <a:cs typeface="Arial"/>
              </a:rPr>
              <a:t>CONTEXT</a:t>
            </a:r>
          </a:p>
        </p:txBody>
      </p:sp>
      <p:sp>
        <p:nvSpPr>
          <p:cNvPr id="6" name="">
            <a:extLst xmlns:a="http://schemas.openxmlformats.org/drawingml/2006/main">
              <a:ext uri="{FF2B5EF4-FFF2-40B4-BE49-F238E27FC236}">
                <a16:creationId xmlns:a16="http://schemas.microsoft.com/office/drawing/2014/main" id="{CF60A5AE-0DFB-408B-BD0A-751629C6A568}"/>
              </a:ext>
            </a:extLst>
          </p:cNvPr>
          <p:cNvSpPr>
            <a:spLocks xmlns:a="http://schemas.openxmlformats.org/drawingml/2006/main" noGrp="1"/>
          </p:cNvSpPr>
          <p:nvPr/>
        </p:nvSpPr>
        <p:spPr>
          <a:xfrm xmlns:a="http://schemas.openxmlformats.org/drawingml/2006/main">
            <a:off x="2705100" y="25717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Share the relevant code and exact error.</a:t>
            </a:r>
          </a:p>
        </p:txBody>
      </p:sp>
      <p:sp>
        <p:nvSpPr>
          <p:cNvPr id="7" name="">
            <a:extLst xmlns:a="http://schemas.openxmlformats.org/drawingml/2006/main">
              <a:ext uri="{FF2B5EF4-FFF2-40B4-BE49-F238E27FC236}">
                <a16:creationId xmlns:a16="http://schemas.microsoft.com/office/drawing/2014/main" id="{DF0439E6-EA13-4062-A924-82B9C83DD5DF}"/>
              </a:ext>
            </a:extLst>
          </p:cNvPr>
          <p:cNvSpPr>
            <a:spLocks xmlns:a="http://schemas.openxmlformats.org/drawingml/2006/main" noGrp="1"/>
          </p:cNvSpPr>
          <p:nvPr/>
        </p:nvSpPr>
        <p:spPr>
          <a:xfrm xmlns:a="http://schemas.openxmlformats.org/drawingml/2006/main">
            <a:off x="895350" y="3429000"/>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1" i="0">
                <a:solidFill>
                  <a:srgbClr val="2F6F89"/>
                </a:solidFill>
                <a:latin typeface="Arial"/>
                <a:ea typeface="Arial"/>
                <a:cs typeface="Arial"/>
              </a:defRPr>
            </a:defPPr>
          </a:lstStyle>
          <a:p xmlns:a="http://schemas.openxmlformats.org/drawingml/2006/main">
            <a:pPr>
              <a:defRPr sz="1650" b="1" i="0">
                <a:solidFill>
                  <a:srgbClr val="2F6F89"/>
                </a:solidFill>
                <a:latin typeface="Arial"/>
                <a:ea typeface="Arial"/>
                <a:cs typeface="Arial"/>
              </a:defRPr>
            </a:pPr>
            <a:r>
              <a:rPr sz="1650" b="1" i="0">
                <a:solidFill>
                  <a:srgbClr val="2F6F89"/>
                </a:solidFill>
                <a:latin typeface="Arial"/>
                <a:ea typeface="Arial"/>
                <a:cs typeface="Arial"/>
              </a:rPr>
              <a:t>BOUNDARIES</a:t>
            </a:r>
          </a:p>
        </p:txBody>
      </p:sp>
      <p:sp>
        <p:nvSpPr>
          <p:cNvPr id="8" name="">
            <a:extLst xmlns:a="http://schemas.openxmlformats.org/drawingml/2006/main">
              <a:ext uri="{FF2B5EF4-FFF2-40B4-BE49-F238E27FC236}">
                <a16:creationId xmlns:a16="http://schemas.microsoft.com/office/drawing/2014/main" id="{0B56E9FD-0758-467C-9025-833FB5FE5591}"/>
              </a:ext>
            </a:extLst>
          </p:cNvPr>
          <p:cNvSpPr>
            <a:spLocks xmlns:a="http://schemas.openxmlformats.org/drawingml/2006/main" noGrp="1"/>
          </p:cNvSpPr>
          <p:nvPr/>
        </p:nvSpPr>
        <p:spPr>
          <a:xfrm xmlns:a="http://schemas.openxmlformats.org/drawingml/2006/main">
            <a:off x="2952750" y="3429000"/>
            <a:ext cx="7848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Say what must keep working and what tools are allowed.</a:t>
            </a:r>
          </a:p>
        </p:txBody>
      </p:sp>
      <p:sp>
        <p:nvSpPr>
          <p:cNvPr id="9" name="">
            <a:extLst xmlns:a="http://schemas.openxmlformats.org/drawingml/2006/main">
              <a:ext uri="{FF2B5EF4-FFF2-40B4-BE49-F238E27FC236}">
                <a16:creationId xmlns:a16="http://schemas.microsoft.com/office/drawing/2014/main" id="{12562F75-03B3-487D-BE59-47C1EE7FDA94}"/>
              </a:ext>
            </a:extLst>
          </p:cNvPr>
          <p:cNvSpPr>
            <a:spLocks xmlns:a="http://schemas.openxmlformats.org/drawingml/2006/main" noGrp="1"/>
          </p:cNvSpPr>
          <p:nvPr/>
        </p:nvSpPr>
        <p:spPr>
          <a:xfrm xmlns:a="http://schemas.openxmlformats.org/drawingml/2006/main">
            <a:off x="895350" y="4400550"/>
            <a:ext cx="1952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i="0">
                <a:solidFill>
                  <a:srgbClr val="3C8994"/>
                </a:solidFill>
                <a:latin typeface="Arial"/>
                <a:ea typeface="Arial"/>
                <a:cs typeface="Arial"/>
              </a:defRPr>
            </a:defPPr>
          </a:lstStyle>
          <a:p xmlns:a="http://schemas.openxmlformats.org/drawingml/2006/main">
            <a:pPr>
              <a:defRPr sz="1500" b="1" i="0">
                <a:solidFill>
                  <a:srgbClr val="3C8994"/>
                </a:solidFill>
                <a:latin typeface="Arial"/>
                <a:ea typeface="Arial"/>
                <a:cs typeface="Arial"/>
              </a:defRPr>
            </a:pPr>
            <a:r>
              <a:rPr sz="1500" b="1" i="0">
                <a:solidFill>
                  <a:srgbClr val="3C8994"/>
                </a:solidFill>
                <a:latin typeface="Arial"/>
                <a:ea typeface="Arial"/>
                <a:cs typeface="Arial"/>
              </a:rPr>
              <a:t>VERIFICATION</a:t>
            </a:r>
          </a:p>
        </p:txBody>
      </p:sp>
      <p:sp>
        <p:nvSpPr>
          <p:cNvPr id="10" name="">
            <a:extLst xmlns:a="http://schemas.openxmlformats.org/drawingml/2006/main">
              <a:ext uri="{FF2B5EF4-FFF2-40B4-BE49-F238E27FC236}">
                <a16:creationId xmlns:a16="http://schemas.microsoft.com/office/drawing/2014/main" id="{6DD50F87-20A8-41DF-88A5-7E1F1098E560}"/>
              </a:ext>
            </a:extLst>
          </p:cNvPr>
          <p:cNvSpPr>
            <a:spLocks xmlns:a="http://schemas.openxmlformats.org/drawingml/2006/main" noGrp="1"/>
          </p:cNvSpPr>
          <p:nvPr/>
        </p:nvSpPr>
        <p:spPr>
          <a:xfrm xmlns:a="http://schemas.openxmlformats.org/drawingml/2006/main">
            <a:off x="2952750" y="4400550"/>
            <a:ext cx="7848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i="0">
                <a:solidFill>
                  <a:srgbClr val="172433"/>
                </a:solidFill>
                <a:latin typeface="Arial"/>
                <a:ea typeface="Arial"/>
                <a:cs typeface="Arial"/>
              </a:defRPr>
            </a:defPPr>
          </a:lstStyle>
          <a:p xmlns:a="http://schemas.openxmlformats.org/drawingml/2006/main">
            <a:pPr>
              <a:defRPr sz="2025" b="0" i="0">
                <a:solidFill>
                  <a:srgbClr val="172433"/>
                </a:solidFill>
                <a:latin typeface="Arial"/>
                <a:ea typeface="Arial"/>
                <a:cs typeface="Arial"/>
              </a:defRPr>
            </a:pPr>
            <a:r>
              <a:rPr sz="2025" b="0" i="0">
                <a:solidFill>
                  <a:srgbClr val="172433"/>
                </a:solidFill>
                <a:latin typeface="Arial"/>
                <a:ea typeface="Arial"/>
                <a:cs typeface="Arial"/>
              </a:rPr>
              <a:t>Ask how to test the result.</a:t>
            </a:r>
          </a:p>
        </p:txBody>
      </p:sp>
      <p:sp>
        <p:nvSpPr>
          <p:cNvPr id="11" name="">
            <a:extLst xmlns:a="http://schemas.openxmlformats.org/drawingml/2006/main">
              <a:ext uri="{FF2B5EF4-FFF2-40B4-BE49-F238E27FC236}">
                <a16:creationId xmlns:a16="http://schemas.microsoft.com/office/drawing/2014/main" id="{39700AE8-F01B-4552-851D-CBE6F48BFC36}"/>
              </a:ext>
            </a:extLst>
          </p:cNvPr>
          <p:cNvSpPr>
            <a:spLocks xmlns:a="http://schemas.openxmlformats.org/drawingml/2006/main" noGrp="1"/>
          </p:cNvSpPr>
          <p:nvPr/>
        </p:nvSpPr>
        <p:spPr>
          <a:xfrm xmlns:a="http://schemas.openxmlformats.org/drawingml/2006/main">
            <a:off x="1257300" y="5524500"/>
            <a:ext cx="9677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DF6765"/>
                </a:solidFill>
                <a:latin typeface="Arial"/>
                <a:ea typeface="Arial"/>
                <a:cs typeface="Arial"/>
              </a:defRPr>
            </a:defPPr>
          </a:lstStyle>
          <a:p xmlns:a="http://schemas.openxmlformats.org/drawingml/2006/main">
            <a:pPr>
              <a:defRPr sz="1875" b="1" i="0">
                <a:solidFill>
                  <a:srgbClr val="DF6765"/>
                </a:solidFill>
                <a:latin typeface="Arial"/>
                <a:ea typeface="Arial"/>
                <a:cs typeface="Arial"/>
              </a:defRPr>
            </a:pPr>
            <a:r>
              <a:rPr sz="1875" b="1" i="0">
                <a:solidFill>
                  <a:srgbClr val="DF6765"/>
                </a:solidFill>
                <a:latin typeface="Arial"/>
                <a:ea typeface="Arial"/>
                <a:cs typeface="Arial"/>
              </a:rPr>
              <a:t>Never paste passwords, private data, API keys, or access tokens.</a:t>
            </a:r>
          </a:p>
        </p:txBody>
      </p:sp>
      <p:sp>
        <p:nvSpPr>
          <p:cNvPr id="12" name="">
            <a:extLst xmlns:a="http://schemas.openxmlformats.org/drawingml/2006/main">
              <a:ext uri="{FF2B5EF4-FFF2-40B4-BE49-F238E27FC236}">
                <a16:creationId xmlns:a16="http://schemas.microsoft.com/office/drawing/2014/main" id="{E4B4CE7F-5D99-47C5-808A-44442069D1E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10:50-11:05 | Prompt design</a:t>
            </a:r>
          </a:p>
        </p:txBody>
      </p:sp>
    </p:spTree>
    <p:extLst>
      <p:ext uri="{BB962C8B-B14F-4D97-AF65-F5344CB8AC3E}">
        <p14:creationId xmlns:p14="http://schemas.microsoft.com/office/powerpoint/2010/main" val="97632504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1B1702-D6C3-454F-86C5-300ED609433E}"/>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AI output needs verification</a:t>
            </a:r>
          </a:p>
        </p:txBody>
      </p:sp>
      <p:sp>
        <p:nvSpPr>
          <p:cNvPr id="2" name="">
            <a:extLst xmlns:a="http://schemas.openxmlformats.org/drawingml/2006/main">
              <a:ext uri="{FF2B5EF4-FFF2-40B4-BE49-F238E27FC236}">
                <a16:creationId xmlns:a16="http://schemas.microsoft.com/office/drawing/2014/main" id="{E6AFCC84-4D1B-4B40-97AF-00730546A1E9}"/>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A confident answer can still be incomplete or wrong</a:t>
            </a:r>
          </a:p>
        </p:txBody>
      </p:sp>
      <p:sp>
        <p:nvSpPr>
          <p:cNvPr id="3" name="">
            <a:extLst xmlns:a="http://schemas.openxmlformats.org/drawingml/2006/main">
              <a:ext uri="{FF2B5EF4-FFF2-40B4-BE49-F238E27FC236}">
                <a16:creationId xmlns:a16="http://schemas.microsoft.com/office/drawing/2014/main" id="{1B337D77-580C-4F33-835C-997175EB9F85}"/>
              </a:ext>
            </a:extLst>
          </p:cNvPr>
          <p:cNvSpPr>
            <a:spLocks xmlns:a="http://schemas.openxmlformats.org/drawingml/2006/main" noGrp="1"/>
          </p:cNvSpPr>
          <p:nvPr/>
        </p:nvSpPr>
        <p:spPr>
          <a:xfrm xmlns:a="http://schemas.openxmlformats.org/drawingml/2006/main">
            <a:off x="876300" y="17526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8CB9AEE-0B76-4C8A-BE29-29F1183FAA8E}"/>
              </a:ext>
            </a:extLst>
          </p:cNvPr>
          <p:cNvSpPr>
            <a:spLocks xmlns:a="http://schemas.openxmlformats.org/drawingml/2006/main" noGrp="1"/>
          </p:cNvSpPr>
          <p:nvPr/>
        </p:nvSpPr>
        <p:spPr>
          <a:xfrm xmlns:a="http://schemas.openxmlformats.org/drawingml/2006/main">
            <a:off x="1752600" y="17526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Read the proposed change</a:t>
            </a:r>
          </a:p>
        </p:txBody>
      </p:sp>
      <p:sp>
        <p:nvSpPr>
          <p:cNvPr id="5" name="">
            <a:extLst xmlns:a="http://schemas.openxmlformats.org/drawingml/2006/main">
              <a:ext uri="{FF2B5EF4-FFF2-40B4-BE49-F238E27FC236}">
                <a16:creationId xmlns:a16="http://schemas.microsoft.com/office/drawing/2014/main" id="{9CF4DE03-17B6-439F-BD19-97D5B8ED428A}"/>
              </a:ext>
            </a:extLst>
          </p:cNvPr>
          <p:cNvSpPr>
            <a:spLocks xmlns:a="http://schemas.openxmlformats.org/drawingml/2006/main" noGrp="1"/>
          </p:cNvSpPr>
          <p:nvPr/>
        </p:nvSpPr>
        <p:spPr>
          <a:xfrm xmlns:a="http://schemas.openxmlformats.org/drawingml/2006/main">
            <a:off x="876300" y="25908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919BE94C-FEDD-4575-BD9E-2A39F92BD585}"/>
              </a:ext>
            </a:extLst>
          </p:cNvPr>
          <p:cNvSpPr>
            <a:spLocks xmlns:a="http://schemas.openxmlformats.org/drawingml/2006/main" noGrp="1"/>
          </p:cNvSpPr>
          <p:nvPr/>
        </p:nvSpPr>
        <p:spPr>
          <a:xfrm xmlns:a="http://schemas.openxmlformats.org/drawingml/2006/main">
            <a:off x="1752600" y="25908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Predict what the code will do</a:t>
            </a:r>
          </a:p>
        </p:txBody>
      </p:sp>
      <p:sp>
        <p:nvSpPr>
          <p:cNvPr id="7" name="">
            <a:extLst xmlns:a="http://schemas.openxmlformats.org/drawingml/2006/main">
              <a:ext uri="{FF2B5EF4-FFF2-40B4-BE49-F238E27FC236}">
                <a16:creationId xmlns:a16="http://schemas.microsoft.com/office/drawing/2014/main" id="{EB864678-27C9-4F49-8779-B05D85B98D46}"/>
              </a:ext>
            </a:extLst>
          </p:cNvPr>
          <p:cNvSpPr>
            <a:spLocks xmlns:a="http://schemas.openxmlformats.org/drawingml/2006/main" noGrp="1"/>
          </p:cNvSpPr>
          <p:nvPr/>
        </p:nvSpPr>
        <p:spPr>
          <a:xfrm xmlns:a="http://schemas.openxmlformats.org/drawingml/2006/main">
            <a:off x="876300" y="34290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E8F2812F-CE9D-4DFC-83F1-9E6B7040A590}"/>
              </a:ext>
            </a:extLst>
          </p:cNvPr>
          <p:cNvSpPr>
            <a:spLocks xmlns:a="http://schemas.openxmlformats.org/drawingml/2006/main" noGrp="1"/>
          </p:cNvSpPr>
          <p:nvPr/>
        </p:nvSpPr>
        <p:spPr>
          <a:xfrm xmlns:a="http://schemas.openxmlformats.org/drawingml/2006/main">
            <a:off x="1752600" y="34290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Run expected and unexpected inputs</a:t>
            </a:r>
          </a:p>
        </p:txBody>
      </p:sp>
      <p:sp>
        <p:nvSpPr>
          <p:cNvPr id="9" name="">
            <a:extLst xmlns:a="http://schemas.openxmlformats.org/drawingml/2006/main">
              <a:ext uri="{FF2B5EF4-FFF2-40B4-BE49-F238E27FC236}">
                <a16:creationId xmlns:a16="http://schemas.microsoft.com/office/drawing/2014/main" id="{E0204CB4-D170-4C3C-BBD4-4B08B9B9E222}"/>
              </a:ext>
            </a:extLst>
          </p:cNvPr>
          <p:cNvSpPr>
            <a:spLocks xmlns:a="http://schemas.openxmlformats.org/drawingml/2006/main" noGrp="1"/>
          </p:cNvSpPr>
          <p:nvPr/>
        </p:nvSpPr>
        <p:spPr>
          <a:xfrm xmlns:a="http://schemas.openxmlformats.org/drawingml/2006/main">
            <a:off x="876300" y="426720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36EF7A0E-C3E3-446D-A22F-E28A67ACABFB}"/>
              </a:ext>
            </a:extLst>
          </p:cNvPr>
          <p:cNvSpPr>
            <a:spLocks xmlns:a="http://schemas.openxmlformats.org/drawingml/2006/main" noGrp="1"/>
          </p:cNvSpPr>
          <p:nvPr/>
        </p:nvSpPr>
        <p:spPr>
          <a:xfrm xmlns:a="http://schemas.openxmlformats.org/drawingml/2006/main">
            <a:off x="1752600" y="426720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Explain every changed line</a:t>
            </a:r>
          </a:p>
        </p:txBody>
      </p:sp>
      <p:sp>
        <p:nvSpPr>
          <p:cNvPr id="11" name="">
            <a:extLst xmlns:a="http://schemas.openxmlformats.org/drawingml/2006/main">
              <a:ext uri="{FF2B5EF4-FFF2-40B4-BE49-F238E27FC236}">
                <a16:creationId xmlns:a16="http://schemas.microsoft.com/office/drawing/2014/main" id="{1655143F-D7C7-41E7-904B-BA6BAC1A3416}"/>
              </a:ext>
            </a:extLst>
          </p:cNvPr>
          <p:cNvSpPr>
            <a:spLocks xmlns:a="http://schemas.openxmlformats.org/drawingml/2006/main" noGrp="1"/>
          </p:cNvSpPr>
          <p:nvPr/>
        </p:nvSpPr>
        <p:spPr>
          <a:xfrm xmlns:a="http://schemas.openxmlformats.org/drawingml/2006/main">
            <a:off x="1428750" y="5391150"/>
            <a:ext cx="933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i="0">
                <a:solidFill>
                  <a:srgbClr val="5F9F4B"/>
                </a:solidFill>
                <a:latin typeface="Arial"/>
                <a:ea typeface="Arial"/>
                <a:cs typeface="Arial"/>
              </a:defRPr>
            </a:defPPr>
          </a:lstStyle>
          <a:p xmlns:a="http://schemas.openxmlformats.org/drawingml/2006/main">
            <a:pPr>
              <a:defRPr sz="2100" b="1" i="0">
                <a:solidFill>
                  <a:srgbClr val="5F9F4B"/>
                </a:solidFill>
                <a:latin typeface="Arial"/>
                <a:ea typeface="Arial"/>
                <a:cs typeface="Arial"/>
              </a:defRPr>
            </a:pPr>
            <a:r>
              <a:rPr sz="2100" b="1" i="0">
                <a:solidFill>
                  <a:srgbClr val="5F9F4B"/>
                </a:solidFill>
                <a:latin typeface="Arial"/>
                <a:ea typeface="Arial"/>
                <a:cs typeface="Arial"/>
              </a:rPr>
              <a:t>If you cannot explain it, ask a follow-up question or remove it.</a:t>
            </a:r>
          </a:p>
        </p:txBody>
      </p:sp>
      <p:sp>
        <p:nvSpPr>
          <p:cNvPr id="12" name="">
            <a:extLst xmlns:a="http://schemas.openxmlformats.org/drawingml/2006/main">
              <a:ext uri="{FF2B5EF4-FFF2-40B4-BE49-F238E27FC236}">
                <a16:creationId xmlns:a16="http://schemas.microsoft.com/office/drawing/2014/main" id="{0E67977E-FB43-4ACE-B907-9E080AD6308F}"/>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11:05-11:20 | Verification workshop</a:t>
            </a:r>
          </a:p>
        </p:txBody>
      </p:sp>
    </p:spTree>
    <p:extLst>
      <p:ext uri="{BB962C8B-B14F-4D97-AF65-F5344CB8AC3E}">
        <p14:creationId xmlns:p14="http://schemas.microsoft.com/office/powerpoint/2010/main" val="1241069470"/>
      </p:ext>
    </p:extLst>
  </p:cSld>
</p:sld>
</file>

<file path=ppt/slides/slide13.xml><?xml version="1.0" encoding="utf-8"?>
<p:sld xmlns:p="http://schemas.openxmlformats.org/presentationml/2006/main">
  <p:cSld>
    <p:bg>
      <p:bgPr>
        <a:solidFill xmlns:a="http://schemas.openxmlformats.org/drawingml/2006/main">
          <a:srgbClr val="3C8994"/>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3D45C779-302D-4CF2-85CB-DA1C9ED70396}"/>
              </a:ext>
            </a:extLst>
          </p:cNvPr>
          <p:cNvSpPr>
            <a:spLocks xmlns:a="http://schemas.openxmlformats.org/drawingml/2006/main" noGrp="1"/>
          </p:cNvSpPr>
          <p:nvPr/>
        </p:nvSpPr>
        <p:spPr>
          <a:xfrm xmlns:a="http://schemas.openxmlformats.org/drawingml/2006/main">
            <a:off x="685800" y="2095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950" b="1" i="0">
                <a:solidFill>
                  <a:srgbClr val="FFFFFF"/>
                </a:solidFill>
                <a:latin typeface="Arial"/>
                <a:ea typeface="Arial"/>
                <a:cs typeface="Arial"/>
              </a:defRPr>
            </a:defPPr>
          </a:lstStyle>
          <a:p xmlns:a="http://schemas.openxmlformats.org/drawingml/2006/main">
            <a:pPr>
              <a:defRPr sz="4950" b="1" i="0">
                <a:solidFill>
                  <a:srgbClr val="FFFFFF"/>
                </a:solidFill>
                <a:latin typeface="Arial"/>
                <a:ea typeface="Arial"/>
                <a:cs typeface="Arial"/>
              </a:defRPr>
            </a:pPr>
            <a:r>
              <a:rPr sz="4950" b="1" i="0">
                <a:solidFill>
                  <a:srgbClr val="FFFFFF"/>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DCEFDE08-D603-4E76-B5D6-024127F03EB4}"/>
              </a:ext>
            </a:extLst>
          </p:cNvPr>
          <p:cNvSpPr>
            <a:spLocks xmlns:a="http://schemas.openxmlformats.org/drawingml/2006/main" noGrp="1"/>
          </p:cNvSpPr>
          <p:nvPr/>
        </p:nvSpPr>
        <p:spPr>
          <a:xfrm xmlns:a="http://schemas.openxmlformats.org/drawingml/2006/main">
            <a:off x="685800" y="32004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0" i="0">
                <a:solidFill>
                  <a:srgbClr val="FFFFFF"/>
                </a:solidFill>
                <a:latin typeface="Arial"/>
                <a:ea typeface="Arial"/>
                <a:cs typeface="Arial"/>
              </a:defRPr>
            </a:defPPr>
          </a:lstStyle>
          <a:p xmlns:a="http://schemas.openxmlformats.org/drawingml/2006/main">
            <a:pPr>
              <a:defRPr sz="2550" b="0" i="0">
                <a:solidFill>
                  <a:srgbClr val="FFFFFF"/>
                </a:solidFill>
                <a:latin typeface="Arial"/>
                <a:ea typeface="Arial"/>
                <a:cs typeface="Arial"/>
              </a:defRPr>
            </a:pPr>
            <a:r>
              <a:rPr sz="2550" b="0" i="0">
                <a:solidFill>
                  <a:srgbClr val="FFFFFF"/>
                </a:solidFill>
                <a:latin typeface="Arial"/>
                <a:ea typeface="Arial"/>
                <a:cs typeface="Arial"/>
              </a:rPr>
              <a:t>Return at 11:30</a:t>
            </a:r>
          </a:p>
        </p:txBody>
      </p:sp>
    </p:spTree>
    <p:extLst>
      <p:ext uri="{BB962C8B-B14F-4D97-AF65-F5344CB8AC3E}">
        <p14:creationId xmlns:p14="http://schemas.microsoft.com/office/powerpoint/2010/main" val="364717260"/>
      </p:ext>
    </p:extLst>
  </p:cSld>
</p:sld>
</file>

<file path=ppt/slides/slide14.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CADFB8-4E4B-48AC-8E6D-5DCF062461A6}"/>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Your app, your vision</a:t>
            </a:r>
          </a:p>
        </p:txBody>
      </p:sp>
      <p:sp>
        <p:nvSpPr>
          <p:cNvPr id="2" name="">
            <a:extLst xmlns:a="http://schemas.openxmlformats.org/drawingml/2006/main">
              <a:ext uri="{FF2B5EF4-FFF2-40B4-BE49-F238E27FC236}">
                <a16:creationId xmlns:a16="http://schemas.microsoft.com/office/drawing/2014/main" id="{112E08E7-C9CF-458F-BA2E-CE718C69B30A}"/>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Build any Python app you can explain, test, and share</a:t>
            </a:r>
          </a:p>
        </p:txBody>
      </p:sp>
      <p:sp>
        <p:nvSpPr>
          <p:cNvPr id="3" name="">
            <a:extLst xmlns:a="http://schemas.openxmlformats.org/drawingml/2006/main">
              <a:ext uri="{FF2B5EF4-FFF2-40B4-BE49-F238E27FC236}">
                <a16:creationId xmlns:a16="http://schemas.microsoft.com/office/drawing/2014/main" id="{62D02C8F-93BD-4A8B-B78B-1E152C8964AC}"/>
              </a:ext>
            </a:extLst>
          </p:cNvPr>
          <p:cNvSpPr>
            <a:spLocks xmlns:a="http://schemas.openxmlformats.org/drawingml/2006/main" noGrp="1"/>
          </p:cNvSpPr>
          <p:nvPr/>
        </p:nvSpPr>
        <p:spPr>
          <a:xfrm xmlns:a="http://schemas.openxmlformats.org/drawingml/2006/main">
            <a:off x="876300" y="17526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DF6765"/>
                </a:solidFill>
                <a:latin typeface="Arial"/>
                <a:ea typeface="Arial"/>
                <a:cs typeface="Arial"/>
              </a:defRPr>
            </a:defPPr>
          </a:lstStyle>
          <a:p xmlns:a="http://schemas.openxmlformats.org/drawingml/2006/main">
            <a:pPr>
              <a:defRPr sz="2250" b="1" i="0">
                <a:solidFill>
                  <a:srgbClr val="DF6765"/>
                </a:solidFill>
                <a:latin typeface="Arial"/>
                <a:ea typeface="Arial"/>
                <a:cs typeface="Arial"/>
              </a:defRPr>
            </a:pPr>
            <a:r>
              <a:rPr sz="2250" b="1" i="0">
                <a:solidFill>
                  <a:srgbClr val="DF6765"/>
                </a:solidFill>
                <a:latin typeface="Arial"/>
                <a:ea typeface="Arial"/>
                <a:cs typeface="Arial"/>
              </a:rPr>
              <a:t>Choose your idea</a:t>
            </a:r>
          </a:p>
        </p:txBody>
      </p:sp>
      <p:sp>
        <p:nvSpPr>
          <p:cNvPr id="4" name="">
            <a:extLst xmlns:a="http://schemas.openxmlformats.org/drawingml/2006/main">
              <a:ext uri="{FF2B5EF4-FFF2-40B4-BE49-F238E27FC236}">
                <a16:creationId xmlns:a16="http://schemas.microsoft.com/office/drawing/2014/main" id="{F29DE85F-A19D-4DB6-B933-6F7EB97802CE}"/>
              </a:ext>
            </a:extLst>
          </p:cNvPr>
          <p:cNvSpPr>
            <a:spLocks xmlns:a="http://schemas.openxmlformats.org/drawingml/2006/main" noGrp="1"/>
          </p:cNvSpPr>
          <p:nvPr/>
        </p:nvSpPr>
        <p:spPr>
          <a:xfrm xmlns:a="http://schemas.openxmlformats.org/drawingml/2006/main">
            <a:off x="876300" y="232410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a:solidFill>
                  <a:srgbClr val="172433"/>
                </a:solidFill>
                <a:latin typeface="Arial"/>
                <a:ea typeface="Arial"/>
                <a:cs typeface="Arial"/>
              </a:defRPr>
            </a:defPPr>
          </a:lstStyle>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Make a game, quiz, calculator, story, useful tool, or your own idea</a:t>
            </a:r>
          </a:p>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Decide what the app says, asks, and does</a:t>
            </a:r>
          </a:p>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Use ChatGPT as a coding partner while keeping your vision</a:t>
            </a:r>
          </a:p>
        </p:txBody>
      </p:sp>
      <p:sp>
        <p:nvSpPr>
          <p:cNvPr id="5" name="">
            <a:extLst xmlns:a="http://schemas.openxmlformats.org/drawingml/2006/main">
              <a:ext uri="{FF2B5EF4-FFF2-40B4-BE49-F238E27FC236}">
                <a16:creationId xmlns:a16="http://schemas.microsoft.com/office/drawing/2014/main" id="{2BCA7B9E-4328-418F-8499-F833CC379190}"/>
              </a:ext>
            </a:extLst>
          </p:cNvPr>
          <p:cNvSpPr>
            <a:spLocks xmlns:a="http://schemas.openxmlformats.org/drawingml/2006/main" noGrp="1"/>
          </p:cNvSpPr>
          <p:nvPr/>
        </p:nvSpPr>
        <p:spPr>
          <a:xfrm xmlns:a="http://schemas.openxmlformats.org/drawingml/2006/main">
            <a:off x="6762750" y="17526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5F9F4B"/>
                </a:solidFill>
                <a:latin typeface="Arial"/>
                <a:ea typeface="Arial"/>
                <a:cs typeface="Arial"/>
              </a:defRPr>
            </a:defPPr>
          </a:lstStyle>
          <a:p xmlns:a="http://schemas.openxmlformats.org/drawingml/2006/main">
            <a:pPr>
              <a:defRPr sz="2250" b="1" i="0">
                <a:solidFill>
                  <a:srgbClr val="5F9F4B"/>
                </a:solidFill>
                <a:latin typeface="Arial"/>
                <a:ea typeface="Arial"/>
                <a:cs typeface="Arial"/>
              </a:defRPr>
            </a:pPr>
            <a:r>
              <a:rPr sz="2250" b="1" i="0">
                <a:solidFill>
                  <a:srgbClr val="5F9F4B"/>
                </a:solidFill>
                <a:latin typeface="Arial"/>
                <a:ea typeface="Arial"/>
                <a:cs typeface="Arial"/>
              </a:rPr>
              <a:t>Finish line</a:t>
            </a:r>
          </a:p>
        </p:txBody>
      </p:sp>
      <p:sp>
        <p:nvSpPr>
          <p:cNvPr id="6" name="">
            <a:extLst xmlns:a="http://schemas.openxmlformats.org/drawingml/2006/main">
              <a:ext uri="{FF2B5EF4-FFF2-40B4-BE49-F238E27FC236}">
                <a16:creationId xmlns:a16="http://schemas.microsoft.com/office/drawing/2014/main" id="{6B4DBE57-36CB-4A46-A157-F8A037C8A1BD}"/>
              </a:ext>
            </a:extLst>
          </p:cNvPr>
          <p:cNvSpPr>
            <a:spLocks xmlns:a="http://schemas.openxmlformats.org/drawingml/2006/main" noGrp="1"/>
          </p:cNvSpPr>
          <p:nvPr/>
        </p:nvSpPr>
        <p:spPr>
          <a:xfrm xmlns:a="http://schemas.openxmlformats.org/drawingml/2006/main">
            <a:off x="6762750" y="232410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a:solidFill>
                  <a:srgbClr val="172433"/>
                </a:solidFill>
                <a:latin typeface="Arial"/>
                <a:ea typeface="Arial"/>
                <a:cs typeface="Arial"/>
              </a:defRPr>
            </a:defPPr>
          </a:lstStyle>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Test the important actions and one unexpected input</a:t>
            </a:r>
          </a:p>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Create start.bat so a user can double-click to open the app</a:t>
            </a:r>
          </a:p>
          <a:p xmlns:a="http://schemas.openxmlformats.org/drawingml/2006/main">
            <a:pPr marL="254000" indent="-127000">
              <a:spcAft>
                <a:spcPts val="1400"/>
              </a:spcAft>
              <a:buChar char="•"/>
              <a:defRPr sz="1875">
                <a:solidFill>
                  <a:srgbClr val="172433"/>
                </a:solidFill>
                <a:latin typeface="Arial"/>
                <a:ea typeface="Arial"/>
                <a:cs typeface="Arial"/>
              </a:defRPr>
            </a:pPr>
            <a:r>
              <a:rPr sz="1875">
                <a:solidFill>
                  <a:srgbClr val="172433"/>
                </a:solidFill>
                <a:latin typeface="Arial"/>
                <a:ea typeface="Arial"/>
                <a:cs typeface="Arial"/>
              </a:rPr>
              <a:t>Explain the code you keep</a:t>
            </a:r>
          </a:p>
        </p:txBody>
      </p:sp>
      <p:sp>
        <p:nvSpPr>
          <p:cNvPr id="7" name="">
            <a:extLst xmlns:a="http://schemas.openxmlformats.org/drawingml/2006/main">
              <a:ext uri="{FF2B5EF4-FFF2-40B4-BE49-F238E27FC236}">
                <a16:creationId xmlns:a16="http://schemas.microsoft.com/office/drawing/2014/main" id="{3227BBEF-C855-44DA-AB66-D5D10FF6FC14}"/>
              </a:ext>
            </a:extLst>
          </p:cNvPr>
          <p:cNvSpPr>
            <a:spLocks xmlns:a="http://schemas.openxmlformats.org/drawingml/2006/main" noGrp="1"/>
          </p:cNvSpPr>
          <p:nvPr/>
        </p:nvSpPr>
        <p:spPr>
          <a:xfrm xmlns:a="http://schemas.openxmlformats.org/drawingml/2006/main">
            <a:off x="1200150" y="5048250"/>
            <a:ext cx="9791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i="0">
                <a:solidFill>
                  <a:srgbClr val="2F6F89"/>
                </a:solidFill>
                <a:latin typeface="Arial"/>
                <a:ea typeface="Arial"/>
                <a:cs typeface="Arial"/>
              </a:defRPr>
            </a:defPPr>
          </a:lstStyle>
          <a:p xmlns:a="http://schemas.openxmlformats.org/drawingml/2006/main">
            <a:pPr>
              <a:defRPr sz="1875" b="1" i="0">
                <a:solidFill>
                  <a:srgbClr val="2F6F89"/>
                </a:solidFill>
                <a:latin typeface="Arial"/>
                <a:ea typeface="Arial"/>
                <a:cs typeface="Arial"/>
              </a:defRPr>
            </a:pPr>
            <a:r>
              <a:rPr sz="1875" b="1" i="0">
                <a:solidFill>
                  <a:srgbClr val="2F6F89"/>
                </a:solidFill>
                <a:latin typeface="Arial"/>
                <a:ea typeface="Arial"/>
                <a:cs typeface="Arial"/>
              </a:rPr>
              <a:t>Helpful prompt: “When my app finishes, ask the user if they want to restart. Keep everything else working.”</a:t>
            </a:r>
          </a:p>
        </p:txBody>
      </p:sp>
      <p:sp>
        <p:nvSpPr>
          <p:cNvPr id="8" name="">
            <a:extLst xmlns:a="http://schemas.openxmlformats.org/drawingml/2006/main">
              <a:ext uri="{FF2B5EF4-FFF2-40B4-BE49-F238E27FC236}">
                <a16:creationId xmlns:a16="http://schemas.microsoft.com/office/drawing/2014/main" id="{B597304F-069C-4C0B-A70F-4B83C19F9A10}"/>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11:30-12:25 | Build and launch</a:t>
            </a:r>
          </a:p>
        </p:txBody>
      </p:sp>
    </p:spTree>
    <p:extLst>
      <p:ext uri="{BB962C8B-B14F-4D97-AF65-F5344CB8AC3E}">
        <p14:creationId xmlns:p14="http://schemas.microsoft.com/office/powerpoint/2010/main" val="1743449718"/>
      </p:ext>
    </p:extLst>
  </p:cSld>
</p:sld>
</file>

<file path=ppt/slides/slide15.xml><?xml version="1.0" encoding="utf-8"?>
<p:sld xmlns:p="http://schemas.openxmlformats.org/presentationml/2006/main">
  <p:cSld>
    <p:bg>
      <p:bgPr>
        <a:solidFill xmlns:a="http://schemas.openxmlformats.org/drawingml/2006/main">
          <a:srgbClr val="FBECE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9B8F4C-485C-4EFC-894C-7EB1BA382B2F}"/>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Peer testing</a:t>
            </a:r>
          </a:p>
        </p:txBody>
      </p:sp>
      <p:sp>
        <p:nvSpPr>
          <p:cNvPr id="2" name="">
            <a:extLst xmlns:a="http://schemas.openxmlformats.org/drawingml/2006/main">
              <a:ext uri="{FF2B5EF4-FFF2-40B4-BE49-F238E27FC236}">
                <a16:creationId xmlns:a16="http://schemas.microsoft.com/office/drawing/2014/main" id="{059A3286-81F8-4B2A-83DB-396D997402BA}"/>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Your partner acts like a new user</a:t>
            </a:r>
          </a:p>
        </p:txBody>
      </p:sp>
      <p:sp>
        <p:nvSpPr>
          <p:cNvPr id="3" name="">
            <a:extLst xmlns:a="http://schemas.openxmlformats.org/drawingml/2006/main">
              <a:ext uri="{FF2B5EF4-FFF2-40B4-BE49-F238E27FC236}">
                <a16:creationId xmlns:a16="http://schemas.microsoft.com/office/drawing/2014/main" id="{3891EA54-910F-4362-AAE5-1EDE738552B9}"/>
              </a:ext>
            </a:extLst>
          </p:cNvPr>
          <p:cNvSpPr>
            <a:spLocks xmlns:a="http://schemas.openxmlformats.org/drawingml/2006/main" noGrp="1"/>
          </p:cNvSpPr>
          <p:nvPr/>
        </p:nvSpPr>
        <p:spPr>
          <a:xfrm xmlns:a="http://schemas.openxmlformats.org/drawingml/2006/main">
            <a:off x="876300" y="16954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DF6765"/>
                </a:solidFill>
                <a:latin typeface="Arial"/>
                <a:ea typeface="Arial"/>
                <a:cs typeface="Arial"/>
              </a:defRPr>
            </a:defPPr>
          </a:lstStyle>
          <a:p xmlns:a="http://schemas.openxmlformats.org/drawingml/2006/main">
            <a:pPr>
              <a:defRPr sz="3000" b="1" i="0">
                <a:solidFill>
                  <a:srgbClr val="DF6765"/>
                </a:solidFill>
                <a:latin typeface="Arial"/>
                <a:ea typeface="Arial"/>
                <a:cs typeface="Arial"/>
              </a:defRPr>
            </a:pPr>
            <a:r>
              <a:rPr sz="300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A619809E-F5BC-4FEE-90CA-036D90213AB3}"/>
              </a:ext>
            </a:extLst>
          </p:cNvPr>
          <p:cNvSpPr>
            <a:spLocks xmlns:a="http://schemas.openxmlformats.org/drawingml/2006/main" noGrp="1"/>
          </p:cNvSpPr>
          <p:nvPr/>
        </p:nvSpPr>
        <p:spPr>
          <a:xfrm xmlns:a="http://schemas.openxmlformats.org/drawingml/2006/main">
            <a:off x="1752600" y="16954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Launch the project with start.bat</a:t>
            </a:r>
          </a:p>
        </p:txBody>
      </p:sp>
      <p:sp>
        <p:nvSpPr>
          <p:cNvPr id="5" name="">
            <a:extLst xmlns:a="http://schemas.openxmlformats.org/drawingml/2006/main">
              <a:ext uri="{FF2B5EF4-FFF2-40B4-BE49-F238E27FC236}">
                <a16:creationId xmlns:a16="http://schemas.microsoft.com/office/drawing/2014/main" id="{51A5409A-74E2-4F33-97AA-047FF376176F}"/>
              </a:ext>
            </a:extLst>
          </p:cNvPr>
          <p:cNvSpPr>
            <a:spLocks xmlns:a="http://schemas.openxmlformats.org/drawingml/2006/main" noGrp="1"/>
          </p:cNvSpPr>
          <p:nvPr/>
        </p:nvSpPr>
        <p:spPr>
          <a:xfrm xmlns:a="http://schemas.openxmlformats.org/drawingml/2006/main">
            <a:off x="876300" y="25336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5F9F4B"/>
                </a:solidFill>
                <a:latin typeface="Arial"/>
                <a:ea typeface="Arial"/>
                <a:cs typeface="Arial"/>
              </a:defRPr>
            </a:defPPr>
          </a:lstStyle>
          <a:p xmlns:a="http://schemas.openxmlformats.org/drawingml/2006/main">
            <a:pPr>
              <a:defRPr sz="3000" b="1" i="0">
                <a:solidFill>
                  <a:srgbClr val="5F9F4B"/>
                </a:solidFill>
                <a:latin typeface="Arial"/>
                <a:ea typeface="Arial"/>
                <a:cs typeface="Arial"/>
              </a:defRPr>
            </a:pPr>
            <a:r>
              <a:rPr sz="300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4A69EA2C-83AE-4B27-9174-1BCC5480B406}"/>
              </a:ext>
            </a:extLst>
          </p:cNvPr>
          <p:cNvSpPr>
            <a:spLocks xmlns:a="http://schemas.openxmlformats.org/drawingml/2006/main" noGrp="1"/>
          </p:cNvSpPr>
          <p:nvPr/>
        </p:nvSpPr>
        <p:spPr>
          <a:xfrm xmlns:a="http://schemas.openxmlformats.org/drawingml/2006/main">
            <a:off x="1752600" y="25336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Try the app’s main actions</a:t>
            </a:r>
          </a:p>
        </p:txBody>
      </p:sp>
      <p:sp>
        <p:nvSpPr>
          <p:cNvPr id="7" name="">
            <a:extLst xmlns:a="http://schemas.openxmlformats.org/drawingml/2006/main">
              <a:ext uri="{FF2B5EF4-FFF2-40B4-BE49-F238E27FC236}">
                <a16:creationId xmlns:a16="http://schemas.microsoft.com/office/drawing/2014/main" id="{7BB8BAE1-E20C-40EC-80E4-D56D4550EBD2}"/>
              </a:ext>
            </a:extLst>
          </p:cNvPr>
          <p:cNvSpPr>
            <a:spLocks xmlns:a="http://schemas.openxmlformats.org/drawingml/2006/main" noGrp="1"/>
          </p:cNvSpPr>
          <p:nvPr/>
        </p:nvSpPr>
        <p:spPr>
          <a:xfrm xmlns:a="http://schemas.openxmlformats.org/drawingml/2006/main">
            <a:off x="876300" y="3371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2F6F89"/>
                </a:solidFill>
                <a:latin typeface="Arial"/>
                <a:ea typeface="Arial"/>
                <a:cs typeface="Arial"/>
              </a:defRPr>
            </a:defPPr>
          </a:lstStyle>
          <a:p xmlns:a="http://schemas.openxmlformats.org/drawingml/2006/main">
            <a:pPr>
              <a:defRPr sz="3000" b="1" i="0">
                <a:solidFill>
                  <a:srgbClr val="2F6F89"/>
                </a:solidFill>
                <a:latin typeface="Arial"/>
                <a:ea typeface="Arial"/>
                <a:cs typeface="Arial"/>
              </a:defRPr>
            </a:pPr>
            <a:r>
              <a:rPr sz="3000" b="1" i="0">
                <a:solidFill>
                  <a:srgbClr val="2F6F89"/>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E3C5E9AF-E853-4179-ABD6-AC6EB804629F}"/>
              </a:ext>
            </a:extLst>
          </p:cNvPr>
          <p:cNvSpPr>
            <a:spLocks xmlns:a="http://schemas.openxmlformats.org/drawingml/2006/main" noGrp="1"/>
          </p:cNvSpPr>
          <p:nvPr/>
        </p:nvSpPr>
        <p:spPr>
          <a:xfrm xmlns:a="http://schemas.openxmlformats.org/drawingml/2006/main">
            <a:off x="1752600" y="33718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Try one unexpected action or blank input</a:t>
            </a:r>
          </a:p>
        </p:txBody>
      </p:sp>
      <p:sp>
        <p:nvSpPr>
          <p:cNvPr id="9" name="">
            <a:extLst xmlns:a="http://schemas.openxmlformats.org/drawingml/2006/main">
              <a:ext uri="{FF2B5EF4-FFF2-40B4-BE49-F238E27FC236}">
                <a16:creationId xmlns:a16="http://schemas.microsoft.com/office/drawing/2014/main" id="{1276E809-E227-4260-AD33-87792167A1BC}"/>
              </a:ext>
            </a:extLst>
          </p:cNvPr>
          <p:cNvSpPr>
            <a:spLocks xmlns:a="http://schemas.openxmlformats.org/drawingml/2006/main" noGrp="1"/>
          </p:cNvSpPr>
          <p:nvPr/>
        </p:nvSpPr>
        <p:spPr>
          <a:xfrm xmlns:a="http://schemas.openxmlformats.org/drawingml/2006/main">
            <a:off x="876300" y="42100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3C8994"/>
                </a:solidFill>
                <a:latin typeface="Arial"/>
                <a:ea typeface="Arial"/>
                <a:cs typeface="Arial"/>
              </a:defRPr>
            </a:defPPr>
          </a:lstStyle>
          <a:p xmlns:a="http://schemas.openxmlformats.org/drawingml/2006/main">
            <a:pPr>
              <a:defRPr sz="3000" b="1" i="0">
                <a:solidFill>
                  <a:srgbClr val="3C8994"/>
                </a:solidFill>
                <a:latin typeface="Arial"/>
                <a:ea typeface="Arial"/>
                <a:cs typeface="Arial"/>
              </a:defRPr>
            </a:pPr>
            <a:r>
              <a:rPr sz="3000" b="1" i="0">
                <a:solidFill>
                  <a:srgbClr val="3C8994"/>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510A180E-1588-45AA-8374-DE56EE87493F}"/>
              </a:ext>
            </a:extLst>
          </p:cNvPr>
          <p:cNvSpPr>
            <a:spLocks xmlns:a="http://schemas.openxmlformats.org/drawingml/2006/main" noGrp="1"/>
          </p:cNvSpPr>
          <p:nvPr/>
        </p:nvSpPr>
        <p:spPr>
          <a:xfrm xmlns:a="http://schemas.openxmlformats.org/drawingml/2006/main">
            <a:off x="1752600" y="4210050"/>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172433"/>
                </a:solidFill>
                <a:latin typeface="Arial"/>
                <a:ea typeface="Arial"/>
                <a:cs typeface="Arial"/>
              </a:defRPr>
            </a:defPPr>
          </a:lstStyle>
          <a:p xmlns:a="http://schemas.openxmlformats.org/drawingml/2006/main">
            <a:pPr>
              <a:defRPr sz="2100" b="0" i="0">
                <a:solidFill>
                  <a:srgbClr val="172433"/>
                </a:solidFill>
                <a:latin typeface="Arial"/>
                <a:ea typeface="Arial"/>
                <a:cs typeface="Arial"/>
              </a:defRPr>
            </a:pPr>
            <a:r>
              <a:rPr sz="2100" b="0" i="0">
                <a:solidFill>
                  <a:srgbClr val="172433"/>
                </a:solidFill>
                <a:latin typeface="Arial"/>
                <a:ea typeface="Arial"/>
                <a:cs typeface="Arial"/>
              </a:rPr>
              <a:t>Request one specific improvement</a:t>
            </a:r>
          </a:p>
        </p:txBody>
      </p:sp>
      <p:sp>
        <p:nvSpPr>
          <p:cNvPr id="11" name="">
            <a:extLst xmlns:a="http://schemas.openxmlformats.org/drawingml/2006/main">
              <a:ext uri="{FF2B5EF4-FFF2-40B4-BE49-F238E27FC236}">
                <a16:creationId xmlns:a16="http://schemas.microsoft.com/office/drawing/2014/main" id="{7D2FF3E6-9F69-4FEC-8AB3-13AE7713F68E}"/>
              </a:ext>
            </a:extLst>
          </p:cNvPr>
          <p:cNvSpPr>
            <a:spLocks xmlns:a="http://schemas.openxmlformats.org/drawingml/2006/main" noGrp="1"/>
          </p:cNvSpPr>
          <p:nvPr/>
        </p:nvSpPr>
        <p:spPr>
          <a:xfrm xmlns:a="http://schemas.openxmlformats.org/drawingml/2006/main">
            <a:off x="1333500" y="541020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i="0">
                <a:solidFill>
                  <a:srgbClr val="173654"/>
                </a:solidFill>
                <a:latin typeface="Arial"/>
                <a:ea typeface="Arial"/>
                <a:cs typeface="Arial"/>
              </a:defRPr>
            </a:defPPr>
          </a:lstStyle>
          <a:p xmlns:a="http://schemas.openxmlformats.org/drawingml/2006/main">
            <a:pPr>
              <a:defRPr sz="2025" b="1" i="0">
                <a:solidFill>
                  <a:srgbClr val="173654"/>
                </a:solidFill>
                <a:latin typeface="Arial"/>
                <a:ea typeface="Arial"/>
                <a:cs typeface="Arial"/>
              </a:defRPr>
            </a:pPr>
            <a:r>
              <a:rPr sz="2025" b="1" i="0">
                <a:solidFill>
                  <a:srgbClr val="173654"/>
                </a:solidFill>
                <a:latin typeface="Arial"/>
                <a:ea typeface="Arial"/>
                <a:cs typeface="Arial"/>
              </a:rPr>
              <a:t>Describe the user’s experience, not the developer’s personality.</a:t>
            </a:r>
          </a:p>
        </p:txBody>
      </p:sp>
      <p:sp>
        <p:nvSpPr>
          <p:cNvPr id="12" name="">
            <a:extLst xmlns:a="http://schemas.openxmlformats.org/drawingml/2006/main">
              <a:ext uri="{FF2B5EF4-FFF2-40B4-BE49-F238E27FC236}">
                <a16:creationId xmlns:a16="http://schemas.microsoft.com/office/drawing/2014/main" id="{6D7D27E2-67C9-48BA-9A42-E30D2E81F603}"/>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12:25-12:40 | Peer test</a:t>
            </a:r>
          </a:p>
        </p:txBody>
      </p:sp>
    </p:spTree>
    <p:extLst>
      <p:ext uri="{BB962C8B-B14F-4D97-AF65-F5344CB8AC3E}">
        <p14:creationId xmlns:p14="http://schemas.microsoft.com/office/powerpoint/2010/main" val="1825602620"/>
      </p:ext>
    </p:extLst>
  </p:cSld>
</p:sld>
</file>

<file path=ppt/slides/slide16.xml><?xml version="1.0" encoding="utf-8"?>
<p:sld xmlns:p="http://schemas.openxmlformats.org/presentationml/2006/main">
  <p:cSld>
    <p:bg>
      <p:bgPr>
        <a:solidFill xmlns:a="http://schemas.openxmlformats.org/drawingml/2006/main">
          <a:srgbClr val="EDF5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D9FC31-52DF-4962-BB96-DCAB82098A3A}"/>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Feedback becomes an engineering change</a:t>
            </a:r>
          </a:p>
        </p:txBody>
      </p:sp>
      <p:sp>
        <p:nvSpPr>
          <p:cNvPr id="2" name="">
            <a:extLst xmlns:a="http://schemas.openxmlformats.org/drawingml/2006/main">
              <a:ext uri="{FF2B5EF4-FFF2-40B4-BE49-F238E27FC236}">
                <a16:creationId xmlns:a16="http://schemas.microsoft.com/office/drawing/2014/main" id="{0A474968-38DE-46C8-A0B7-83A6AE454E01}"/>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Choose one request that improves the user’s experience</a:t>
            </a:r>
          </a:p>
        </p:txBody>
      </p:sp>
      <p:sp>
        <p:nvSpPr>
          <p:cNvPr id="3" name="">
            <a:extLst xmlns:a="http://schemas.openxmlformats.org/drawingml/2006/main">
              <a:ext uri="{FF2B5EF4-FFF2-40B4-BE49-F238E27FC236}">
                <a16:creationId xmlns:a16="http://schemas.microsoft.com/office/drawing/2014/main" id="{947183D4-B78F-437A-B637-F67ABB20309B}"/>
              </a:ext>
            </a:extLst>
          </p:cNvPr>
          <p:cNvSpPr>
            <a:spLocks xmlns:a="http://schemas.openxmlformats.org/drawingml/2006/main" noGrp="1"/>
          </p:cNvSpPr>
          <p:nvPr/>
        </p:nvSpPr>
        <p:spPr>
          <a:xfrm xmlns:a="http://schemas.openxmlformats.org/drawingml/2006/main">
            <a:off x="914400" y="20383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DF6765"/>
                </a:solidFill>
                <a:latin typeface="Arial"/>
                <a:ea typeface="Arial"/>
                <a:cs typeface="Arial"/>
              </a:defRPr>
            </a:defPPr>
          </a:lstStyle>
          <a:p xmlns:a="http://schemas.openxmlformats.org/drawingml/2006/main">
            <a:pPr>
              <a:defRPr sz="2325" b="1" i="0">
                <a:solidFill>
                  <a:srgbClr val="DF6765"/>
                </a:solidFill>
                <a:latin typeface="Arial"/>
                <a:ea typeface="Arial"/>
                <a:cs typeface="Arial"/>
              </a:defRPr>
            </a:pPr>
            <a:r>
              <a:rPr sz="2325" b="1" i="0">
                <a:solidFill>
                  <a:srgbClr val="DF6765"/>
                </a:solidFill>
                <a:latin typeface="Arial"/>
                <a:ea typeface="Arial"/>
                <a:cs typeface="Arial"/>
              </a:rPr>
              <a:t>FEEDBACK</a:t>
            </a:r>
          </a:p>
        </p:txBody>
      </p:sp>
      <p:sp>
        <p:nvSpPr>
          <p:cNvPr id="4" name="">
            <a:extLst xmlns:a="http://schemas.openxmlformats.org/drawingml/2006/main">
              <a:ext uri="{FF2B5EF4-FFF2-40B4-BE49-F238E27FC236}">
                <a16:creationId xmlns:a16="http://schemas.microsoft.com/office/drawing/2014/main" id="{D5E04A85-1D6C-47CC-BE4A-E517907F9C49}"/>
              </a:ext>
            </a:extLst>
          </p:cNvPr>
          <p:cNvSpPr>
            <a:spLocks xmlns:a="http://schemas.openxmlformats.org/drawingml/2006/main" noGrp="1"/>
          </p:cNvSpPr>
          <p:nvPr/>
        </p:nvSpPr>
        <p:spPr>
          <a:xfrm xmlns:a="http://schemas.openxmlformats.org/drawingml/2006/main">
            <a:off x="4762500" y="20383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5F9F4B"/>
                </a:solidFill>
                <a:latin typeface="Arial"/>
                <a:ea typeface="Arial"/>
                <a:cs typeface="Arial"/>
              </a:defRPr>
            </a:defPPr>
          </a:lstStyle>
          <a:p xmlns:a="http://schemas.openxmlformats.org/drawingml/2006/main">
            <a:pPr>
              <a:defRPr sz="2325" b="1" i="0">
                <a:solidFill>
                  <a:srgbClr val="5F9F4B"/>
                </a:solidFill>
                <a:latin typeface="Arial"/>
                <a:ea typeface="Arial"/>
                <a:cs typeface="Arial"/>
              </a:defRPr>
            </a:pPr>
            <a:r>
              <a:rPr sz="2325" b="1" i="0">
                <a:solidFill>
                  <a:srgbClr val="5F9F4B"/>
                </a:solidFill>
                <a:latin typeface="Arial"/>
                <a:ea typeface="Arial"/>
                <a:cs typeface="Arial"/>
              </a:rPr>
              <a:t>CHANGE</a:t>
            </a:r>
          </a:p>
        </p:txBody>
      </p:sp>
      <p:sp>
        <p:nvSpPr>
          <p:cNvPr id="5" name="">
            <a:extLst xmlns:a="http://schemas.openxmlformats.org/drawingml/2006/main">
              <a:ext uri="{FF2B5EF4-FFF2-40B4-BE49-F238E27FC236}">
                <a16:creationId xmlns:a16="http://schemas.microsoft.com/office/drawing/2014/main" id="{DAD50491-F2C0-455A-AC7C-726A521BA929}"/>
              </a:ext>
            </a:extLst>
          </p:cNvPr>
          <p:cNvSpPr>
            <a:spLocks xmlns:a="http://schemas.openxmlformats.org/drawingml/2006/main" noGrp="1"/>
          </p:cNvSpPr>
          <p:nvPr/>
        </p:nvSpPr>
        <p:spPr>
          <a:xfrm xmlns:a="http://schemas.openxmlformats.org/drawingml/2006/main">
            <a:off x="8610600" y="20383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2F6F89"/>
                </a:solidFill>
                <a:latin typeface="Arial"/>
                <a:ea typeface="Arial"/>
                <a:cs typeface="Arial"/>
              </a:defRPr>
            </a:defPPr>
          </a:lstStyle>
          <a:p xmlns:a="http://schemas.openxmlformats.org/drawingml/2006/main">
            <a:pPr>
              <a:defRPr sz="2325" b="1" i="0">
                <a:solidFill>
                  <a:srgbClr val="2F6F89"/>
                </a:solidFill>
                <a:latin typeface="Arial"/>
                <a:ea typeface="Arial"/>
                <a:cs typeface="Arial"/>
              </a:defRPr>
            </a:pPr>
            <a:r>
              <a:rPr sz="2325" b="1" i="0">
                <a:solidFill>
                  <a:srgbClr val="2F6F89"/>
                </a:solidFill>
                <a:latin typeface="Arial"/>
                <a:ea typeface="Arial"/>
                <a:cs typeface="Arial"/>
              </a:rPr>
              <a:t>EVIDENCE</a:t>
            </a:r>
          </a:p>
        </p:txBody>
      </p:sp>
      <p:sp>
        <p:nvSpPr>
          <p:cNvPr id="6" name="">
            <a:extLst xmlns:a="http://schemas.openxmlformats.org/drawingml/2006/main">
              <a:ext uri="{FF2B5EF4-FFF2-40B4-BE49-F238E27FC236}">
                <a16:creationId xmlns:a16="http://schemas.microsoft.com/office/drawing/2014/main" id="{AC984606-D225-4872-ABD4-3A349055AF40}"/>
              </a:ext>
            </a:extLst>
          </p:cNvPr>
          <p:cNvSpPr>
            <a:spLocks xmlns:a="http://schemas.openxmlformats.org/drawingml/2006/main" noGrp="1"/>
          </p:cNvSpPr>
          <p:nvPr/>
        </p:nvSpPr>
        <p:spPr>
          <a:xfrm xmlns:a="http://schemas.openxmlformats.org/drawingml/2006/main">
            <a:off x="914400" y="30289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What did the tester experience?</a:t>
            </a:r>
          </a:p>
        </p:txBody>
      </p:sp>
      <p:sp>
        <p:nvSpPr>
          <p:cNvPr id="7" name="">
            <a:extLst xmlns:a="http://schemas.openxmlformats.org/drawingml/2006/main">
              <a:ext uri="{FF2B5EF4-FFF2-40B4-BE49-F238E27FC236}">
                <a16:creationId xmlns:a16="http://schemas.microsoft.com/office/drawing/2014/main" id="{851F0DC6-7576-4F76-835A-5CB63494A823}"/>
              </a:ext>
            </a:extLst>
          </p:cNvPr>
          <p:cNvSpPr>
            <a:spLocks xmlns:a="http://schemas.openxmlformats.org/drawingml/2006/main" noGrp="1"/>
          </p:cNvSpPr>
          <p:nvPr/>
        </p:nvSpPr>
        <p:spPr>
          <a:xfrm xmlns:a="http://schemas.openxmlformats.org/drawingml/2006/main">
            <a:off x="4762500" y="30289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What small revision addresses it?</a:t>
            </a:r>
          </a:p>
        </p:txBody>
      </p:sp>
      <p:sp>
        <p:nvSpPr>
          <p:cNvPr id="8" name="">
            <a:extLst xmlns:a="http://schemas.openxmlformats.org/drawingml/2006/main">
              <a:ext uri="{FF2B5EF4-FFF2-40B4-BE49-F238E27FC236}">
                <a16:creationId xmlns:a16="http://schemas.microsoft.com/office/drawing/2014/main" id="{2F733A81-2334-4220-A81D-756388DC3FC3}"/>
              </a:ext>
            </a:extLst>
          </p:cNvPr>
          <p:cNvSpPr>
            <a:spLocks xmlns:a="http://schemas.openxmlformats.org/drawingml/2006/main" noGrp="1"/>
          </p:cNvSpPr>
          <p:nvPr/>
        </p:nvSpPr>
        <p:spPr>
          <a:xfrm xmlns:a="http://schemas.openxmlformats.org/drawingml/2006/main">
            <a:off x="8610600" y="3028950"/>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172433"/>
                </a:solidFill>
                <a:latin typeface="Arial"/>
                <a:ea typeface="Arial"/>
                <a:cs typeface="Arial"/>
              </a:defRPr>
            </a:defPPr>
          </a:lstStyle>
          <a:p xmlns:a="http://schemas.openxmlformats.org/drawingml/2006/main">
            <a:pPr>
              <a:defRPr sz="1800" b="0" i="0">
                <a:solidFill>
                  <a:srgbClr val="172433"/>
                </a:solidFill>
                <a:latin typeface="Arial"/>
                <a:ea typeface="Arial"/>
                <a:cs typeface="Arial"/>
              </a:defRPr>
            </a:pPr>
            <a:r>
              <a:rPr sz="1800" b="0" i="0">
                <a:solidFill>
                  <a:srgbClr val="172433"/>
                </a:solidFill>
                <a:latin typeface="Arial"/>
                <a:ea typeface="Arial"/>
                <a:cs typeface="Arial"/>
              </a:rPr>
              <a:t>Which inputs prove it works?</a:t>
            </a:r>
          </a:p>
        </p:txBody>
      </p:sp>
      <p:sp>
        <p:nvSpPr>
          <p:cNvPr id="9" name="">
            <a:extLst xmlns:a="http://schemas.openxmlformats.org/drawingml/2006/main">
              <a:ext uri="{FF2B5EF4-FFF2-40B4-BE49-F238E27FC236}">
                <a16:creationId xmlns:a16="http://schemas.microsoft.com/office/drawing/2014/main" id="{883780F3-B28C-4601-AADC-B4D98B45C4A4}"/>
              </a:ext>
            </a:extLst>
          </p:cNvPr>
          <p:cNvSpPr>
            <a:spLocks xmlns:a="http://schemas.openxmlformats.org/drawingml/2006/main" noGrp="1"/>
          </p:cNvSpPr>
          <p:nvPr/>
        </p:nvSpPr>
        <p:spPr>
          <a:xfrm xmlns:a="http://schemas.openxmlformats.org/drawingml/2006/main">
            <a:off x="1295400" y="5048250"/>
            <a:ext cx="9601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i="0">
                <a:solidFill>
                  <a:srgbClr val="173654"/>
                </a:solidFill>
                <a:latin typeface="Arial"/>
                <a:ea typeface="Arial"/>
                <a:cs typeface="Arial"/>
              </a:defRPr>
            </a:defPPr>
          </a:lstStyle>
          <a:p xmlns:a="http://schemas.openxmlformats.org/drawingml/2006/main">
            <a:pPr>
              <a:defRPr sz="2175" b="1" i="0">
                <a:solidFill>
                  <a:srgbClr val="173654"/>
                </a:solidFill>
                <a:latin typeface="Arial"/>
                <a:ea typeface="Arial"/>
                <a:cs typeface="Arial"/>
              </a:defRPr>
            </a:pPr>
            <a:r>
              <a:rPr sz="2175" b="1" i="0">
                <a:solidFill>
                  <a:srgbClr val="173654"/>
                </a:solidFill>
                <a:latin typeface="Arial"/>
                <a:ea typeface="Arial"/>
                <a:cs typeface="Arial"/>
              </a:rPr>
              <a:t>Implement the revision, rerun the program, and show your partner.</a:t>
            </a:r>
          </a:p>
        </p:txBody>
      </p:sp>
      <p:sp>
        <p:nvSpPr>
          <p:cNvPr id="10" name="">
            <a:extLst xmlns:a="http://schemas.openxmlformats.org/drawingml/2006/main">
              <a:ext uri="{FF2B5EF4-FFF2-40B4-BE49-F238E27FC236}">
                <a16:creationId xmlns:a16="http://schemas.microsoft.com/office/drawing/2014/main" id="{94D79E08-312C-4A37-9D89-C05805116744}"/>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12:40-12:50 | Required revision</a:t>
            </a:r>
          </a:p>
        </p:txBody>
      </p:sp>
    </p:spTree>
    <p:extLst>
      <p:ext uri="{BB962C8B-B14F-4D97-AF65-F5344CB8AC3E}">
        <p14:creationId xmlns:p14="http://schemas.microsoft.com/office/powerpoint/2010/main" val="325542955"/>
      </p:ext>
    </p:extLst>
  </p:cSld>
</p:sld>
</file>

<file path=ppt/slides/slide17.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4ADBB4-B666-4545-BA47-197D290A5A66}"/>
              </a:ext>
            </a:extLst>
          </p:cNvPr>
          <p:cNvSpPr>
            <a:spLocks xmlns:a="http://schemas.openxmlformats.org/drawingml/2006/main" noGrp="1"/>
          </p:cNvSpPr>
          <p:nvPr/>
        </p:nvSpPr>
        <p:spPr>
          <a:xfrm xmlns:a="http://schemas.openxmlformats.org/drawingml/2006/main">
            <a:off x="704850" y="5143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FFFFFF"/>
                </a:solidFill>
                <a:latin typeface="Arial"/>
                <a:ea typeface="Arial"/>
                <a:cs typeface="Arial"/>
              </a:defRPr>
            </a:defPPr>
          </a:lstStyle>
          <a:p xmlns:a="http://schemas.openxmlformats.org/drawingml/2006/main">
            <a:pPr>
              <a:defRPr sz="3150" b="1" i="0">
                <a:solidFill>
                  <a:srgbClr val="FFFFFF"/>
                </a:solidFill>
                <a:latin typeface="Arial"/>
                <a:ea typeface="Arial"/>
                <a:cs typeface="Arial"/>
              </a:defRPr>
            </a:pPr>
            <a:r>
              <a:rPr sz="3150" b="1" i="0">
                <a:solidFill>
                  <a:srgbClr val="FFFFFF"/>
                </a:solidFill>
                <a:latin typeface="Arial"/>
                <a:ea typeface="Arial"/>
                <a:cs typeface="Arial"/>
              </a:rPr>
              <a:t>One million users arrive overnight</a:t>
            </a:r>
          </a:p>
        </p:txBody>
      </p:sp>
      <p:sp>
        <p:nvSpPr>
          <p:cNvPr id="2" name="">
            <a:extLst xmlns:a="http://schemas.openxmlformats.org/drawingml/2006/main">
              <a:ext uri="{FF2B5EF4-FFF2-40B4-BE49-F238E27FC236}">
                <a16:creationId xmlns:a16="http://schemas.microsoft.com/office/drawing/2014/main" id="{06A1A017-16CC-42C3-ABBB-E82503906E25}"/>
              </a:ext>
            </a:extLst>
          </p:cNvPr>
          <p:cNvSpPr>
            <a:spLocks xmlns:a="http://schemas.openxmlformats.org/drawingml/2006/main" noGrp="1"/>
          </p:cNvSpPr>
          <p:nvPr/>
        </p:nvSpPr>
        <p:spPr>
          <a:xfrm xmlns:a="http://schemas.openxmlformats.org/drawingml/2006/main">
            <a:off x="742950" y="14097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250" b="0" i="0">
                <a:solidFill>
                  <a:srgbClr val="B9DBA8"/>
                </a:solidFill>
                <a:latin typeface="Arial"/>
                <a:ea typeface="Arial"/>
                <a:cs typeface="Arial"/>
              </a:defRPr>
            </a:defPPr>
          </a:lstStyle>
          <a:p xmlns:a="http://schemas.openxmlformats.org/drawingml/2006/main">
            <a:pPr>
              <a:defRPr sz="2250" b="0" i="0">
                <a:solidFill>
                  <a:srgbClr val="B9DBA8"/>
                </a:solidFill>
                <a:latin typeface="Arial"/>
                <a:ea typeface="Arial"/>
                <a:cs typeface="Arial"/>
              </a:defRPr>
            </a:pPr>
            <a:r>
              <a:rPr sz="2250" b="0" i="0">
                <a:solidFill>
                  <a:srgbClr val="B9DBA8"/>
                </a:solidFill>
                <a:latin typeface="Arial"/>
                <a:ea typeface="Arial"/>
                <a:cs typeface="Arial"/>
              </a:rPr>
              <a:t>What breaks first?</a:t>
            </a:r>
          </a:p>
        </p:txBody>
      </p:sp>
      <p:sp>
        <p:nvSpPr>
          <p:cNvPr id="3" name="">
            <a:extLst xmlns:a="http://schemas.openxmlformats.org/drawingml/2006/main">
              <a:ext uri="{FF2B5EF4-FFF2-40B4-BE49-F238E27FC236}">
                <a16:creationId xmlns:a16="http://schemas.microsoft.com/office/drawing/2014/main" id="{EB44A062-5103-45B4-8120-A24769405DB1}"/>
              </a:ext>
            </a:extLst>
          </p:cNvPr>
          <p:cNvSpPr>
            <a:spLocks xmlns:a="http://schemas.openxmlformats.org/drawingml/2006/main" noGrp="1"/>
          </p:cNvSpPr>
          <p:nvPr/>
        </p:nvSpPr>
        <p:spPr>
          <a:xfrm xmlns:a="http://schemas.openxmlformats.org/drawingml/2006/main">
            <a:off x="1066800" y="2152650"/>
            <a:ext cx="981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a:solidFill>
                  <a:srgbClr val="FFFFFF"/>
                </a:solidFill>
                <a:latin typeface="Arial"/>
                <a:ea typeface="Arial"/>
                <a:cs typeface="Arial"/>
              </a:defRPr>
            </a:defPPr>
          </a:lstStyle>
          <a:p xmlns:a="http://schemas.openxmlformats.org/drawingml/2006/main">
            <a:pPr marL="254000" indent="-127000">
              <a:spcAft>
                <a:spcPts val="1500"/>
              </a:spcAft>
              <a:buChar char="•"/>
              <a:defRPr sz="2175">
                <a:solidFill>
                  <a:srgbClr val="FFFFFF"/>
                </a:solidFill>
                <a:latin typeface="Arial"/>
                <a:ea typeface="Arial"/>
                <a:cs typeface="Arial"/>
              </a:defRPr>
            </a:pPr>
            <a:r>
              <a:rPr sz="2175">
                <a:solidFill>
                  <a:srgbClr val="FFFFFF"/>
                </a:solidFill>
                <a:latin typeface="Arial"/>
                <a:ea typeface="Arial"/>
                <a:cs typeface="Arial"/>
              </a:rPr>
              <a:t>Can the computers handle that many requests?</a:t>
            </a:r>
          </a:p>
          <a:p xmlns:a="http://schemas.openxmlformats.org/drawingml/2006/main">
            <a:pPr marL="254000" indent="-127000">
              <a:spcAft>
                <a:spcPts val="1500"/>
              </a:spcAft>
              <a:buChar char="•"/>
              <a:defRPr sz="2175">
                <a:solidFill>
                  <a:srgbClr val="FFFFFF"/>
                </a:solidFill>
                <a:latin typeface="Arial"/>
                <a:ea typeface="Arial"/>
                <a:cs typeface="Arial"/>
              </a:defRPr>
            </a:pPr>
            <a:r>
              <a:rPr sz="2175">
                <a:solidFill>
                  <a:srgbClr val="FFFFFF"/>
                </a:solidFill>
                <a:latin typeface="Arial"/>
                <a:ea typeface="Arial"/>
                <a:cs typeface="Arial"/>
              </a:rPr>
              <a:t>Where will accounts and saved games live?</a:t>
            </a:r>
          </a:p>
          <a:p xmlns:a="http://schemas.openxmlformats.org/drawingml/2006/main">
            <a:pPr marL="254000" indent="-127000">
              <a:spcAft>
                <a:spcPts val="1500"/>
              </a:spcAft>
              <a:buChar char="•"/>
              <a:defRPr sz="2175">
                <a:solidFill>
                  <a:srgbClr val="FFFFFF"/>
                </a:solidFill>
                <a:latin typeface="Arial"/>
                <a:ea typeface="Arial"/>
                <a:cs typeface="Arial"/>
              </a:defRPr>
            </a:pPr>
            <a:r>
              <a:rPr sz="2175">
                <a:solidFill>
                  <a:srgbClr val="FFFFFF"/>
                </a:solidFill>
                <a:latin typeface="Arial"/>
                <a:ea typeface="Arial"/>
                <a:cs typeface="Arial"/>
              </a:rPr>
              <a:t>How will you know the service is slowing down?</a:t>
            </a:r>
          </a:p>
          <a:p xmlns:a="http://schemas.openxmlformats.org/drawingml/2006/main">
            <a:pPr marL="254000" indent="-127000">
              <a:spcAft>
                <a:spcPts val="1500"/>
              </a:spcAft>
              <a:buChar char="•"/>
              <a:defRPr sz="2175">
                <a:solidFill>
                  <a:srgbClr val="FFFFFF"/>
                </a:solidFill>
                <a:latin typeface="Arial"/>
                <a:ea typeface="Arial"/>
                <a:cs typeface="Arial"/>
              </a:defRPr>
            </a:pPr>
            <a:r>
              <a:rPr sz="2175">
                <a:solidFill>
                  <a:srgbClr val="FFFFFF"/>
                </a:solidFill>
                <a:latin typeface="Arial"/>
                <a:ea typeface="Arial"/>
                <a:cs typeface="Arial"/>
              </a:rPr>
              <a:t>What should happen when one part fails?</a:t>
            </a:r>
          </a:p>
        </p:txBody>
      </p:sp>
      <p:sp>
        <p:nvSpPr>
          <p:cNvPr id="4" name="">
            <a:extLst xmlns:a="http://schemas.openxmlformats.org/drawingml/2006/main">
              <a:ext uri="{FF2B5EF4-FFF2-40B4-BE49-F238E27FC236}">
                <a16:creationId xmlns:a16="http://schemas.microsoft.com/office/drawing/2014/main" id="{A328C03D-B751-4BE7-954E-590202CA3870}"/>
              </a:ext>
            </a:extLst>
          </p:cNvPr>
          <p:cNvSpPr>
            <a:spLocks xmlns:a="http://schemas.openxmlformats.org/drawingml/2006/main" noGrp="1"/>
          </p:cNvSpPr>
          <p:nvPr/>
        </p:nvSpPr>
        <p:spPr>
          <a:xfrm xmlns:a="http://schemas.openxmlformats.org/drawingml/2006/main">
            <a:off x="1238250" y="56197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FFB1AD"/>
                </a:solidFill>
                <a:latin typeface="Arial"/>
                <a:ea typeface="Arial"/>
                <a:cs typeface="Arial"/>
              </a:defRPr>
            </a:defPPr>
          </a:lstStyle>
          <a:p xmlns:a="http://schemas.openxmlformats.org/drawingml/2006/main">
            <a:pPr>
              <a:defRPr sz="1950" b="1" i="0">
                <a:solidFill>
                  <a:srgbClr val="FFB1AD"/>
                </a:solidFill>
                <a:latin typeface="Arial"/>
                <a:ea typeface="Arial"/>
                <a:cs typeface="Arial"/>
              </a:defRPr>
            </a:pPr>
            <a:r>
              <a:rPr sz="1950" b="1" i="0">
                <a:solidFill>
                  <a:srgbClr val="FFB1AD"/>
                </a:solidFill>
                <a:latin typeface="Arial"/>
                <a:ea typeface="Arial"/>
                <a:cs typeface="Arial"/>
              </a:rPr>
              <a:t>Choose the first problem your engineering team would investigate.</a:t>
            </a:r>
          </a:p>
        </p:txBody>
      </p:sp>
    </p:spTree>
    <p:extLst>
      <p:ext uri="{BB962C8B-B14F-4D97-AF65-F5344CB8AC3E}">
        <p14:creationId xmlns:p14="http://schemas.microsoft.com/office/powerpoint/2010/main" val="416607813"/>
      </p:ext>
    </p:extLst>
  </p:cSld>
</p:sld>
</file>

<file path=ppt/slides/slide18.xml><?xml version="1.0" encoding="utf-8"?>
<p:sld xmlns:p="http://schemas.openxmlformats.org/presentationml/2006/main">
  <p:cSld>
    <p:bg>
      <p:bgPr>
        <a:solidFill xmlns:a="http://schemas.openxmlformats.org/drawingml/2006/main">
          <a:srgbClr val="EAF2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0CD01D-254B-43F3-848A-CB4641E2702C}"/>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Protecting the users and the system</a:t>
            </a:r>
          </a:p>
        </p:txBody>
      </p:sp>
      <p:sp>
        <p:nvSpPr>
          <p:cNvPr id="2" name="">
            <a:extLst xmlns:a="http://schemas.openxmlformats.org/drawingml/2006/main">
              <a:ext uri="{FF2B5EF4-FFF2-40B4-BE49-F238E27FC236}">
                <a16:creationId xmlns:a16="http://schemas.microsoft.com/office/drawing/2014/main" id="{6E61E3AA-D855-4FB6-A0C6-95E5FD3E90E1}"/>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Growth attracts mistakes, abuse, and deliberate attacks</a:t>
            </a:r>
          </a:p>
        </p:txBody>
      </p:sp>
      <p:sp>
        <p:nvSpPr>
          <p:cNvPr id="3" name="">
            <a:extLst xmlns:a="http://schemas.openxmlformats.org/drawingml/2006/main">
              <a:ext uri="{FF2B5EF4-FFF2-40B4-BE49-F238E27FC236}">
                <a16:creationId xmlns:a16="http://schemas.microsoft.com/office/drawing/2014/main" id="{ED8C14F7-AAC7-4115-BE2C-B23D120DFC3E}"/>
              </a:ext>
            </a:extLst>
          </p:cNvPr>
          <p:cNvSpPr>
            <a:spLocks xmlns:a="http://schemas.openxmlformats.org/drawingml/2006/main" noGrp="1"/>
          </p:cNvSpPr>
          <p:nvPr/>
        </p:nvSpPr>
        <p:spPr>
          <a:xfrm xmlns:a="http://schemas.openxmlformats.org/drawingml/2006/main">
            <a:off x="1066800" y="1638300"/>
            <a:ext cx="9906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a:solidFill>
                  <a:srgbClr val="172433"/>
                </a:solidFill>
                <a:latin typeface="Arial"/>
                <a:ea typeface="Arial"/>
                <a:cs typeface="Arial"/>
              </a:defRPr>
            </a:defPPr>
          </a:lstStyle>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Collect only the user data the product needs</a:t>
            </a:r>
          </a:p>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Protect accounts with strong authentication</a:t>
            </a:r>
          </a:p>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Validate input before the program uses it</a:t>
            </a:r>
          </a:p>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Limit repeated requests and suspicious activity</a:t>
            </a:r>
          </a:p>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Update dependencies and repair known weaknesses</a:t>
            </a:r>
          </a:p>
          <a:p xmlns:a="http://schemas.openxmlformats.org/drawingml/2006/main">
            <a:pPr marL="254000" indent="-127000">
              <a:spcAft>
                <a:spcPts val="1300"/>
              </a:spcAft>
              <a:buChar char="•"/>
              <a:defRPr sz="2025">
                <a:solidFill>
                  <a:srgbClr val="172433"/>
                </a:solidFill>
                <a:latin typeface="Arial"/>
                <a:ea typeface="Arial"/>
                <a:cs typeface="Arial"/>
              </a:defRPr>
            </a:pPr>
            <a:r>
              <a:rPr sz="2025">
                <a:solidFill>
                  <a:srgbClr val="172433"/>
                </a:solidFill>
                <a:latin typeface="Arial"/>
                <a:ea typeface="Arial"/>
                <a:cs typeface="Arial"/>
              </a:rPr>
              <a:t>Keep logs and alerts for unusual behavior</a:t>
            </a:r>
          </a:p>
        </p:txBody>
      </p:sp>
      <p:sp>
        <p:nvSpPr>
          <p:cNvPr id="4" name="">
            <a:extLst xmlns:a="http://schemas.openxmlformats.org/drawingml/2006/main">
              <a:ext uri="{FF2B5EF4-FFF2-40B4-BE49-F238E27FC236}">
                <a16:creationId xmlns:a16="http://schemas.microsoft.com/office/drawing/2014/main" id="{E1EC94EC-1F0E-4D0D-B780-3960D508E6D7}"/>
              </a:ext>
            </a:extLst>
          </p:cNvPr>
          <p:cNvSpPr>
            <a:spLocks xmlns:a="http://schemas.openxmlformats.org/drawingml/2006/main" noGrp="1"/>
          </p:cNvSpPr>
          <p:nvPr/>
        </p:nvSpPr>
        <p:spPr>
          <a:xfrm xmlns:a="http://schemas.openxmlformats.org/drawingml/2006/main">
            <a:off x="1123950" y="5562600"/>
            <a:ext cx="9944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i="0">
                <a:solidFill>
                  <a:srgbClr val="DF6765"/>
                </a:solidFill>
                <a:latin typeface="Arial"/>
                <a:ea typeface="Arial"/>
                <a:cs typeface="Arial"/>
              </a:defRPr>
            </a:defPPr>
          </a:lstStyle>
          <a:p xmlns:a="http://schemas.openxmlformats.org/drawingml/2006/main">
            <a:pPr>
              <a:defRPr sz="1950" b="1" i="0">
                <a:solidFill>
                  <a:srgbClr val="DF6765"/>
                </a:solidFill>
                <a:latin typeface="Arial"/>
                <a:ea typeface="Arial"/>
                <a:cs typeface="Arial"/>
              </a:defRPr>
            </a:pPr>
            <a:r>
              <a:rPr sz="1950" b="1" i="0">
                <a:solidFill>
                  <a:srgbClr val="DF6765"/>
                </a:solidFill>
                <a:latin typeface="Arial"/>
                <a:ea typeface="Arial"/>
                <a:cs typeface="Arial"/>
              </a:rPr>
              <a:t>Which risk would you address before launch, and how would you test the protection?</a:t>
            </a:r>
          </a:p>
        </p:txBody>
      </p:sp>
      <p:sp>
        <p:nvSpPr>
          <p:cNvPr id="5" name="">
            <a:extLst xmlns:a="http://schemas.openxmlformats.org/drawingml/2006/main">
              <a:ext uri="{FF2B5EF4-FFF2-40B4-BE49-F238E27FC236}">
                <a16:creationId xmlns:a16="http://schemas.microsoft.com/office/drawing/2014/main" id="{E066F3F8-87CA-4EF0-AD4E-8207338D4B4E}"/>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12:50-12:55 | Security reflection</a:t>
            </a:r>
          </a:p>
        </p:txBody>
      </p:sp>
    </p:spTree>
    <p:extLst>
      <p:ext uri="{BB962C8B-B14F-4D97-AF65-F5344CB8AC3E}">
        <p14:creationId xmlns:p14="http://schemas.microsoft.com/office/powerpoint/2010/main" val="170472162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60787F6-E272-43F9-B16B-9DC25B2C2B6B}"/>
              </a:ext>
            </a:extLst>
          </p:cNvPr>
          <p:cNvSpPr>
            <a:spLocks xmlns:a="http://schemas.openxmlformats.org/drawingml/2006/main" noGrp="1"/>
          </p:cNvSpPr>
          <p:nvPr/>
        </p:nvSpPr>
        <p:spPr>
          <a:xfrm xmlns:a="http://schemas.openxmlformats.org/drawingml/2006/main">
            <a:off x="685800" y="40005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000" b="1" i="0">
                <a:solidFill>
                  <a:srgbClr val="173654"/>
                </a:solidFill>
                <a:latin typeface="Arial"/>
                <a:ea typeface="Arial"/>
                <a:cs typeface="Arial"/>
              </a:defRPr>
            </a:defPPr>
          </a:lstStyle>
          <a:p xmlns:a="http://schemas.openxmlformats.org/drawingml/2006/main">
            <a:pPr>
              <a:defRPr sz="3000" b="1" i="0">
                <a:solidFill>
                  <a:srgbClr val="173654"/>
                </a:solidFill>
                <a:latin typeface="Arial"/>
                <a:ea typeface="Arial"/>
                <a:cs typeface="Arial"/>
              </a:defRPr>
            </a:pPr>
            <a:r>
              <a:rPr sz="3000" b="1" i="0">
                <a:solidFill>
                  <a:srgbClr val="173654"/>
                </a:solidFill>
                <a:latin typeface="Arial"/>
                <a:ea typeface="Arial"/>
                <a:cs typeface="Arial"/>
              </a:rPr>
              <a:t>Engineering growth</a:t>
            </a:r>
          </a:p>
        </p:txBody>
      </p:sp>
      <p:sp>
        <p:nvSpPr>
          <p:cNvPr id="2" name="">
            <a:extLst xmlns:a="http://schemas.openxmlformats.org/drawingml/2006/main">
              <a:ext uri="{FF2B5EF4-FFF2-40B4-BE49-F238E27FC236}">
                <a16:creationId xmlns:a16="http://schemas.microsoft.com/office/drawing/2014/main" id="{661B56B2-BCA0-4F34-9EC9-0BF131A6F753}"/>
              </a:ext>
            </a:extLst>
          </p:cNvPr>
          <p:cNvSpPr>
            <a:spLocks xmlns:a="http://schemas.openxmlformats.org/drawingml/2006/main" noGrp="1"/>
          </p:cNvSpPr>
          <p:nvPr/>
        </p:nvSpPr>
        <p:spPr>
          <a:xfrm xmlns:a="http://schemas.openxmlformats.org/drawingml/2006/main">
            <a:off x="704850" y="10096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i="0">
                <a:solidFill>
                  <a:srgbClr val="5D6B78"/>
                </a:solidFill>
                <a:latin typeface="Arial"/>
                <a:ea typeface="Arial"/>
                <a:cs typeface="Arial"/>
              </a:defRPr>
            </a:defPPr>
          </a:lstStyle>
          <a:p xmlns:a="http://schemas.openxmlformats.org/drawingml/2006/main">
            <a:pPr>
              <a:defRPr sz="1575" b="0" i="0">
                <a:solidFill>
                  <a:srgbClr val="5D6B78"/>
                </a:solidFill>
                <a:latin typeface="Arial"/>
                <a:ea typeface="Arial"/>
                <a:cs typeface="Arial"/>
              </a:defRPr>
            </a:pPr>
            <a:r>
              <a:rPr sz="1575" b="0" i="0">
                <a:solidFill>
                  <a:srgbClr val="5D6B78"/>
                </a:solidFill>
                <a:latin typeface="Arial"/>
                <a:ea typeface="Arial"/>
                <a:cs typeface="Arial"/>
              </a:rPr>
              <a:t>Today’s project records what you can build now</a:t>
            </a:r>
          </a:p>
        </p:txBody>
      </p:sp>
      <p:sp>
        <p:nvSpPr>
          <p:cNvPr id="3" name="">
            <a:extLst xmlns:a="http://schemas.openxmlformats.org/drawingml/2006/main">
              <a:ext uri="{FF2B5EF4-FFF2-40B4-BE49-F238E27FC236}">
                <a16:creationId xmlns:a16="http://schemas.microsoft.com/office/drawing/2014/main" id="{887EDC99-16B2-4945-B792-4645563C1883}"/>
              </a:ext>
            </a:extLst>
          </p:cNvPr>
          <p:cNvSpPr>
            <a:spLocks xmlns:a="http://schemas.openxmlformats.org/drawingml/2006/main" noGrp="1"/>
          </p:cNvSpPr>
          <p:nvPr/>
        </p:nvSpPr>
        <p:spPr>
          <a:xfrm xmlns:a="http://schemas.openxmlformats.org/drawingml/2006/main">
            <a:off x="895350" y="2247900"/>
            <a:ext cx="2000250" cy="762000"/>
          </a:xfrm>
          <a:prstGeom xmlns:a="http://schemas.openxmlformats.org/drawingml/2006/main" prst="roundRect">
            <a:avLst>
              <a:gd name="adj" fmla="val 10000"/>
            </a:avLst>
          </a:prstGeom>
          <a:solidFill xmlns:a="http://schemas.openxmlformats.org/drawingml/2006/main">
            <a:srgbClr val="FBECEC"/>
          </a:solidFill>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DF6765"/>
                </a:solidFill>
                <a:latin typeface="Arial"/>
                <a:ea typeface="Arial"/>
                <a:cs typeface="Arial"/>
              </a:defRPr>
            </a:defPPr>
          </a:lstStyle>
          <a:p xmlns:a="http://schemas.openxmlformats.org/drawingml/2006/main">
            <a:pPr>
              <a:defRPr sz="2400" b="1" i="0">
                <a:solidFill>
                  <a:srgbClr val="DF6765"/>
                </a:solidFill>
                <a:latin typeface="Arial"/>
                <a:ea typeface="Arial"/>
                <a:cs typeface="Arial"/>
              </a:defRPr>
            </a:pPr>
            <a:r>
              <a:rPr sz="2400" b="1" i="0">
                <a:solidFill>
                  <a:srgbClr val="DF6765"/>
                </a:solidFill>
                <a:latin typeface="Arial"/>
                <a:ea typeface="Arial"/>
                <a:cs typeface="Arial"/>
              </a:rPr>
              <a:t>BUILD</a:t>
            </a:r>
          </a:p>
        </p:txBody>
      </p:sp>
      <p:sp>
        <p:nvSpPr>
          <p:cNvPr id="4" name="">
            <a:extLst xmlns:a="http://schemas.openxmlformats.org/drawingml/2006/main">
              <a:ext uri="{FF2B5EF4-FFF2-40B4-BE49-F238E27FC236}">
                <a16:creationId xmlns:a16="http://schemas.microsoft.com/office/drawing/2014/main" id="{7605B22D-4C57-41F6-81ED-FFADCA45645A}"/>
              </a:ext>
            </a:extLst>
          </p:cNvPr>
          <p:cNvSpPr>
            <a:spLocks xmlns:a="http://schemas.openxmlformats.org/drawingml/2006/main" noGrp="1"/>
          </p:cNvSpPr>
          <p:nvPr/>
        </p:nvSpPr>
        <p:spPr>
          <a:xfrm xmlns:a="http://schemas.openxmlformats.org/drawingml/2006/main">
            <a:off x="3695700" y="2247900"/>
            <a:ext cx="2000250" cy="762000"/>
          </a:xfrm>
          <a:prstGeom xmlns:a="http://schemas.openxmlformats.org/drawingml/2006/main" prst="roundRect">
            <a:avLst>
              <a:gd name="adj" fmla="val 10000"/>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2F6F89"/>
                </a:solidFill>
                <a:latin typeface="Arial"/>
                <a:ea typeface="Arial"/>
                <a:cs typeface="Arial"/>
              </a:defRPr>
            </a:defPPr>
          </a:lstStyle>
          <a:p xmlns:a="http://schemas.openxmlformats.org/drawingml/2006/main">
            <a:pPr>
              <a:defRPr sz="2400" b="1" i="0">
                <a:solidFill>
                  <a:srgbClr val="2F6F89"/>
                </a:solidFill>
                <a:latin typeface="Arial"/>
                <a:ea typeface="Arial"/>
                <a:cs typeface="Arial"/>
              </a:defRPr>
            </a:pPr>
            <a:r>
              <a:rPr sz="2400" b="1" i="0">
                <a:solidFill>
                  <a:srgbClr val="2F6F89"/>
                </a:solidFill>
                <a:latin typeface="Arial"/>
                <a:ea typeface="Arial"/>
                <a:cs typeface="Arial"/>
              </a:rPr>
              <a:t>TEST</a:t>
            </a:r>
          </a:p>
        </p:txBody>
      </p:sp>
      <p:sp>
        <p:nvSpPr>
          <p:cNvPr id="5" name="">
            <a:extLst xmlns:a="http://schemas.openxmlformats.org/drawingml/2006/main">
              <a:ext uri="{FF2B5EF4-FFF2-40B4-BE49-F238E27FC236}">
                <a16:creationId xmlns:a16="http://schemas.microsoft.com/office/drawing/2014/main" id="{0D2DFCAA-2AC7-4A55-951B-CC2D3ED722B6}"/>
              </a:ext>
            </a:extLst>
          </p:cNvPr>
          <p:cNvSpPr>
            <a:spLocks xmlns:a="http://schemas.openxmlformats.org/drawingml/2006/main" noGrp="1"/>
          </p:cNvSpPr>
          <p:nvPr/>
        </p:nvSpPr>
        <p:spPr>
          <a:xfrm xmlns:a="http://schemas.openxmlformats.org/drawingml/2006/main">
            <a:off x="6496050" y="2247900"/>
            <a:ext cx="2000250" cy="762000"/>
          </a:xfrm>
          <a:prstGeom xmlns:a="http://schemas.openxmlformats.org/drawingml/2006/main" prst="roundRect">
            <a:avLst>
              <a:gd name="adj" fmla="val 10000"/>
            </a:avLst>
          </a:prstGeom>
          <a:solidFill xmlns:a="http://schemas.openxmlformats.org/drawingml/2006/main">
            <a:srgbClr val="EDF5E9"/>
          </a:solidFill>
          <a:ln xmlns:a="http://schemas.openxmlformats.org/drawingml/2006/main" w="0">
            <a:noFill/>
          </a:ln>
        </p:spPr>
        <p:txBody>
          <a:bodyPr xmlns:a="http://schemas.openxmlformats.org/drawingml/2006/main" anchor="ctr">
            <a:noAutofit/>
          </a:bodyPr>
          <a:lstStyle xmlns:a="http://schemas.openxmlformats.org/drawingml/2006/main">
            <a:defPPr>
              <a:defRPr sz="2400" b="1" i="0">
                <a:solidFill>
                  <a:srgbClr val="5F9F4B"/>
                </a:solidFill>
                <a:latin typeface="Arial"/>
                <a:ea typeface="Arial"/>
                <a:cs typeface="Arial"/>
              </a:defRPr>
            </a:defPPr>
          </a:lstStyle>
          <a:p xmlns:a="http://schemas.openxmlformats.org/drawingml/2006/main">
            <a:pPr>
              <a:defRPr sz="2400" b="1" i="0">
                <a:solidFill>
                  <a:srgbClr val="5F9F4B"/>
                </a:solidFill>
                <a:latin typeface="Arial"/>
                <a:ea typeface="Arial"/>
                <a:cs typeface="Arial"/>
              </a:defRPr>
            </a:pPr>
            <a:r>
              <a:rPr sz="2400" b="1" i="0">
                <a:solidFill>
                  <a:srgbClr val="5F9F4B"/>
                </a:solidFill>
                <a:latin typeface="Arial"/>
                <a:ea typeface="Arial"/>
                <a:cs typeface="Arial"/>
              </a:rPr>
              <a:t>LISTEN</a:t>
            </a:r>
          </a:p>
        </p:txBody>
      </p:sp>
      <p:sp>
        <p:nvSpPr>
          <p:cNvPr id="6" name="">
            <a:extLst xmlns:a="http://schemas.openxmlformats.org/drawingml/2006/main">
              <a:ext uri="{FF2B5EF4-FFF2-40B4-BE49-F238E27FC236}">
                <a16:creationId xmlns:a16="http://schemas.microsoft.com/office/drawing/2014/main" id="{3BDD60DE-13F9-472B-B59D-5B0F943DE5E3}"/>
              </a:ext>
            </a:extLst>
          </p:cNvPr>
          <p:cNvSpPr>
            <a:spLocks xmlns:a="http://schemas.openxmlformats.org/drawingml/2006/main" noGrp="1"/>
          </p:cNvSpPr>
          <p:nvPr/>
        </p:nvSpPr>
        <p:spPr>
          <a:xfrm xmlns:a="http://schemas.openxmlformats.org/drawingml/2006/main">
            <a:off x="9296400" y="2247900"/>
            <a:ext cx="2000250" cy="762000"/>
          </a:xfrm>
          <a:prstGeom xmlns:a="http://schemas.openxmlformats.org/drawingml/2006/main" prst="roundRect">
            <a:avLst>
              <a:gd name="adj" fmla="val 10000"/>
            </a:avLst>
          </a:prstGeom>
          <a:solidFill xmlns:a="http://schemas.openxmlformats.org/drawingml/2006/main">
            <a:srgbClr val="EAF2F7"/>
          </a:solidFill>
          <a:ln xmlns:a="http://schemas.openxmlformats.org/drawingml/2006/main" w="0">
            <a:noFill/>
          </a:ln>
        </p:spPr>
        <p:txBody>
          <a:bodyPr xmlns:a="http://schemas.openxmlformats.org/drawingml/2006/main" anchor="ctr">
            <a:noAutofit/>
          </a:bodyPr>
          <a:lstStyle xmlns:a="http://schemas.openxmlformats.org/drawingml/2006/main">
            <a:defPPr>
              <a:defRPr sz="2250" b="1" i="0">
                <a:solidFill>
                  <a:srgbClr val="3C8994"/>
                </a:solidFill>
                <a:latin typeface="Arial"/>
                <a:ea typeface="Arial"/>
                <a:cs typeface="Arial"/>
              </a:defRPr>
            </a:defPPr>
          </a:lstStyle>
          <a:p xmlns:a="http://schemas.openxmlformats.org/drawingml/2006/main">
            <a:pPr>
              <a:defRPr sz="2250" b="1" i="0">
                <a:solidFill>
                  <a:srgbClr val="3C8994"/>
                </a:solidFill>
                <a:latin typeface="Arial"/>
                <a:ea typeface="Arial"/>
                <a:cs typeface="Arial"/>
              </a:defRPr>
            </a:pPr>
            <a:r>
              <a:rPr sz="2250" b="1" i="0">
                <a:solidFill>
                  <a:srgbClr val="3C8994"/>
                </a:solidFill>
                <a:latin typeface="Arial"/>
                <a:ea typeface="Arial"/>
                <a:cs typeface="Arial"/>
              </a:rPr>
              <a:t>IMPROVE</a:t>
            </a:r>
          </a:p>
        </p:txBody>
      </p:sp>
      <p:sp>
        <p:nvSpPr>
          <p:cNvPr id="7" name="">
            <a:extLst xmlns:a="http://schemas.openxmlformats.org/drawingml/2006/main">
              <a:ext uri="{FF2B5EF4-FFF2-40B4-BE49-F238E27FC236}">
                <a16:creationId xmlns:a16="http://schemas.microsoft.com/office/drawing/2014/main" id="{A6268732-B8C4-4256-AAB4-07139A659EB4}"/>
              </a:ext>
            </a:extLst>
          </p:cNvPr>
          <p:cNvSpPr>
            <a:spLocks xmlns:a="http://schemas.openxmlformats.org/drawingml/2006/main" noGrp="1"/>
          </p:cNvSpPr>
          <p:nvPr/>
        </p:nvSpPr>
        <p:spPr>
          <a:xfrm xmlns:a="http://schemas.openxmlformats.org/drawingml/2006/main">
            <a:off x="1409700" y="3943350"/>
            <a:ext cx="9372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i="0">
                <a:solidFill>
                  <a:srgbClr val="173654"/>
                </a:solidFill>
                <a:latin typeface="Arial"/>
                <a:ea typeface="Arial"/>
                <a:cs typeface="Arial"/>
              </a:defRPr>
            </a:defPPr>
          </a:lstStyle>
          <a:p xmlns:a="http://schemas.openxmlformats.org/drawingml/2006/main">
            <a:pPr>
              <a:defRPr sz="2325" b="1" i="0">
                <a:solidFill>
                  <a:srgbClr val="173654"/>
                </a:solidFill>
                <a:latin typeface="Arial"/>
                <a:ea typeface="Arial"/>
                <a:cs typeface="Arial"/>
              </a:defRPr>
            </a:pPr>
            <a:r>
              <a:rPr sz="2325" b="1" i="0">
                <a:solidFill>
                  <a:srgbClr val="173654"/>
                </a:solidFill>
                <a:latin typeface="Arial"/>
                <a:ea typeface="Arial"/>
                <a:cs typeface="Arial"/>
              </a:rPr>
              <a:t>At the end of this course, reopen this project.</a:t>
            </a:r>
          </a:p>
        </p:txBody>
      </p:sp>
      <p:sp>
        <p:nvSpPr>
          <p:cNvPr id="8" name="">
            <a:extLst xmlns:a="http://schemas.openxmlformats.org/drawingml/2006/main">
              <a:ext uri="{FF2B5EF4-FFF2-40B4-BE49-F238E27FC236}">
                <a16:creationId xmlns:a16="http://schemas.microsoft.com/office/drawing/2014/main" id="{3E9B5F6B-4039-4081-882B-836CDAA6092D}"/>
              </a:ext>
            </a:extLst>
          </p:cNvPr>
          <p:cNvSpPr>
            <a:spLocks xmlns:a="http://schemas.openxmlformats.org/drawingml/2006/main" noGrp="1"/>
          </p:cNvSpPr>
          <p:nvPr/>
        </p:nvSpPr>
        <p:spPr>
          <a:xfrm xmlns:a="http://schemas.openxmlformats.org/drawingml/2006/main">
            <a:off x="1238250" y="4743450"/>
            <a:ext cx="9715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5D6B78"/>
                </a:solidFill>
                <a:latin typeface="Arial"/>
                <a:ea typeface="Arial"/>
                <a:cs typeface="Arial"/>
              </a:defRPr>
            </a:defPPr>
          </a:lstStyle>
          <a:p xmlns:a="http://schemas.openxmlformats.org/drawingml/2006/main">
            <a:pPr>
              <a:defRPr sz="2100" b="0" i="0">
                <a:solidFill>
                  <a:srgbClr val="5D6B78"/>
                </a:solidFill>
                <a:latin typeface="Arial"/>
                <a:ea typeface="Arial"/>
                <a:cs typeface="Arial"/>
              </a:defRPr>
            </a:pPr>
            <a:r>
              <a:rPr sz="2100" b="0" i="0">
                <a:solidFill>
                  <a:srgbClr val="5D6B78"/>
                </a:solidFill>
                <a:latin typeface="Arial"/>
                <a:ea typeface="Arial"/>
                <a:cs typeface="Arial"/>
              </a:rPr>
              <a:t>What would your future engineering self redesign, protect, automate, or explain better?</a:t>
            </a:r>
          </a:p>
        </p:txBody>
      </p:sp>
      <p:sp>
        <p:nvSpPr>
          <p:cNvPr id="9" name="">
            <a:extLst xmlns:a="http://schemas.openxmlformats.org/drawingml/2006/main">
              <a:ext uri="{FF2B5EF4-FFF2-40B4-BE49-F238E27FC236}">
                <a16:creationId xmlns:a16="http://schemas.microsoft.com/office/drawing/2014/main" id="{631E476F-2B3A-460F-9FAD-CC4659B0DFD2}"/>
              </a:ext>
            </a:extLst>
          </p:cNvPr>
          <p:cNvSpPr>
            <a:spLocks xmlns:a="http://schemas.openxmlformats.org/drawingml/2006/main" noGrp="1"/>
          </p:cNvSpPr>
          <p:nvPr/>
        </p:nvSpPr>
        <p:spPr>
          <a:xfrm xmlns:a="http://schemas.openxmlformats.org/drawingml/2006/main">
            <a:off x="685800" y="643890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00" b="0" i="0">
                <a:solidFill>
                  <a:srgbClr val="5D6B78"/>
                </a:solidFill>
                <a:latin typeface="Arial"/>
                <a:ea typeface="Arial"/>
                <a:cs typeface="Arial"/>
              </a:defRPr>
            </a:defPPr>
          </a:lstStyle>
          <a:p xmlns:a="http://schemas.openxmlformats.org/drawingml/2006/main">
            <a:pPr>
              <a:defRPr sz="1200" b="0" i="0">
                <a:solidFill>
                  <a:srgbClr val="5D6B78"/>
                </a:solidFill>
                <a:latin typeface="Arial"/>
                <a:ea typeface="Arial"/>
                <a:cs typeface="Arial"/>
              </a:defRPr>
            </a:pPr>
            <a:r>
              <a:rPr sz="1200" b="0" i="0">
                <a:solidFill>
                  <a:srgbClr val="5D6B78"/>
                </a:solidFill>
                <a:latin typeface="Arial"/>
                <a:ea typeface="Arial"/>
                <a:cs typeface="Arial"/>
              </a:rPr>
              <a:t>12:55 | Long-term reflection</a:t>
            </a:r>
          </a:p>
        </p:txBody>
      </p:sp>
    </p:spTree>
    <p:extLst>
      <p:ext uri="{BB962C8B-B14F-4D97-AF65-F5344CB8AC3E}">
        <p14:creationId xmlns:p14="http://schemas.microsoft.com/office/powerpoint/2010/main" val="164573160"/>
      </p:ext>
    </p:extLst>
  </p:cSld>
</p:sld>
</file>

<file path=ppt/slides/slide20.xml><?xml version="1.0" encoding="utf-8"?>
<p:sld xmlns:p="http://schemas.openxmlformats.org/presentationml/2006/main">
  <p:cSld>
    <p:bg>
      <p:bgPr>
        <a:solidFill xmlns:a="http://schemas.openxmlformats.org/drawingml/2006/main">
          <a:srgbClr val="17365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CA4A03-A232-4971-898C-CD56F270AC5B}"/>
              </a:ext>
            </a:extLst>
          </p:cNvPr>
          <p:cNvSpPr>
            <a:spLocks xmlns:a="http://schemas.openxmlformats.org/drawingml/2006/main" noGrp="1"/>
          </p:cNvSpPr>
          <p:nvPr/>
        </p:nvSpPr>
        <p:spPr>
          <a:xfrm xmlns:a="http://schemas.openxmlformats.org/drawingml/2006/main">
            <a:off x="685800" y="4572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300" b="1" i="0">
                <a:solidFill>
                  <a:srgbClr val="FFFFFF"/>
                </a:solidFill>
                <a:latin typeface="Arial"/>
                <a:ea typeface="Arial"/>
                <a:cs typeface="Arial"/>
              </a:defRPr>
            </a:defPPr>
          </a:lstStyle>
          <a:p xmlns:a="http://schemas.openxmlformats.org/drawingml/2006/main">
            <a:pPr>
              <a:defRPr sz="3300" b="1" i="0">
                <a:solidFill>
                  <a:srgbClr val="FFFFFF"/>
                </a:solidFill>
                <a:latin typeface="Arial"/>
                <a:ea typeface="Arial"/>
                <a:cs typeface="Arial"/>
              </a:defRPr>
            </a:pPr>
            <a:r>
              <a:rPr sz="3300" b="1" i="0">
                <a:solidFill>
                  <a:srgbClr val="FFFFFF"/>
                </a:solidFill>
                <a:latin typeface="Arial"/>
                <a:ea typeface="Arial"/>
                <a:cs typeface="Arial"/>
              </a:rPr>
              <a:t>Exit ticket</a:t>
            </a:r>
          </a:p>
        </p:txBody>
      </p:sp>
      <p:sp>
        <p:nvSpPr>
          <p:cNvPr id="2" name="">
            <a:extLst xmlns:a="http://schemas.openxmlformats.org/drawingml/2006/main">
              <a:ext uri="{FF2B5EF4-FFF2-40B4-BE49-F238E27FC236}">
                <a16:creationId xmlns:a16="http://schemas.microsoft.com/office/drawing/2014/main" id="{5C3532F8-48B6-4C09-BF1B-AFED71F02492}"/>
              </a:ext>
            </a:extLst>
          </p:cNvPr>
          <p:cNvSpPr>
            <a:spLocks xmlns:a="http://schemas.openxmlformats.org/drawingml/2006/main" noGrp="1"/>
          </p:cNvSpPr>
          <p:nvPr/>
        </p:nvSpPr>
        <p:spPr>
          <a:xfrm xmlns:a="http://schemas.openxmlformats.org/drawingml/2006/main">
            <a:off x="723900" y="11620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0" i="0">
                <a:solidFill>
                  <a:srgbClr val="B9DBA8"/>
                </a:solidFill>
                <a:latin typeface="Arial"/>
                <a:ea typeface="Arial"/>
                <a:cs typeface="Arial"/>
              </a:defRPr>
            </a:defPPr>
          </a:lstStyle>
          <a:p xmlns:a="http://schemas.openxmlformats.org/drawingml/2006/main">
            <a:pPr>
              <a:defRPr sz="1800" b="0" i="0">
                <a:solidFill>
                  <a:srgbClr val="B9DBA8"/>
                </a:solidFill>
                <a:latin typeface="Arial"/>
                <a:ea typeface="Arial"/>
                <a:cs typeface="Arial"/>
              </a:defRPr>
            </a:pPr>
            <a:r>
              <a:rPr sz="1800" b="0" i="0">
                <a:solidFill>
                  <a:srgbClr val="B9DBA8"/>
                </a:solidFill>
                <a:latin typeface="Arial"/>
                <a:ea typeface="Arial"/>
                <a:cs typeface="Arial"/>
              </a:rPr>
              <a:t>Answer before you leave</a:t>
            </a:r>
          </a:p>
        </p:txBody>
      </p:sp>
      <p:sp>
        <p:nvSpPr>
          <p:cNvPr id="3" name="">
            <a:extLst xmlns:a="http://schemas.openxmlformats.org/drawingml/2006/main">
              <a:ext uri="{FF2B5EF4-FFF2-40B4-BE49-F238E27FC236}">
                <a16:creationId xmlns:a16="http://schemas.microsoft.com/office/drawing/2014/main" id="{93C8E041-DFAC-4E0F-BB62-28B670683039}"/>
              </a:ext>
            </a:extLst>
          </p:cNvPr>
          <p:cNvSpPr>
            <a:spLocks xmlns:a="http://schemas.openxmlformats.org/drawingml/2006/main" noGrp="1"/>
          </p:cNvSpPr>
          <p:nvPr/>
        </p:nvSpPr>
        <p:spPr>
          <a:xfrm xmlns:a="http://schemas.openxmlformats.org/drawingml/2006/main">
            <a:off x="838200" y="18478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DF6765"/>
                </a:solidFill>
                <a:latin typeface="Arial"/>
                <a:ea typeface="Arial"/>
                <a:cs typeface="Arial"/>
              </a:defRPr>
            </a:defPPr>
          </a:lstStyle>
          <a:p xmlns:a="http://schemas.openxmlformats.org/drawingml/2006/main">
            <a:pPr>
              <a:defRPr sz="3150" b="1" i="0">
                <a:solidFill>
                  <a:srgbClr val="DF6765"/>
                </a:solidFill>
                <a:latin typeface="Arial"/>
                <a:ea typeface="Arial"/>
                <a:cs typeface="Arial"/>
              </a:defRPr>
            </a:pPr>
            <a:r>
              <a:rPr sz="3150" b="1" i="0">
                <a:solidFill>
                  <a:srgbClr val="DF6765"/>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3C25947D-9269-4568-8E1E-3CF88F5186AD}"/>
              </a:ext>
            </a:extLst>
          </p:cNvPr>
          <p:cNvSpPr>
            <a:spLocks xmlns:a="http://schemas.openxmlformats.org/drawingml/2006/main" noGrp="1"/>
          </p:cNvSpPr>
          <p:nvPr/>
        </p:nvSpPr>
        <p:spPr>
          <a:xfrm xmlns:a="http://schemas.openxmlformats.org/drawingml/2006/main">
            <a:off x="1714500" y="1847850"/>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FFFFFF"/>
                </a:solidFill>
                <a:latin typeface="Arial"/>
                <a:ea typeface="Arial"/>
                <a:cs typeface="Arial"/>
              </a:defRPr>
            </a:defPPr>
          </a:lstStyle>
          <a:p xmlns:a="http://schemas.openxmlformats.org/drawingml/2006/main">
            <a:pPr>
              <a:defRPr sz="2100" b="0" i="0">
                <a:solidFill>
                  <a:srgbClr val="FFFFFF"/>
                </a:solidFill>
                <a:latin typeface="Arial"/>
                <a:ea typeface="Arial"/>
                <a:cs typeface="Arial"/>
              </a:defRPr>
            </a:pPr>
            <a:r>
              <a:rPr sz="2100" b="0" i="0">
                <a:solidFill>
                  <a:srgbClr val="FFFFFF"/>
                </a:solidFill>
                <a:latin typeface="Arial"/>
                <a:ea typeface="Arial"/>
                <a:cs typeface="Arial"/>
              </a:rPr>
              <a:t>What feature did you add and verify?</a:t>
            </a:r>
          </a:p>
        </p:txBody>
      </p:sp>
      <p:sp>
        <p:nvSpPr>
          <p:cNvPr id="5" name="">
            <a:extLst xmlns:a="http://schemas.openxmlformats.org/drawingml/2006/main">
              <a:ext uri="{FF2B5EF4-FFF2-40B4-BE49-F238E27FC236}">
                <a16:creationId xmlns:a16="http://schemas.microsoft.com/office/drawing/2014/main" id="{85501E6E-D38E-4BE4-8BD2-D5EA13D7080E}"/>
              </a:ext>
            </a:extLst>
          </p:cNvPr>
          <p:cNvSpPr>
            <a:spLocks xmlns:a="http://schemas.openxmlformats.org/drawingml/2006/main" noGrp="1"/>
          </p:cNvSpPr>
          <p:nvPr/>
        </p:nvSpPr>
        <p:spPr>
          <a:xfrm xmlns:a="http://schemas.openxmlformats.org/drawingml/2006/main">
            <a:off x="838200" y="278130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5F9F4B"/>
                </a:solidFill>
                <a:latin typeface="Arial"/>
                <a:ea typeface="Arial"/>
                <a:cs typeface="Arial"/>
              </a:defRPr>
            </a:defPPr>
          </a:lstStyle>
          <a:p xmlns:a="http://schemas.openxmlformats.org/drawingml/2006/main">
            <a:pPr>
              <a:defRPr sz="3150" b="1" i="0">
                <a:solidFill>
                  <a:srgbClr val="5F9F4B"/>
                </a:solidFill>
                <a:latin typeface="Arial"/>
                <a:ea typeface="Arial"/>
                <a:cs typeface="Arial"/>
              </a:defRPr>
            </a:pPr>
            <a:r>
              <a:rPr sz="3150" b="1" i="0">
                <a:solidFill>
                  <a:srgbClr val="5F9F4B"/>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348A6EAC-8407-438B-9792-294C2BFB9C25}"/>
              </a:ext>
            </a:extLst>
          </p:cNvPr>
          <p:cNvSpPr>
            <a:spLocks xmlns:a="http://schemas.openxmlformats.org/drawingml/2006/main" noGrp="1"/>
          </p:cNvSpPr>
          <p:nvPr/>
        </p:nvSpPr>
        <p:spPr>
          <a:xfrm xmlns:a="http://schemas.openxmlformats.org/drawingml/2006/main">
            <a:off x="1714500" y="2781300"/>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FFFFFF"/>
                </a:solidFill>
                <a:latin typeface="Arial"/>
                <a:ea typeface="Arial"/>
                <a:cs typeface="Arial"/>
              </a:defRPr>
            </a:defPPr>
          </a:lstStyle>
          <a:p xmlns:a="http://schemas.openxmlformats.org/drawingml/2006/main">
            <a:pPr>
              <a:defRPr sz="2100" b="0" i="0">
                <a:solidFill>
                  <a:srgbClr val="FFFFFF"/>
                </a:solidFill>
                <a:latin typeface="Arial"/>
                <a:ea typeface="Arial"/>
                <a:cs typeface="Arial"/>
              </a:defRPr>
            </a:pPr>
            <a:r>
              <a:rPr sz="2100" b="0" i="0">
                <a:solidFill>
                  <a:srgbClr val="FFFFFF"/>
                </a:solidFill>
                <a:latin typeface="Arial"/>
                <a:ea typeface="Arial"/>
                <a:cs typeface="Arial"/>
              </a:rPr>
              <a:t>What peer feedback did you implement?</a:t>
            </a:r>
          </a:p>
        </p:txBody>
      </p:sp>
      <p:sp>
        <p:nvSpPr>
          <p:cNvPr id="7" name="">
            <a:extLst xmlns:a="http://schemas.openxmlformats.org/drawingml/2006/main">
              <a:ext uri="{FF2B5EF4-FFF2-40B4-BE49-F238E27FC236}">
                <a16:creationId xmlns:a16="http://schemas.microsoft.com/office/drawing/2014/main" id="{ECB2D717-9DC3-47CD-A0C3-E4D48690CEA6}"/>
              </a:ext>
            </a:extLst>
          </p:cNvPr>
          <p:cNvSpPr>
            <a:spLocks xmlns:a="http://schemas.openxmlformats.org/drawingml/2006/main" noGrp="1"/>
          </p:cNvSpPr>
          <p:nvPr/>
        </p:nvSpPr>
        <p:spPr>
          <a:xfrm xmlns:a="http://schemas.openxmlformats.org/drawingml/2006/main">
            <a:off x="838200" y="371475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7FC6D1"/>
                </a:solidFill>
                <a:latin typeface="Arial"/>
                <a:ea typeface="Arial"/>
                <a:cs typeface="Arial"/>
              </a:defRPr>
            </a:defPPr>
          </a:lstStyle>
          <a:p xmlns:a="http://schemas.openxmlformats.org/drawingml/2006/main">
            <a:pPr>
              <a:defRPr sz="3150" b="1" i="0">
                <a:solidFill>
                  <a:srgbClr val="7FC6D1"/>
                </a:solidFill>
                <a:latin typeface="Arial"/>
                <a:ea typeface="Arial"/>
                <a:cs typeface="Arial"/>
              </a:defRPr>
            </a:pPr>
            <a:r>
              <a:rPr sz="3150" b="1" i="0">
                <a:solidFill>
                  <a:srgbClr val="7FC6D1"/>
                </a:solidFill>
                <a:latin typeface="Arial"/>
                <a:ea typeface="Arial"/>
                <a:cs typeface="Arial"/>
              </a:rPr>
              <a:t>3</a:t>
            </a:r>
          </a:p>
        </p:txBody>
      </p:sp>
      <p:sp>
        <p:nvSpPr>
          <p:cNvPr id="8" name="">
            <a:extLst xmlns:a="http://schemas.openxmlformats.org/drawingml/2006/main">
              <a:ext uri="{FF2B5EF4-FFF2-40B4-BE49-F238E27FC236}">
                <a16:creationId xmlns:a16="http://schemas.microsoft.com/office/drawing/2014/main" id="{67A9094B-6B6E-4C78-86FD-E40482B69199}"/>
              </a:ext>
            </a:extLst>
          </p:cNvPr>
          <p:cNvSpPr>
            <a:spLocks xmlns:a="http://schemas.openxmlformats.org/drawingml/2006/main" noGrp="1"/>
          </p:cNvSpPr>
          <p:nvPr/>
        </p:nvSpPr>
        <p:spPr>
          <a:xfrm xmlns:a="http://schemas.openxmlformats.org/drawingml/2006/main">
            <a:off x="1714500" y="3714750"/>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FFFFFF"/>
                </a:solidFill>
                <a:latin typeface="Arial"/>
                <a:ea typeface="Arial"/>
                <a:cs typeface="Arial"/>
              </a:defRPr>
            </a:defPPr>
          </a:lstStyle>
          <a:p xmlns:a="http://schemas.openxmlformats.org/drawingml/2006/main">
            <a:pPr>
              <a:defRPr sz="2100" b="0" i="0">
                <a:solidFill>
                  <a:srgbClr val="FFFFFF"/>
                </a:solidFill>
                <a:latin typeface="Arial"/>
                <a:ea typeface="Arial"/>
                <a:cs typeface="Arial"/>
              </a:defRPr>
            </a:pPr>
            <a:r>
              <a:rPr sz="2100" b="0" i="0">
                <a:solidFill>
                  <a:srgbClr val="FFFFFF"/>
                </a:solidFill>
                <a:latin typeface="Arial"/>
                <a:ea typeface="Arial"/>
                <a:cs typeface="Arial"/>
              </a:rPr>
              <a:t>What might fail with one million users?</a:t>
            </a:r>
          </a:p>
        </p:txBody>
      </p:sp>
      <p:sp>
        <p:nvSpPr>
          <p:cNvPr id="9" name="">
            <a:extLst xmlns:a="http://schemas.openxmlformats.org/drawingml/2006/main">
              <a:ext uri="{FF2B5EF4-FFF2-40B4-BE49-F238E27FC236}">
                <a16:creationId xmlns:a16="http://schemas.microsoft.com/office/drawing/2014/main" id="{91DB569E-66D1-4D1F-99A5-39A7673E069B}"/>
              </a:ext>
            </a:extLst>
          </p:cNvPr>
          <p:cNvSpPr>
            <a:spLocks xmlns:a="http://schemas.openxmlformats.org/drawingml/2006/main" noGrp="1"/>
          </p:cNvSpPr>
          <p:nvPr/>
        </p:nvSpPr>
        <p:spPr>
          <a:xfrm xmlns:a="http://schemas.openxmlformats.org/drawingml/2006/main">
            <a:off x="838200" y="4648200"/>
            <a:ext cx="609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i="0">
                <a:solidFill>
                  <a:srgbClr val="DF6765"/>
                </a:solidFill>
                <a:latin typeface="Arial"/>
                <a:ea typeface="Arial"/>
                <a:cs typeface="Arial"/>
              </a:defRPr>
            </a:defPPr>
          </a:lstStyle>
          <a:p xmlns:a="http://schemas.openxmlformats.org/drawingml/2006/main">
            <a:pPr>
              <a:defRPr sz="3150" b="1" i="0">
                <a:solidFill>
                  <a:srgbClr val="DF6765"/>
                </a:solidFill>
                <a:latin typeface="Arial"/>
                <a:ea typeface="Arial"/>
                <a:cs typeface="Arial"/>
              </a:defRPr>
            </a:pPr>
            <a:r>
              <a:rPr sz="3150" b="1" i="0">
                <a:solidFill>
                  <a:srgbClr val="DF6765"/>
                </a:solidFill>
                <a:latin typeface="Arial"/>
                <a:ea typeface="Arial"/>
                <a:cs typeface="Arial"/>
              </a:rPr>
              <a:t>4</a:t>
            </a:r>
          </a:p>
        </p:txBody>
      </p:sp>
      <p:sp>
        <p:nvSpPr>
          <p:cNvPr id="10" name="">
            <a:extLst xmlns:a="http://schemas.openxmlformats.org/drawingml/2006/main">
              <a:ext uri="{FF2B5EF4-FFF2-40B4-BE49-F238E27FC236}">
                <a16:creationId xmlns:a16="http://schemas.microsoft.com/office/drawing/2014/main" id="{D967D965-5BBE-495A-AD95-C32A2684B46D}"/>
              </a:ext>
            </a:extLst>
          </p:cNvPr>
          <p:cNvSpPr>
            <a:spLocks xmlns:a="http://schemas.openxmlformats.org/drawingml/2006/main" noGrp="1"/>
          </p:cNvSpPr>
          <p:nvPr/>
        </p:nvSpPr>
        <p:spPr>
          <a:xfrm xmlns:a="http://schemas.openxmlformats.org/drawingml/2006/main">
            <a:off x="1714500" y="4648200"/>
            <a:ext cx="895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i="0">
                <a:solidFill>
                  <a:srgbClr val="FFFFFF"/>
                </a:solidFill>
                <a:latin typeface="Arial"/>
                <a:ea typeface="Arial"/>
                <a:cs typeface="Arial"/>
              </a:defRPr>
            </a:defPPr>
          </a:lstStyle>
          <a:p xmlns:a="http://schemas.openxmlformats.org/drawingml/2006/main">
            <a:pPr>
              <a:defRPr sz="2100" b="0" i="0">
                <a:solidFill>
                  <a:srgbClr val="FFFFFF"/>
                </a:solidFill>
                <a:latin typeface="Arial"/>
                <a:ea typeface="Arial"/>
                <a:cs typeface="Arial"/>
              </a:defRPr>
            </a:pPr>
            <a:r>
              <a:rPr sz="2100" b="0" i="0">
                <a:solidFill>
                  <a:srgbClr val="FFFFFF"/>
                </a:solidFill>
                <a:latin typeface="Arial"/>
                <a:ea typeface="Arial"/>
                <a:cs typeface="Arial"/>
              </a:rPr>
              <a:t>What will your future engineering self improve?</a:t>
            </a:r>
          </a:p>
        </p:txBody>
      </p:sp>
      <p:sp>
        <p:nvSpPr>
          <p:cNvPr id="11" name="">
            <a:extLst xmlns:a="http://schemas.openxmlformats.org/drawingml/2006/main">
              <a:ext uri="{FF2B5EF4-FFF2-40B4-BE49-F238E27FC236}">
                <a16:creationId xmlns:a16="http://schemas.microsoft.com/office/drawing/2014/main" id="{454589A6-6835-4F77-A37B-682FFDAD681F}"/>
              </a:ext>
            </a:extLst>
          </p:cNvPr>
          <p:cNvSpPr>
            <a:spLocks xmlns:a="http://schemas.openxmlformats.org/drawingml/2006/main" noGrp="1"/>
          </p:cNvSpPr>
          <p:nvPr/>
        </p:nvSpPr>
        <p:spPr>
          <a:xfrm xmlns:a="http://schemas.openxmlformats.org/drawingml/2006/main">
            <a:off x="1104900" y="582930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00" b="1" i="0">
                <a:solidFill>
                  <a:srgbClr val="B9DBA8"/>
                </a:solidFill>
                <a:latin typeface="Arial"/>
                <a:ea typeface="Arial"/>
                <a:cs typeface="Arial"/>
              </a:defRPr>
            </a:defPPr>
          </a:lstStyle>
          <a:p xmlns:a="http://schemas.openxmlformats.org/drawingml/2006/main">
            <a:pPr>
              <a:defRPr sz="1800" b="1" i="0">
                <a:solidFill>
                  <a:srgbClr val="B9DBA8"/>
                </a:solidFill>
                <a:latin typeface="Arial"/>
                <a:ea typeface="Arial"/>
                <a:cs typeface="Arial"/>
              </a:defRPr>
            </a:pPr>
            <a:r>
              <a:rPr sz="1800" b="1" i="0">
                <a:solidFill>
                  <a:srgbClr val="B9DBA8"/>
                </a:solidFill>
                <a:latin typeface="Arial"/>
                <a:ea typeface="Arial"/>
                <a:cs typeface="Arial"/>
              </a:rPr>
              <a:t>Save adventure.py, start.bat, and your peer feedback sheet.</a:t>
            </a:r>
          </a:p>
        </p:txBody>
      </p:sp>
    </p:spTree>
    <p:extLst>
      <p:ext uri="{BB962C8B-B14F-4D97-AF65-F5344CB8AC3E}">
        <p14:creationId xmlns:p14="http://schemas.microsoft.com/office/powerpoint/2010/main" val="1738675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2026-10-10T02:13:28.9730000Z</dcterms:created>
  <dcterms:modified xsi:type="dcterms:W3CDTF">2026-10-10T02:13:28.9730000Z</dcterms:modified>
</coreProperties>
</file>