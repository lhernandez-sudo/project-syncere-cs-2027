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fbfc11c2359421a" /><Relationship Type="http://schemas.openxmlformats.org/officeDocument/2006/relationships/extended-properties" Target="/docProps/app.xml" Id="Rbf66d217dee3423e" /><Relationship Type="http://schemas.openxmlformats.org/officeDocument/2006/relationships/officeDocument" Target="/ppt/presentation.xml" Id="Rbc83c0d6f3cc4c6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e95d0f6198140de"/>
  </p:sldMasterIdLst>
  <p:notesMasterIdLst>
    <p:notesMasterId xmlns:r="http://schemas.openxmlformats.org/officeDocument/2006/relationships" r:id="R8f5692c543284395"/>
  </p:notesMasterIdLst>
  <p:sldIdLst>
    <p:sldId xmlns:r="http://schemas.openxmlformats.org/officeDocument/2006/relationships" id="256" r:id="Re21a477f48e349b8"/>
    <p:sldId xmlns:r="http://schemas.openxmlformats.org/officeDocument/2006/relationships" id="257" r:id="R5b3880708efb4db6"/>
    <p:sldId xmlns:r="http://schemas.openxmlformats.org/officeDocument/2006/relationships" id="258" r:id="R2c30b11f46924074"/>
    <p:sldId xmlns:r="http://schemas.openxmlformats.org/officeDocument/2006/relationships" id="259" r:id="Ra0b30da4a53b4257"/>
    <p:sldId xmlns:r="http://schemas.openxmlformats.org/officeDocument/2006/relationships" id="260" r:id="Re9099b1dbd8a48cd"/>
    <p:sldId xmlns:r="http://schemas.openxmlformats.org/officeDocument/2006/relationships" id="261" r:id="Rbc07e508bc114ef7"/>
    <p:sldId xmlns:r="http://schemas.openxmlformats.org/officeDocument/2006/relationships" id="262" r:id="R73e7487d82ae42ce"/>
    <p:sldId xmlns:r="http://schemas.openxmlformats.org/officeDocument/2006/relationships" id="263" r:id="R8f5583e1f19e480a"/>
    <p:sldId xmlns:r="http://schemas.openxmlformats.org/officeDocument/2006/relationships" id="264" r:id="R10da11388f9e43fb"/>
    <p:sldId xmlns:r="http://schemas.openxmlformats.org/officeDocument/2006/relationships" id="265" r:id="R638173b28f4549da"/>
    <p:sldId xmlns:r="http://schemas.openxmlformats.org/officeDocument/2006/relationships" id="266" r:id="Re74054d37e9e447f"/>
    <p:sldId xmlns:r="http://schemas.openxmlformats.org/officeDocument/2006/relationships" id="267" r:id="Rfd81c3a07823475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5360eb38a4d42de" /><Relationship Type="http://schemas.openxmlformats.org/officeDocument/2006/relationships/slideMaster" Target="/ppt/slideMasters/slideMaster1.xml" Id="R0e95d0f6198140de" /><Relationship Type="http://schemas.openxmlformats.org/officeDocument/2006/relationships/notesMaster" Target="/ppt/notesMasters/notesMaster1.xml" Id="R8f5692c543284395" /><Relationship Type="http://schemas.openxmlformats.org/officeDocument/2006/relationships/presProps" Target="/ppt/presProps.xml" Id="R78b66ebe64464609" /><Relationship Type="http://schemas.openxmlformats.org/officeDocument/2006/relationships/tableStyles" Target="/ppt/tableStyles.xml" Id="Ra84e2f44f7104149" /><Relationship Type="http://schemas.openxmlformats.org/officeDocument/2006/relationships/slide" Target="/ppt/slides/slide1.xml" Id="Re21a477f48e349b8" /><Relationship Type="http://schemas.openxmlformats.org/officeDocument/2006/relationships/slide" Target="/ppt/slides/slide2.xml" Id="R5b3880708efb4db6" /><Relationship Type="http://schemas.openxmlformats.org/officeDocument/2006/relationships/slide" Target="/ppt/slides/slide3.xml" Id="R2c30b11f46924074" /><Relationship Type="http://schemas.openxmlformats.org/officeDocument/2006/relationships/slide" Target="/ppt/slides/slide4.xml" Id="Ra0b30da4a53b4257" /><Relationship Type="http://schemas.openxmlformats.org/officeDocument/2006/relationships/slide" Target="/ppt/slides/slide5.xml" Id="Re9099b1dbd8a48cd" /><Relationship Type="http://schemas.openxmlformats.org/officeDocument/2006/relationships/slide" Target="/ppt/slides/slide6.xml" Id="Rbc07e508bc114ef7" /><Relationship Type="http://schemas.openxmlformats.org/officeDocument/2006/relationships/slide" Target="/ppt/slides/slide7.xml" Id="R73e7487d82ae42ce" /><Relationship Type="http://schemas.openxmlformats.org/officeDocument/2006/relationships/slide" Target="/ppt/slides/slide8.xml" Id="R8f5583e1f19e480a" /><Relationship Type="http://schemas.openxmlformats.org/officeDocument/2006/relationships/slide" Target="/ppt/slides/slide9.xml" Id="R10da11388f9e43fb" /><Relationship Type="http://schemas.openxmlformats.org/officeDocument/2006/relationships/slide" Target="/ppt/slides/slide10.xml" Id="R638173b28f4549da" /><Relationship Type="http://schemas.openxmlformats.org/officeDocument/2006/relationships/slide" Target="/ppt/slides/slide11.xml" Id="Re74054d37e9e447f" /><Relationship Type="http://schemas.openxmlformats.org/officeDocument/2006/relationships/slide" Target="/ppt/slides/slide12.xml" Id="Rfd81c3a07823475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952fcbe1b9f4fb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598b5ee9b074d6c" /><Relationship Type="http://schemas.openxmlformats.org/officeDocument/2006/relationships/notesMaster" Target="/ppt/notesMasters/notesMaster1.xml" Id="R97b9b98f919b413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89e51e8d06041e7" /><Relationship Type="http://schemas.openxmlformats.org/officeDocument/2006/relationships/notesMaster" Target="/ppt/notesMasters/notesMaster1.xml" Id="R851dc03603f8462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f7f9723fc214bd0" /><Relationship Type="http://schemas.openxmlformats.org/officeDocument/2006/relationships/notesMaster" Target="/ppt/notesMasters/notesMaster1.xml" Id="R622f89a5072e4a8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747f6b81c7546d4" /><Relationship Type="http://schemas.openxmlformats.org/officeDocument/2006/relationships/notesMaster" Target="/ppt/notesMasters/notesMaster1.xml" Id="R0e353269d1b940a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d2f163bfe0c45ff" /><Relationship Type="http://schemas.openxmlformats.org/officeDocument/2006/relationships/notesMaster" Target="/ppt/notesMasters/notesMaster1.xml" Id="R13ac607b0c2c457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6572804b654414e" /><Relationship Type="http://schemas.openxmlformats.org/officeDocument/2006/relationships/notesMaster" Target="/ppt/notesMasters/notesMaster1.xml" Id="R5c17eea277964f9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94c51a92abb4778" /><Relationship Type="http://schemas.openxmlformats.org/officeDocument/2006/relationships/notesMaster" Target="/ppt/notesMasters/notesMaster1.xml" Id="Rd92dc2dae655495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3ba5fa9cd984f0a" /><Relationship Type="http://schemas.openxmlformats.org/officeDocument/2006/relationships/notesMaster" Target="/ppt/notesMasters/notesMaster1.xml" Id="R506aa0384e3b431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ddd91adca3e4485" /><Relationship Type="http://schemas.openxmlformats.org/officeDocument/2006/relationships/notesMaster" Target="/ppt/notesMasters/notesMaster1.xml" Id="R1f6dfc78053444b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9ccecc5ef5c479b" /><Relationship Type="http://schemas.openxmlformats.org/officeDocument/2006/relationships/notesMaster" Target="/ppt/notesMasters/notesMaster1.xml" Id="Rc9eaf6e17c7a4db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e6648b33aca47e2" /><Relationship Type="http://schemas.openxmlformats.org/officeDocument/2006/relationships/notesMaster" Target="/ppt/notesMasters/notesMaster1.xml" Id="Raf7f726c4eb84aa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9ff47e823664977" /><Relationship Type="http://schemas.openxmlformats.org/officeDocument/2006/relationships/notesMaster" Target="/ppt/notesMasters/notesMaster1.xml" Id="R4d5d0817c03a40d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Welcome students as they enter. Generated cover illustration; it is not a photograph of an actual Project Syncere class.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project_syncere_python_foundations_3_saturdays.pdf, recurring Saturday schedule. Week 1 adapts the opening block to reserve 30 minutes for administrative tasks.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setup checklist to identify students who need follow-up. Do not delay the entire class for one device. Pair those students with a working partner and continue troubleshooting during guided lab.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Invite students to read the objectives silently. Ask which objective feels most familiar and which feels newest.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project_syncere_python_foundations_3_saturdays.pdf, Saturday 1 core concept: Input -&gt; Process -&gt; Output. Ask students for a non-computer example before showing the name-and-greeting example.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Live-code this example rather than only reading it. Narrate the quotation marks, parentheses, save action, and run command. Intentionally miss one quotation mark and read the error together.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Start a visible ten-minute timer. Use the break to check on unresolved account or device problems.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Pause after each step and check that every student has the same result. Pair students intentionally. Students who finish early should explain an error message to a partner rather than racing ahead.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Start a visible ten-minute timer. Confirm that students know where the assignment starter file is before they leave.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Keep the project deliberately small because Day 1 includes 30 minutes of administration. Require a working minimum version before students personalize formatting or add optional lines.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Model feedback that is specific and kind. Ask two or three students to demonstrate a program or explain a bug they fixed. Do not require everyone to present on Day 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Collect responses by 12:55 so students can save files and confirm their repository location. Record unresolved setup issues for follow-up before Week 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ed1b3929554fe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9c05c86e2f8462a" /><Relationship Type="http://schemas.openxmlformats.org/officeDocument/2006/relationships/slideLayout" Target="/ppt/slideLayouts/slideLayout1.xml" Id="R4e76134c6748415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e76134c6748415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c9e03f568b45b4" /><Relationship Type="http://schemas.openxmlformats.org/officeDocument/2006/relationships/image" Target="/ppt/media/image.png" Id="Rff8eadb893134064" /><Relationship Type="http://schemas.openxmlformats.org/officeDocument/2006/relationships/notesSlide" Target="/ppt/notesSlides/notesSlide1.xml" Id="R5bb2dd9cfc024ce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19ea9d39584d02" /><Relationship Type="http://schemas.openxmlformats.org/officeDocument/2006/relationships/notesSlide" Target="/ppt/notesSlides/notesSlide2.xml" Id="Rd0aa86ba61724ea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6db04de8d04b95" /><Relationship Type="http://schemas.openxmlformats.org/officeDocument/2006/relationships/notesSlide" Target="/ppt/notesSlides/notesSlide3.xml" Id="Rfe4a8e7ed9204f9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7b640657674cf1" /><Relationship Type="http://schemas.openxmlformats.org/officeDocument/2006/relationships/notesSlide" Target="/ppt/notesSlides/notesSlide4.xml" Id="R6ce0fe4a5c52458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e5a213497a40cc" /><Relationship Type="http://schemas.openxmlformats.org/officeDocument/2006/relationships/notesSlide" Target="/ppt/notesSlides/notesSlide5.xml" Id="Rc1281e190a324dc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0ec7b4abf84d30" /><Relationship Type="http://schemas.openxmlformats.org/officeDocument/2006/relationships/notesSlide" Target="/ppt/notesSlides/notesSlide6.xml" Id="Rbc4ff38668e7466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f3dc97ca6b4c2f" /><Relationship Type="http://schemas.openxmlformats.org/officeDocument/2006/relationships/notesSlide" Target="/ppt/notesSlides/notesSlide7.xml" Id="Re73cceec6dc64d4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82597a149242c4" /><Relationship Type="http://schemas.openxmlformats.org/officeDocument/2006/relationships/notesSlide" Target="/ppt/notesSlides/notesSlide8.xml" Id="Radf43638a9aa4fd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0b3b183e494915" /><Relationship Type="http://schemas.openxmlformats.org/officeDocument/2006/relationships/notesSlide" Target="/ppt/notesSlides/notesSlide9.xml" Id="R6da45cd43fab42a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4870cc10644acb" /><Relationship Type="http://schemas.openxmlformats.org/officeDocument/2006/relationships/notesSlide" Target="/ppt/notesSlides/notesSlide10.xml" Id="R4c360bf72eac45b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c19aa70dac4649" /><Relationship Type="http://schemas.openxmlformats.org/officeDocument/2006/relationships/notesSlide" Target="/ppt/notesSlides/notesSlide11.xml" Id="R76ddce80b52140f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a27720d6684275" /><Relationship Type="http://schemas.openxmlformats.org/officeDocument/2006/relationships/notesSlide" Target="/ppt/notesSlides/notesSlide12.xml" Id="Rc51f7e44cf00469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365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8eadb893134064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FD90E2-6AAD-4230-A942-C5F7BEB56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38350"/>
            <a:ext cx="4953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4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Python Basics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D03DF8-79AE-4C62-9ADE-B5E8F3BD7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765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250" b="1" i="0">
                <a:solidFill>
                  <a:srgbClr val="B9DBA8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B9DBA8"/>
                </a:solidFill>
                <a:latin typeface="Arial"/>
                <a:ea typeface="Arial"/>
                <a:cs typeface="Arial"/>
              </a:rPr>
              <a:t>Week 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BAF47A-3E2E-4FA3-AD90-7BE32B36A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8615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Project Syncere Computer Science 2027</a:t>
            </a:r>
          </a:p>
        </p:txBody>
      </p:sp>
    </p:spTree>
    <p:extLst>
      <p:ext uri="{BB962C8B-B14F-4D97-AF65-F5344CB8AC3E}">
        <p14:creationId xmlns:p14="http://schemas.microsoft.com/office/powerpoint/2010/main" val="170865535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F6D90F-E5C5-4672-B01B-CD8A252F0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000" b="1" i="0">
                <a:solidFill>
                  <a:srgbClr val="173654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73654"/>
                </a:solidFill>
                <a:latin typeface="Arial"/>
                <a:ea typeface="Arial"/>
                <a:cs typeface="Arial"/>
              </a:rPr>
              <a:t>Today’s schedule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6B0BCC-3ABB-4620-B546-96F73BE2B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09650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 i="0">
                <a:solidFill>
                  <a:srgbClr val="5D6B78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5D6B78"/>
                </a:solidFill>
                <a:latin typeface="Arial"/>
                <a:ea typeface="Arial"/>
                <a:cs typeface="Arial"/>
              </a:rPr>
              <a:t>Saturday, 9:00 AM-1:00 PM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A6B7B5-FF3E-4C67-8259-C1DEFBB20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04950"/>
            <a:ext cx="161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DF6765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DF6765"/>
                </a:solidFill>
                <a:latin typeface="Arial"/>
                <a:ea typeface="Arial"/>
                <a:cs typeface="Arial"/>
              </a:rPr>
              <a:t>9:00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8EF264-EE7F-4366-8A39-A03301E8F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504950"/>
            <a:ext cx="8001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 i="0">
                <a:solidFill>
                  <a:srgbClr val="172433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433"/>
                </a:solidFill>
                <a:latin typeface="Arial"/>
                <a:ea typeface="Arial"/>
                <a:cs typeface="Arial"/>
              </a:rPr>
              <a:t>Administrative tasks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CA98BA-323F-41EA-A36F-6D7E59729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66925"/>
            <a:ext cx="161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173654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73654"/>
                </a:solidFill>
                <a:latin typeface="Arial"/>
                <a:ea typeface="Arial"/>
                <a:cs typeface="Arial"/>
              </a:rPr>
              <a:t>9:30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7DFCAC-1B90-49B2-ABF1-CE25F36A9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066925"/>
            <a:ext cx="8001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 i="0">
                <a:solidFill>
                  <a:srgbClr val="172433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433"/>
                </a:solidFill>
                <a:latin typeface="Arial"/>
                <a:ea typeface="Arial"/>
                <a:cs typeface="Arial"/>
              </a:rPr>
              <a:t>Welcome, community, and objectives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D867CA-C1B0-4172-9E52-0DA882CBF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61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5F9F4B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5F9F4B"/>
                </a:solidFill>
                <a:latin typeface="Arial"/>
                <a:ea typeface="Arial"/>
                <a:cs typeface="Arial"/>
              </a:rPr>
              <a:t>9:50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E09EED-39C9-4305-A395-1569854DB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628900"/>
            <a:ext cx="8001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 i="0">
                <a:solidFill>
                  <a:srgbClr val="172433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433"/>
                </a:solidFill>
                <a:latin typeface="Arial"/>
                <a:ea typeface="Arial"/>
                <a:cs typeface="Arial"/>
              </a:rPr>
              <a:t>Computer science and the first Python program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D24EA2-CDC5-4826-960A-4960D7457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90875"/>
            <a:ext cx="161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DF6765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DF6765"/>
                </a:solidFill>
                <a:latin typeface="Arial"/>
                <a:ea typeface="Arial"/>
                <a:cs typeface="Arial"/>
              </a:rPr>
              <a:t>10:25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D321AF-FA5B-478A-81A2-2E06A3BFE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190875"/>
            <a:ext cx="8001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 i="0">
                <a:solidFill>
                  <a:srgbClr val="172433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433"/>
                </a:solidFill>
                <a:latin typeface="Arial"/>
                <a:ea typeface="Arial"/>
                <a:cs typeface="Arial"/>
              </a:rPr>
              <a:t>Break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7A04B5-AF2B-4664-B48F-25EAF8A1B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52850"/>
            <a:ext cx="161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3C8994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3C8994"/>
                </a:solidFill>
                <a:latin typeface="Arial"/>
                <a:ea typeface="Arial"/>
                <a:cs typeface="Arial"/>
              </a:rPr>
              <a:t>10:35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66E757-C160-4F23-9DD3-D52D11BE1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752850"/>
            <a:ext cx="8001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 i="0">
                <a:solidFill>
                  <a:srgbClr val="172433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433"/>
                </a:solidFill>
                <a:latin typeface="Arial"/>
                <a:ea typeface="Arial"/>
                <a:cs typeface="Arial"/>
              </a:rPr>
              <a:t>Guided Python lab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3C3CC7-C1A3-4A3F-B5C7-14841A82B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14825"/>
            <a:ext cx="161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DF6765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DF6765"/>
                </a:solidFill>
                <a:latin typeface="Arial"/>
                <a:ea typeface="Arial"/>
                <a:cs typeface="Arial"/>
              </a:rPr>
              <a:t>11:20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D36F0F-5997-4188-A734-2B78AFC73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314825"/>
            <a:ext cx="8001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 i="0">
                <a:solidFill>
                  <a:srgbClr val="172433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433"/>
                </a:solidFill>
                <a:latin typeface="Arial"/>
                <a:ea typeface="Arial"/>
                <a:cs typeface="Arial"/>
              </a:rPr>
              <a:t>Break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AA4313-7F98-48AE-8936-45641763C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76800"/>
            <a:ext cx="161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2F6F89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2F6F89"/>
                </a:solidFill>
                <a:latin typeface="Arial"/>
                <a:ea typeface="Arial"/>
                <a:cs typeface="Arial"/>
              </a:rPr>
              <a:t>11:30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807B26-90C1-45AB-BCA9-E274E6148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8001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 i="0">
                <a:solidFill>
                  <a:srgbClr val="172433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433"/>
                </a:solidFill>
                <a:latin typeface="Arial"/>
                <a:ea typeface="Arial"/>
                <a:cs typeface="Arial"/>
              </a:rPr>
              <a:t>Student introduction project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86832C-CA47-47A6-ABFF-A0EF962CF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38775"/>
            <a:ext cx="161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5F9F4B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5F9F4B"/>
                </a:solidFill>
                <a:latin typeface="Arial"/>
                <a:ea typeface="Arial"/>
                <a:cs typeface="Arial"/>
              </a:rPr>
              <a:t>12:20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7C8CC8-2036-43C3-906D-86147BBB0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438775"/>
            <a:ext cx="8001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 i="0">
                <a:solidFill>
                  <a:srgbClr val="172433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433"/>
                </a:solidFill>
                <a:latin typeface="Arial"/>
                <a:ea typeface="Arial"/>
                <a:cs typeface="Arial"/>
              </a:rPr>
              <a:t>Share, debug, and reflect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627580-F31D-4ECD-BA4C-5044C15A0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0" i="0">
                <a:solidFill>
                  <a:srgbClr val="5D6B7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D6B78"/>
                </a:solidFill>
                <a:latin typeface="Arial"/>
                <a:ea typeface="Arial"/>
                <a:cs typeface="Arial"/>
              </a:rPr>
              <a:t>Week 1 | Python Basics</a:t>
            </a:r>
          </a:p>
        </p:txBody>
      </p:sp>
    </p:spTree>
    <p:extLst>
      <p:ext uri="{BB962C8B-B14F-4D97-AF65-F5344CB8AC3E}">
        <p14:creationId xmlns:p14="http://schemas.microsoft.com/office/powerpoint/2010/main" val="86693225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EC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3B1CEC-7D61-4B7B-81B2-5624DAA5E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4000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4800" b="1" i="0">
                <a:solidFill>
                  <a:srgbClr val="DF6765"/>
                </a:solidFill>
                <a:latin typeface="Arial"/>
                <a:ea typeface="Arial"/>
                <a:cs typeface="Arial"/>
              </a:defRPr>
            </a:pPr>
            <a:r>
              <a:rPr sz="4800" b="1" i="0">
                <a:solidFill>
                  <a:srgbClr val="DF6765"/>
                </a:solidFill>
                <a:latin typeface="Arial"/>
                <a:ea typeface="Arial"/>
                <a:cs typeface="Arial"/>
              </a:rPr>
              <a:t>30 minutes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2D36F7-6A27-4344-8DE2-383D39B5D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85950"/>
            <a:ext cx="476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850" b="1" i="0">
                <a:solidFill>
                  <a:srgbClr val="173654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73654"/>
                </a:solidFill>
                <a:latin typeface="Arial"/>
                <a:ea typeface="Arial"/>
                <a:cs typeface="Arial"/>
              </a:rPr>
              <a:t>Administrative setup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801A47-65E8-43DE-B098-00DB3968B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123950"/>
            <a:ext cx="542925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500"/>
              </a:spcAft>
              <a:buChar char="•"/>
              <a:defRPr sz="2100">
                <a:solidFill>
                  <a:srgbClr val="172433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72433"/>
                </a:solidFill>
                <a:latin typeface="Arial"/>
                <a:ea typeface="Arial"/>
                <a:cs typeface="Arial"/>
              </a:rPr>
              <a:t>Attendance and required forms</a:t>
            </a:r>
          </a:p>
          <a:p xmlns:a="http://schemas.openxmlformats.org/drawingml/2006/main">
            <a:pPr marL="254000" indent="-127000">
              <a:spcAft>
                <a:spcPts val="1500"/>
              </a:spcAft>
              <a:buChar char="•"/>
              <a:defRPr sz="2100">
                <a:solidFill>
                  <a:srgbClr val="172433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72433"/>
                </a:solidFill>
                <a:latin typeface="Arial"/>
                <a:ea typeface="Arial"/>
                <a:cs typeface="Arial"/>
              </a:rPr>
              <a:t>Student accounts and GitHub access</a:t>
            </a:r>
          </a:p>
          <a:p xmlns:a="http://schemas.openxmlformats.org/drawingml/2006/main">
            <a:pPr marL="254000" indent="-127000">
              <a:spcAft>
                <a:spcPts val="1500"/>
              </a:spcAft>
              <a:buChar char="•"/>
              <a:defRPr sz="2100">
                <a:solidFill>
                  <a:srgbClr val="172433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72433"/>
                </a:solidFill>
                <a:latin typeface="Arial"/>
                <a:ea typeface="Arial"/>
                <a:cs typeface="Arial"/>
              </a:rPr>
              <a:t>Device distribution and charging</a:t>
            </a:r>
          </a:p>
          <a:p xmlns:a="http://schemas.openxmlformats.org/drawingml/2006/main">
            <a:pPr marL="254000" indent="-127000">
              <a:spcAft>
                <a:spcPts val="1500"/>
              </a:spcAft>
              <a:buChar char="•"/>
              <a:defRPr sz="2100">
                <a:solidFill>
                  <a:srgbClr val="172433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72433"/>
                </a:solidFill>
                <a:latin typeface="Arial"/>
                <a:ea typeface="Arial"/>
                <a:cs typeface="Arial"/>
              </a:rPr>
              <a:t>Internet, accessibility, and login support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8AB976-5194-473E-BD2A-EFA3045F2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24450"/>
            <a:ext cx="1038225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 i="0">
                <a:solidFill>
                  <a:srgbClr val="172433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172433"/>
                </a:solidFill>
                <a:latin typeface="Arial"/>
                <a:ea typeface="Arial"/>
                <a:cs typeface="Arial"/>
              </a:rPr>
              <a:t>Keep your device open when you finish. Help a neighbor only after your own setup works.</a:t>
            </a:r>
          </a:p>
        </p:txBody>
      </p:sp>
    </p:spTree>
    <p:extLst>
      <p:ext uri="{BB962C8B-B14F-4D97-AF65-F5344CB8AC3E}">
        <p14:creationId xmlns:p14="http://schemas.microsoft.com/office/powerpoint/2010/main" val="106243400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D8B28A-1BDB-4611-9E28-C07C6EC18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000" b="1" i="0">
                <a:solidFill>
                  <a:srgbClr val="173654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73654"/>
                </a:solidFill>
                <a:latin typeface="Arial"/>
                <a:ea typeface="Arial"/>
                <a:cs typeface="Arial"/>
              </a:rPr>
              <a:t>Learning objectives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7EF833-6BCC-42DB-81F7-4EDBF2BDF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09650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 i="0">
                <a:solidFill>
                  <a:srgbClr val="5D6B78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5D6B78"/>
                </a:solidFill>
                <a:latin typeface="Arial"/>
                <a:ea typeface="Arial"/>
                <a:cs typeface="Arial"/>
              </a:rPr>
              <a:t>By 1:00 PM, you should be able to...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264FE6-4931-4CEB-89F7-B215DA6C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714500"/>
            <a:ext cx="9810750" cy="390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400"/>
              </a:spcAft>
              <a:buChar char="•"/>
              <a:defRPr sz="2250">
                <a:solidFill>
                  <a:srgbClr val="172433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172433"/>
                </a:solidFill>
                <a:latin typeface="Arial"/>
                <a:ea typeface="Arial"/>
                <a:cs typeface="Arial"/>
              </a:rPr>
              <a:t>Run a Python file from Visual Studio Code or PowerShell</a:t>
            </a:r>
          </a:p>
          <a:p xmlns:a="http://schemas.openxmlformats.org/drawingml/2006/main">
            <a:pPr marL="254000" indent="-127000">
              <a:spcAft>
                <a:spcPts val="1400"/>
              </a:spcAft>
              <a:buChar char="•"/>
              <a:defRPr sz="2250">
                <a:solidFill>
                  <a:srgbClr val="172433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172433"/>
                </a:solidFill>
                <a:latin typeface="Arial"/>
                <a:ea typeface="Arial"/>
                <a:cs typeface="Arial"/>
              </a:rPr>
              <a:t>Use print() to display text</a:t>
            </a:r>
          </a:p>
          <a:p xmlns:a="http://schemas.openxmlformats.org/drawingml/2006/main">
            <a:pPr marL="254000" indent="-127000">
              <a:spcAft>
                <a:spcPts val="1400"/>
              </a:spcAft>
              <a:buChar char="•"/>
              <a:defRPr sz="2250">
                <a:solidFill>
                  <a:srgbClr val="172433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172433"/>
                </a:solidFill>
                <a:latin typeface="Arial"/>
                <a:ea typeface="Arial"/>
                <a:cs typeface="Arial"/>
              </a:rPr>
              <a:t>Add comments that explain a program</a:t>
            </a:r>
          </a:p>
          <a:p xmlns:a="http://schemas.openxmlformats.org/drawingml/2006/main">
            <a:pPr marL="254000" indent="-127000">
              <a:spcAft>
                <a:spcPts val="1400"/>
              </a:spcAft>
              <a:buChar char="•"/>
              <a:defRPr sz="2250">
                <a:solidFill>
                  <a:srgbClr val="172433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172433"/>
                </a:solidFill>
                <a:latin typeface="Arial"/>
                <a:ea typeface="Arial"/>
                <a:cs typeface="Arial"/>
              </a:rPr>
              <a:t>Locate the useful line in a Python error message</a:t>
            </a:r>
          </a:p>
          <a:p xmlns:a="http://schemas.openxmlformats.org/drawingml/2006/main">
            <a:pPr marL="254000" indent="-127000">
              <a:spcAft>
                <a:spcPts val="1400"/>
              </a:spcAft>
              <a:buChar char="•"/>
              <a:defRPr sz="2250">
                <a:solidFill>
                  <a:srgbClr val="172433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172433"/>
                </a:solidFill>
                <a:latin typeface="Arial"/>
                <a:ea typeface="Arial"/>
                <a:cs typeface="Arial"/>
              </a:rPr>
              <a:t>Make and describe one Git commit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B5C4D4-29BB-4875-B8D7-B9FFF5348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0" i="0">
                <a:solidFill>
                  <a:srgbClr val="5D6B7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D6B78"/>
                </a:solidFill>
                <a:latin typeface="Arial"/>
                <a:ea typeface="Arial"/>
                <a:cs typeface="Arial"/>
              </a:rPr>
              <a:t>9:30-9:50 | Welcome and objectives</a:t>
            </a:r>
          </a:p>
        </p:txBody>
      </p:sp>
    </p:spTree>
    <p:extLst>
      <p:ext uri="{BB962C8B-B14F-4D97-AF65-F5344CB8AC3E}">
        <p14:creationId xmlns:p14="http://schemas.microsoft.com/office/powerpoint/2010/main" val="124143834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3A5A7D-D0B5-4704-B27D-02ABC06EF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000" b="1" i="0">
                <a:solidFill>
                  <a:srgbClr val="173654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73654"/>
                </a:solidFill>
                <a:latin typeface="Arial"/>
                <a:ea typeface="Arial"/>
                <a:cs typeface="Arial"/>
              </a:rPr>
              <a:t>Input, process, output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ACCB40-B1FF-4B98-96AA-9024C191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09650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 i="0">
                <a:solidFill>
                  <a:srgbClr val="5D6B78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5D6B78"/>
                </a:solidFill>
                <a:latin typeface="Arial"/>
                <a:ea typeface="Arial"/>
                <a:cs typeface="Arial"/>
              </a:rPr>
              <a:t>A program turns information into a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E42812-B4BE-4A9B-83A2-9F77CC101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31623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AF2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250" b="1" i="0">
                <a:solidFill>
                  <a:srgbClr val="2F6F89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2F6F89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B5058A-1218-4144-889A-44D0F9581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09900"/>
            <a:ext cx="2743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 i="0">
                <a:solidFill>
                  <a:srgbClr val="172433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433"/>
                </a:solidFill>
                <a:latin typeface="Arial"/>
                <a:ea typeface="Arial"/>
                <a:cs typeface="Arial"/>
              </a:rPr>
              <a:t>What the program receives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617213-81C0-48B0-90B0-432ABA36F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76450"/>
            <a:ext cx="31623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DF5E9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250" b="1" i="0">
                <a:solidFill>
                  <a:srgbClr val="5F9F4B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5F9F4B"/>
                </a:solidFill>
                <a:latin typeface="Arial"/>
                <a:ea typeface="Arial"/>
                <a:cs typeface="Arial"/>
              </a:rPr>
              <a:t>PROCESS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6CBE4B-F38D-4E31-8A85-EF28EEC6A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009900"/>
            <a:ext cx="2743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 i="0">
                <a:solidFill>
                  <a:srgbClr val="172433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433"/>
                </a:solidFill>
                <a:latin typeface="Arial"/>
                <a:ea typeface="Arial"/>
                <a:cs typeface="Arial"/>
              </a:rPr>
              <a:t>The steps the program follows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CCEA6A-5842-41DE-A61C-0469FF75D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076450"/>
            <a:ext cx="31623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BECEC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250" b="1" i="0">
                <a:solidFill>
                  <a:srgbClr val="DF6765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DF676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BC008D-69D7-4ACC-BF86-2CA3DE205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009900"/>
            <a:ext cx="2743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 i="0">
                <a:solidFill>
                  <a:srgbClr val="172433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433"/>
                </a:solidFill>
                <a:latin typeface="Arial"/>
                <a:ea typeface="Arial"/>
                <a:cs typeface="Arial"/>
              </a:rPr>
              <a:t>What the program produces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70C2DB-5E11-4C4F-9BD8-754A0414C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95800"/>
            <a:ext cx="2724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1" i="0">
                <a:solidFill>
                  <a:srgbClr val="2F6F89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2F6F89"/>
                </a:solidFill>
                <a:latin typeface="Arial"/>
                <a:ea typeface="Arial"/>
                <a:cs typeface="Arial"/>
              </a:rPr>
              <a:t>Example: your name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D39FA5-456D-4AE6-9E2D-292384C8E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95800"/>
            <a:ext cx="2724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1" i="0">
                <a:solidFill>
                  <a:srgbClr val="5F9F4B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5F9F4B"/>
                </a:solidFill>
                <a:latin typeface="Arial"/>
                <a:ea typeface="Arial"/>
                <a:cs typeface="Arial"/>
              </a:rPr>
              <a:t>Combine it with a greeting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6E1217-7438-4816-9EA6-C7EB1982A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495800"/>
            <a:ext cx="2724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1" i="0">
                <a:solidFill>
                  <a:srgbClr val="DF6765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DF6765"/>
                </a:solidFill>
                <a:latin typeface="Arial"/>
                <a:ea typeface="Arial"/>
                <a:cs typeface="Arial"/>
              </a:rPr>
              <a:t>Hello, Maya!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572AB0-9795-4AB9-BDB0-6DCCFCA97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0" i="0">
                <a:solidFill>
                  <a:srgbClr val="5D6B7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D6B78"/>
                </a:solidFill>
                <a:latin typeface="Arial"/>
                <a:ea typeface="Arial"/>
                <a:cs typeface="Arial"/>
              </a:rPr>
              <a:t>9:50-10:25 | Lesson and live coding</a:t>
            </a:r>
          </a:p>
        </p:txBody>
      </p:sp>
    </p:spTree>
    <p:extLst>
      <p:ext uri="{BB962C8B-B14F-4D97-AF65-F5344CB8AC3E}">
        <p14:creationId xmlns:p14="http://schemas.microsoft.com/office/powerpoint/2010/main" val="197810483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7365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0CBAF3-1646-4AD2-8151-20BF7EB60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0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Your first Python program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F30ADB-3785-41F0-9BC5-997A1A544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90700"/>
            <a:ext cx="85725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F263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550" b="0" i="0">
                <a:solidFill>
                  <a:srgbClr val="D9F2CF"/>
                </a:solidFill>
                <a:latin typeface="Consolas"/>
                <a:ea typeface="Consolas"/>
                <a:cs typeface="Consolas"/>
              </a:defRPr>
            </a:pPr>
            <a:r>
              <a:rPr sz="2550" b="0" i="0">
                <a:solidFill>
                  <a:srgbClr val="D9F2CF"/>
                </a:solidFill>
                <a:latin typeface="Consolas"/>
                <a:ea typeface="Consolas"/>
                <a:cs typeface="Consolas"/>
              </a:rPr>
              <a:t>print("Hello, Project Syncere!")</a:t>
            </a:r>
          </a:p>
          <a:p xmlns:a="http://schemas.openxmlformats.org/drawingml/2006/main">
            <a:pPr>
              <a:defRPr sz="2550" b="0" i="0">
                <a:solidFill>
                  <a:srgbClr val="D9F2CF"/>
                </a:solidFill>
                <a:latin typeface="Consolas"/>
                <a:ea typeface="Consolas"/>
                <a:cs typeface="Consolas"/>
              </a:defRPr>
            </a:pPr>
            <a:r>
              <a:rPr sz="2550" b="0" i="0">
                <a:solidFill>
                  <a:srgbClr val="D9F2CF"/>
                </a:solidFill>
                <a:latin typeface="Consolas"/>
                <a:ea typeface="Consolas"/>
                <a:cs typeface="Consolas"/>
              </a:rPr>
              <a:t>print("Welcome to computer science.")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B271FD-CBD7-4CDF-908A-61E6127EB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71950"/>
            <a:ext cx="228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250" b="1" i="0">
                <a:solidFill>
                  <a:srgbClr val="FFB1AD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FFB1AD"/>
                </a:solidFill>
                <a:latin typeface="Arial"/>
                <a:ea typeface="Arial"/>
                <a:cs typeface="Arial"/>
              </a:rPr>
              <a:t>Predict first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44B958-3197-4CFE-A0F6-035A28AE9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171950"/>
            <a:ext cx="7524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What will appear when this program runs?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F78068-13FE-4E09-A76C-D9666521E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9530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Then change one message and run it again.</a:t>
            </a:r>
          </a:p>
        </p:txBody>
      </p:sp>
    </p:spTree>
    <p:extLst>
      <p:ext uri="{BB962C8B-B14F-4D97-AF65-F5344CB8AC3E}">
        <p14:creationId xmlns:p14="http://schemas.microsoft.com/office/powerpoint/2010/main" val="49419193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DF676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734774-5C3E-4C96-BEC5-DCB132AD3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54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Break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A405C3-9EB1-41FE-B7FD-68EC9DFCD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10:25-10:35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1FC42E-F137-4A57-AE41-C21FEB245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Step away from your screen. Return ready to code.</a:t>
            </a:r>
          </a:p>
        </p:txBody>
      </p:sp>
    </p:spTree>
    <p:extLst>
      <p:ext uri="{BB962C8B-B14F-4D97-AF65-F5344CB8AC3E}">
        <p14:creationId xmlns:p14="http://schemas.microsoft.com/office/powerpoint/2010/main" val="2555182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378682-636F-458E-8EF3-D1532C8CE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000" b="1" i="0">
                <a:solidFill>
                  <a:srgbClr val="173654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73654"/>
                </a:solidFill>
                <a:latin typeface="Arial"/>
                <a:ea typeface="Arial"/>
                <a:cs typeface="Arial"/>
              </a:rPr>
              <a:t>Guided Python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133BD5-60B4-41AD-AA86-B1054FBFA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09650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 i="0">
                <a:solidFill>
                  <a:srgbClr val="5D6B78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5D6B78"/>
                </a:solidFill>
                <a:latin typeface="Arial"/>
                <a:ea typeface="Arial"/>
                <a:cs typeface="Arial"/>
              </a:rPr>
              <a:t>Work with the class first, then repeat the steps independently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315989-A59F-482C-87D9-1E1BF9380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76400"/>
            <a:ext cx="723900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200"/>
              </a:spcAft>
              <a:buChar char="•"/>
              <a:defRPr sz="2025">
                <a:solidFill>
                  <a:srgbClr val="172433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433"/>
                </a:solidFill>
                <a:latin typeface="Arial"/>
                <a:ea typeface="Arial"/>
                <a:cs typeface="Arial"/>
              </a:rPr>
              <a:t>Open the course repository in Visual Studio Code</a:t>
            </a:r>
          </a:p>
          <a:p xmlns:a="http://schemas.openxmlformats.org/drawingml/2006/main">
            <a:pPr marL="254000" indent="-127000">
              <a:spcAft>
                <a:spcPts val="1200"/>
              </a:spcAft>
              <a:buChar char="•"/>
              <a:defRPr sz="2025">
                <a:solidFill>
                  <a:srgbClr val="172433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433"/>
                </a:solidFill>
                <a:latin typeface="Arial"/>
                <a:ea typeface="Arial"/>
                <a:cs typeface="Arial"/>
              </a:rPr>
              <a:t>Run setup/verify_setup.py</a:t>
            </a:r>
          </a:p>
          <a:p xmlns:a="http://schemas.openxmlformats.org/drawingml/2006/main">
            <a:pPr marL="254000" indent="-127000">
              <a:spcAft>
                <a:spcPts val="1200"/>
              </a:spcAft>
              <a:buChar char="•"/>
              <a:defRPr sz="2025">
                <a:solidFill>
                  <a:srgbClr val="172433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433"/>
                </a:solidFill>
                <a:latin typeface="Arial"/>
                <a:ea typeface="Arial"/>
                <a:cs typeface="Arial"/>
              </a:rPr>
              <a:t>Run week-01-python-basics/examples/hello.py</a:t>
            </a:r>
          </a:p>
          <a:p xmlns:a="http://schemas.openxmlformats.org/drawingml/2006/main">
            <a:pPr marL="254000" indent="-127000">
              <a:spcAft>
                <a:spcPts val="1200"/>
              </a:spcAft>
              <a:buChar char="•"/>
              <a:defRPr sz="2025">
                <a:solidFill>
                  <a:srgbClr val="172433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433"/>
                </a:solidFill>
                <a:latin typeface="Arial"/>
                <a:ea typeface="Arial"/>
                <a:cs typeface="Arial"/>
              </a:rPr>
              <a:t>Change every displayed message</a:t>
            </a:r>
          </a:p>
          <a:p xmlns:a="http://schemas.openxmlformats.org/drawingml/2006/main">
            <a:pPr marL="254000" indent="-127000">
              <a:spcAft>
                <a:spcPts val="1200"/>
              </a:spcAft>
              <a:buChar char="•"/>
              <a:defRPr sz="2025">
                <a:solidFill>
                  <a:srgbClr val="172433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433"/>
                </a:solidFill>
                <a:latin typeface="Arial"/>
                <a:ea typeface="Arial"/>
                <a:cs typeface="Arial"/>
              </a:rPr>
              <a:t>Create one error, read it, and repair 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D486ED-CA1D-43CB-9040-6523E3EF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752600"/>
            <a:ext cx="276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2F6F89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2F6F89"/>
                </a:solidFill>
                <a:latin typeface="Arial"/>
                <a:ea typeface="Arial"/>
                <a:cs typeface="Arial"/>
              </a:rPr>
              <a:t>Command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495DA0-414A-46F4-ADAE-768E699F1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05050"/>
            <a:ext cx="3143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7365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72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python week-01-python-basics/</a:t>
            </a:r>
          </a:p>
          <a:p xmlns:a="http://schemas.openxmlformats.org/drawingml/2006/main">
            <a:pPr>
              <a:defRPr sz="172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72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examples/hello.py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21233A-B6ED-4509-9721-93F510E08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171950"/>
            <a:ext cx="3143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2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 i="0">
                <a:solidFill>
                  <a:srgbClr val="172433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72433"/>
                </a:solidFill>
                <a:latin typeface="Arial"/>
                <a:ea typeface="Arial"/>
                <a:cs typeface="Arial"/>
              </a:rPr>
              <a:t>Ask for help with the complete error message visible.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04C49D-CA49-41CE-A9FC-D7C97E8AC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0" i="0">
                <a:solidFill>
                  <a:srgbClr val="5D6B7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D6B78"/>
                </a:solidFill>
                <a:latin typeface="Arial"/>
                <a:ea typeface="Arial"/>
                <a:cs typeface="Arial"/>
              </a:rPr>
              <a:t>10:35-11:20 | Guided lab</a:t>
            </a:r>
          </a:p>
        </p:txBody>
      </p:sp>
    </p:spTree>
    <p:extLst>
      <p:ext uri="{BB962C8B-B14F-4D97-AF65-F5344CB8AC3E}">
        <p14:creationId xmlns:p14="http://schemas.microsoft.com/office/powerpoint/2010/main" val="144701838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3C899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BB444B-8583-48E7-B241-F25B4EE35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54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Break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D642D5-3A21-4DC7-967A-0D0A63B08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11:20-11:30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BE855E-E53E-4703-BAD1-26909A02C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After the break: build something that introduces you.</a:t>
            </a:r>
          </a:p>
        </p:txBody>
      </p:sp>
    </p:spTree>
    <p:extLst>
      <p:ext uri="{BB962C8B-B14F-4D97-AF65-F5344CB8AC3E}">
        <p14:creationId xmlns:p14="http://schemas.microsoft.com/office/powerpoint/2010/main" val="153361461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EDF5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CD8386-4A22-4796-AE5C-069718EAE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000" b="1" i="0">
                <a:solidFill>
                  <a:srgbClr val="173654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73654"/>
                </a:solidFill>
                <a:latin typeface="Arial"/>
                <a:ea typeface="Arial"/>
                <a:cs typeface="Arial"/>
              </a:rPr>
              <a:t>Project: introduce yourself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2CE974-CDD5-4062-A687-CBBE59CBE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09650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 i="0">
                <a:solidFill>
                  <a:srgbClr val="5D6B78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5D6B78"/>
                </a:solidFill>
                <a:latin typeface="Arial"/>
                <a:ea typeface="Arial"/>
                <a:cs typeface="Arial"/>
              </a:rPr>
              <a:t>Create a short Python program for a classmate to run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124CB3-B7AB-47D1-91CE-C93C1E4DB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14500"/>
            <a:ext cx="304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1" i="0">
                <a:solidFill>
                  <a:srgbClr val="5F9F4B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5F9F4B"/>
                </a:solidFill>
                <a:latin typeface="Arial"/>
                <a:ea typeface="Arial"/>
                <a:cs typeface="Arial"/>
              </a:rPr>
              <a:t>Required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7AA992-B0DD-4105-AF51-DF5E84C09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86000"/>
            <a:ext cx="5143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433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433"/>
                </a:solidFill>
                <a:latin typeface="Arial"/>
                <a:ea typeface="Arial"/>
                <a:cs typeface="Arial"/>
              </a:rPr>
              <a:t>Your name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433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433"/>
                </a:solidFill>
                <a:latin typeface="Arial"/>
                <a:ea typeface="Arial"/>
                <a:cs typeface="Arial"/>
              </a:rPr>
              <a:t>At least three facts about you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433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433"/>
                </a:solidFill>
                <a:latin typeface="Arial"/>
                <a:ea typeface="Arial"/>
                <a:cs typeface="Arial"/>
              </a:rPr>
              <a:t>One goal for this course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433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433"/>
                </a:solidFill>
                <a:latin typeface="Arial"/>
                <a:ea typeface="Arial"/>
                <a:cs typeface="Arial"/>
              </a:rPr>
              <a:t>At least two useful comments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433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433"/>
                </a:solidFill>
                <a:latin typeface="Arial"/>
                <a:ea typeface="Arial"/>
                <a:cs typeface="Arial"/>
              </a:rPr>
              <a:t>A program that runs without errors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21D112-64F9-4079-AC43-47CE00430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7145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1" i="0">
                <a:solidFill>
                  <a:srgbClr val="2F6F89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2F6F89"/>
                </a:solidFill>
                <a:latin typeface="Arial"/>
                <a:ea typeface="Arial"/>
                <a:cs typeface="Arial"/>
              </a:rPr>
              <a:t>Start here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DF52AA-A902-4505-BD66-D06386842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43150"/>
            <a:ext cx="40957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7365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week-01-python-basics/</a:t>
            </a:r>
          </a:p>
          <a:p xmlns:a="http://schemas.openxmlformats.org/drawingml/2006/main">
            <a:pPr>
              <a:defRPr sz="18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assignment/starter.py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D99E9A-F9CD-474B-8D71-EB918B3C4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19550"/>
            <a:ext cx="4095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1" i="0">
                <a:solidFill>
                  <a:srgbClr val="DF6765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DF6765"/>
                </a:solidFill>
                <a:latin typeface="Arial"/>
                <a:ea typeface="Arial"/>
                <a:cs typeface="Arial"/>
              </a:rPr>
              <a:t>Working and understandable beats complicated.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6F3D9B-3209-46B5-9C4A-EC5748C05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0" i="0">
                <a:solidFill>
                  <a:srgbClr val="5D6B7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D6B78"/>
                </a:solidFill>
                <a:latin typeface="Arial"/>
                <a:ea typeface="Arial"/>
                <a:cs typeface="Arial"/>
              </a:rPr>
              <a:t>11:30-12:20 | Project and peer testing</a:t>
            </a:r>
          </a:p>
        </p:txBody>
      </p:sp>
    </p:spTree>
    <p:extLst>
      <p:ext uri="{BB962C8B-B14F-4D97-AF65-F5344CB8AC3E}">
        <p14:creationId xmlns:p14="http://schemas.microsoft.com/office/powerpoint/2010/main" val="200587442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22F649-2A04-437E-A315-2EBA2C8D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000" b="1" i="0">
                <a:solidFill>
                  <a:srgbClr val="173654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73654"/>
                </a:solidFill>
                <a:latin typeface="Arial"/>
                <a:ea typeface="Arial"/>
                <a:cs typeface="Arial"/>
              </a:rPr>
              <a:t>Peer test and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C48949-5685-4EF9-AE83-B19DDF968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09650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 i="0">
                <a:solidFill>
                  <a:srgbClr val="5D6B78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5D6B78"/>
                </a:solidFill>
                <a:latin typeface="Arial"/>
                <a:ea typeface="Arial"/>
                <a:cs typeface="Arial"/>
              </a:rPr>
              <a:t>Your partner runs the program on their computer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0FD84F-9D3B-4BFC-B1AB-946862905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76400"/>
            <a:ext cx="990600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200"/>
              </a:spcAft>
              <a:buChar char="•"/>
              <a:defRPr sz="2175">
                <a:solidFill>
                  <a:srgbClr val="172433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72433"/>
                </a:solidFill>
                <a:latin typeface="Arial"/>
                <a:ea typeface="Arial"/>
                <a:cs typeface="Arial"/>
              </a:rPr>
              <a:t>Run the program without editing it first</a:t>
            </a:r>
          </a:p>
          <a:p xmlns:a="http://schemas.openxmlformats.org/drawingml/2006/main">
            <a:pPr marL="254000" indent="-127000">
              <a:spcAft>
                <a:spcPts val="1200"/>
              </a:spcAft>
              <a:buChar char="•"/>
              <a:defRPr sz="2175">
                <a:solidFill>
                  <a:srgbClr val="172433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72433"/>
                </a:solidFill>
                <a:latin typeface="Arial"/>
                <a:ea typeface="Arial"/>
                <a:cs typeface="Arial"/>
              </a:rPr>
              <a:t>Describe what worked</a:t>
            </a:r>
          </a:p>
          <a:p xmlns:a="http://schemas.openxmlformats.org/drawingml/2006/main">
            <a:pPr marL="254000" indent="-127000">
              <a:spcAft>
                <a:spcPts val="1200"/>
              </a:spcAft>
              <a:buChar char="•"/>
              <a:defRPr sz="2175">
                <a:solidFill>
                  <a:srgbClr val="172433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72433"/>
                </a:solidFill>
                <a:latin typeface="Arial"/>
                <a:ea typeface="Arial"/>
                <a:cs typeface="Arial"/>
              </a:rPr>
              <a:t>Copy the complete error message if something failed</a:t>
            </a:r>
          </a:p>
          <a:p xmlns:a="http://schemas.openxmlformats.org/drawingml/2006/main">
            <a:pPr marL="254000" indent="-127000">
              <a:spcAft>
                <a:spcPts val="1200"/>
              </a:spcAft>
              <a:buChar char="•"/>
              <a:defRPr sz="2175">
                <a:solidFill>
                  <a:srgbClr val="172433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72433"/>
                </a:solidFill>
                <a:latin typeface="Arial"/>
                <a:ea typeface="Arial"/>
                <a:cs typeface="Arial"/>
              </a:rPr>
              <a:t>Suggest one improvement that keeps the project small</a:t>
            </a:r>
          </a:p>
          <a:p xmlns:a="http://schemas.openxmlformats.org/drawingml/2006/main">
            <a:pPr marL="254000" indent="-127000">
              <a:spcAft>
                <a:spcPts val="1200"/>
              </a:spcAft>
              <a:buChar char="•"/>
              <a:defRPr sz="2175">
                <a:solidFill>
                  <a:srgbClr val="172433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72433"/>
                </a:solidFill>
                <a:latin typeface="Arial"/>
                <a:ea typeface="Arial"/>
                <a:cs typeface="Arial"/>
              </a:rPr>
              <a:t>Return the program and let the author make the change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7C7AD4-F30D-4EA1-A86F-A4F2DB5D9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581650"/>
            <a:ext cx="904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1" i="0">
                <a:solidFill>
                  <a:srgbClr val="5F9F4B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5F9F4B"/>
                </a:solidFill>
                <a:latin typeface="Arial"/>
                <a:ea typeface="Arial"/>
                <a:cs typeface="Arial"/>
              </a:rPr>
              <a:t>Share one debugging discovery with the class.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8648F7-D689-48A7-B48D-3B77674BF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0" i="0">
                <a:solidFill>
                  <a:srgbClr val="5D6B7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D6B78"/>
                </a:solidFill>
                <a:latin typeface="Arial"/>
                <a:ea typeface="Arial"/>
                <a:cs typeface="Arial"/>
              </a:rPr>
              <a:t>12:20-12:40 | Share, debug, and peer review</a:t>
            </a:r>
          </a:p>
        </p:txBody>
      </p:sp>
    </p:spTree>
    <p:extLst>
      <p:ext uri="{BB962C8B-B14F-4D97-AF65-F5344CB8AC3E}">
        <p14:creationId xmlns:p14="http://schemas.microsoft.com/office/powerpoint/2010/main" val="199590827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7365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26E376-73BA-4362-9E5A-7F47BA9AD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Exit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E0DEC7-38BC-41FD-8A09-33444C128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19200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 i="0">
                <a:solidFill>
                  <a:srgbClr val="B9DBA8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B9DBA8"/>
                </a:solidFill>
                <a:latin typeface="Arial"/>
                <a:ea typeface="Arial"/>
                <a:cs typeface="Arial"/>
              </a:rPr>
              <a:t>Answer before you leave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9BDDD8-135E-4631-A302-D749B0C95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38350"/>
            <a:ext cx="66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600" b="1" i="0">
                <a:solidFill>
                  <a:srgbClr val="DF6765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DF6765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EBE0F2-84FD-4E3A-B5D5-0169B430D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038350"/>
            <a:ext cx="8858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325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What did you make today?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28B248-0F1F-44E8-9BC7-5FA79B58D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62300"/>
            <a:ext cx="66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600" b="1" i="0">
                <a:solidFill>
                  <a:srgbClr val="5F9F4B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5F9F4B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1900A6-A379-4BB6-AD9D-420ACB3DF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162300"/>
            <a:ext cx="8858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325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What error did you encounter or repair?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B3FF22-C07F-44F8-8F71-FDD12CDE3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86250"/>
            <a:ext cx="66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600" b="1" i="0">
                <a:solidFill>
                  <a:srgbClr val="7FC6D1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7FC6D1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A5F2F3-35CB-41C0-96CE-5B03FA839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286250"/>
            <a:ext cx="8858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325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What support do you need next Saturday?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0F4CAB-858D-4228-AAAF-35D4286BC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676900"/>
            <a:ext cx="1028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Save your work and show your instructor the exit ticket.</a:t>
            </a:r>
          </a:p>
        </p:txBody>
      </p:sp>
    </p:spTree>
    <p:extLst>
      <p:ext uri="{BB962C8B-B14F-4D97-AF65-F5344CB8AC3E}">
        <p14:creationId xmlns:p14="http://schemas.microsoft.com/office/powerpoint/2010/main" val="120743668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2026-10-03T01:03:01.0830000Z</dcterms:created>
  <dcterms:modified xsi:type="dcterms:W3CDTF">2026-10-03T01:03:01.0830000Z</dcterms:modified>
</coreProperties>
</file>