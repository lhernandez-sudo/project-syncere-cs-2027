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fa5424480f44b8b" /><Relationship Type="http://schemas.openxmlformats.org/officeDocument/2006/relationships/extended-properties" Target="/docProps/app.xml" Id="Rf873155b445049aa" /><Relationship Type="http://schemas.openxmlformats.org/officeDocument/2006/relationships/officeDocument" Target="/ppt/presentation.xml" Id="R857bbf4229e44e21" /></Relationships>
</file>

<file path=ppt/presentation.xml><?xml version="1.0" encoding="utf-8"?>
<p:presentation xmlns:p="http://schemas.openxmlformats.org/presentationml/2006/main">
  <p:sldMasterIdLst>
    <p:sldMasterId xmlns:r="http://schemas.openxmlformats.org/officeDocument/2006/relationships" id="2147483648" r:id="Rdc591d169c214a22"/>
  </p:sldMasterIdLst>
  <p:notesMasterIdLst>
    <p:notesMasterId xmlns:r="http://schemas.openxmlformats.org/officeDocument/2006/relationships" r:id="Rcdd9bd14c8ae47af"/>
  </p:notesMasterIdLst>
  <p:sldIdLst>
    <p:sldId xmlns:r="http://schemas.openxmlformats.org/officeDocument/2006/relationships" id="256" r:id="Rc42d4d5a46964f62"/>
    <p:sldId xmlns:r="http://schemas.openxmlformats.org/officeDocument/2006/relationships" id="257" r:id="R7c4e0a7946824335"/>
    <p:sldId xmlns:r="http://schemas.openxmlformats.org/officeDocument/2006/relationships" id="258" r:id="Rac44232713a84c65"/>
    <p:sldId xmlns:r="http://schemas.openxmlformats.org/officeDocument/2006/relationships" id="259" r:id="Rc1de2006e7bd47b6"/>
    <p:sldId xmlns:r="http://schemas.openxmlformats.org/officeDocument/2006/relationships" id="260" r:id="R9005a80a679249dc"/>
    <p:sldId xmlns:r="http://schemas.openxmlformats.org/officeDocument/2006/relationships" id="261" r:id="R35504fdbde004b7b"/>
    <p:sldId xmlns:r="http://schemas.openxmlformats.org/officeDocument/2006/relationships" id="262" r:id="R33de3e2b45f14331"/>
    <p:sldId xmlns:r="http://schemas.openxmlformats.org/officeDocument/2006/relationships" id="263" r:id="R4e4fbd4692024449"/>
    <p:sldId xmlns:r="http://schemas.openxmlformats.org/officeDocument/2006/relationships" id="264" r:id="R85a5f99921ff4490"/>
    <p:sldId xmlns:r="http://schemas.openxmlformats.org/officeDocument/2006/relationships" id="265" r:id="Re994b48621764be9"/>
    <p:sldId xmlns:r="http://schemas.openxmlformats.org/officeDocument/2006/relationships" id="266" r:id="R78e04e8e5d884876"/>
    <p:sldId xmlns:r="http://schemas.openxmlformats.org/officeDocument/2006/relationships" id="267" r:id="R45ef74c3299247a7"/>
    <p:sldId xmlns:r="http://schemas.openxmlformats.org/officeDocument/2006/relationships" id="268" r:id="R937a71a1b82e4c24"/>
    <p:sldId xmlns:r="http://schemas.openxmlformats.org/officeDocument/2006/relationships" id="269" r:id="R2454609b42ac40d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856d70503d84559" /><Relationship Type="http://schemas.openxmlformats.org/officeDocument/2006/relationships/slideMaster" Target="/ppt/slideMasters/slideMaster1.xml" Id="Rdc591d169c214a22" /><Relationship Type="http://schemas.openxmlformats.org/officeDocument/2006/relationships/notesMaster" Target="/ppt/notesMasters/notesMaster1.xml" Id="Rcdd9bd14c8ae47af" /><Relationship Type="http://schemas.openxmlformats.org/officeDocument/2006/relationships/presProps" Target="/ppt/presProps.xml" Id="Re2db61b8d4b84988" /><Relationship Type="http://schemas.openxmlformats.org/officeDocument/2006/relationships/tableStyles" Target="/ppt/tableStyles.xml" Id="R82d0244ccd834232" /><Relationship Type="http://schemas.openxmlformats.org/officeDocument/2006/relationships/slide" Target="/ppt/slides/slide1.xml" Id="Rc42d4d5a46964f62" /><Relationship Type="http://schemas.openxmlformats.org/officeDocument/2006/relationships/slide" Target="/ppt/slides/slide2.xml" Id="R7c4e0a7946824335" /><Relationship Type="http://schemas.openxmlformats.org/officeDocument/2006/relationships/slide" Target="/ppt/slides/slide3.xml" Id="Rac44232713a84c65" /><Relationship Type="http://schemas.openxmlformats.org/officeDocument/2006/relationships/slide" Target="/ppt/slides/slide4.xml" Id="Rc1de2006e7bd47b6" /><Relationship Type="http://schemas.openxmlformats.org/officeDocument/2006/relationships/slide" Target="/ppt/slides/slide5.xml" Id="R9005a80a679249dc" /><Relationship Type="http://schemas.openxmlformats.org/officeDocument/2006/relationships/slide" Target="/ppt/slides/slide6.xml" Id="R35504fdbde004b7b" /><Relationship Type="http://schemas.openxmlformats.org/officeDocument/2006/relationships/slide" Target="/ppt/slides/slide7.xml" Id="R33de3e2b45f14331" /><Relationship Type="http://schemas.openxmlformats.org/officeDocument/2006/relationships/slide" Target="/ppt/slides/slide8.xml" Id="R4e4fbd4692024449" /><Relationship Type="http://schemas.openxmlformats.org/officeDocument/2006/relationships/slide" Target="/ppt/slides/slide9.xml" Id="R85a5f99921ff4490" /><Relationship Type="http://schemas.openxmlformats.org/officeDocument/2006/relationships/slide" Target="/ppt/slides/slide10.xml" Id="Re994b48621764be9" /><Relationship Type="http://schemas.openxmlformats.org/officeDocument/2006/relationships/slide" Target="/ppt/slides/slide11.xml" Id="R78e04e8e5d884876" /><Relationship Type="http://schemas.openxmlformats.org/officeDocument/2006/relationships/slide" Target="/ppt/slides/slide12.xml" Id="R45ef74c3299247a7" /><Relationship Type="http://schemas.openxmlformats.org/officeDocument/2006/relationships/slide" Target="/ppt/slides/slide13.xml" Id="R937a71a1b82e4c24" /><Relationship Type="http://schemas.openxmlformats.org/officeDocument/2006/relationships/slide" Target="/ppt/slides/slide14.xml" Id="R2454609b42ac40d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8cbd4638dc1421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fa75821fd1e425c" /><Relationship Type="http://schemas.openxmlformats.org/officeDocument/2006/relationships/notesMaster" Target="/ppt/notesMasters/notesMaster1.xml" Id="R4a4057bd6aba4d97" /></Relationships>
</file>

<file path=ppt/notesSlides/_rels/notesSlide2.xml.rels>&#65279;<?xml version="1.0" encoding="utf-8"?><Relationships xmlns="http://schemas.openxmlformats.org/package/2006/relationships"><Relationship Type="http://schemas.openxmlformats.org/officeDocument/2006/relationships/slide" Target="/ppt/slides/slide2.xml" Id="Rbf35d0f0cb4c40c5" /><Relationship Type="http://schemas.openxmlformats.org/officeDocument/2006/relationships/notesMaster" Target="/ppt/notesMasters/notesMaster1.xml" Id="Rae0610b5270a4cfc" /></Relationships>
</file>

<file path=ppt/notesSlides/_rels/notesSlide3.xml.rels>&#65279;<?xml version="1.0" encoding="utf-8"?><Relationships xmlns="http://schemas.openxmlformats.org/package/2006/relationships"><Relationship Type="http://schemas.openxmlformats.org/officeDocument/2006/relationships/slide" Target="/ppt/slides/slide3.xml" Id="R2bdfc9b89c8d4854" /><Relationship Type="http://schemas.openxmlformats.org/officeDocument/2006/relationships/notesMaster" Target="/ppt/notesMasters/notesMaster1.xml" Id="R833377eb9fca4086" /></Relationships>
</file>

<file path=ppt/notesSlides/_rels/notesSlide4.xml.rels>&#65279;<?xml version="1.0" encoding="utf-8"?><Relationships xmlns="http://schemas.openxmlformats.org/package/2006/relationships"><Relationship Type="http://schemas.openxmlformats.org/officeDocument/2006/relationships/slide" Target="/ppt/slides/slide4.xml" Id="Rf545638372f841aa" /><Relationship Type="http://schemas.openxmlformats.org/officeDocument/2006/relationships/notesMaster" Target="/ppt/notesMasters/notesMaster1.xml" Id="Rdef71b7b5c52470b" /></Relationships>
</file>

<file path=ppt/notesSlides/_rels/notesSlide5.xml.rels>&#65279;<?xml version="1.0" encoding="utf-8"?><Relationships xmlns="http://schemas.openxmlformats.org/package/2006/relationships"><Relationship Type="http://schemas.openxmlformats.org/officeDocument/2006/relationships/slide" Target="/ppt/slides/slide5.xml" Id="Rbdd9bbbb3d34418d" /><Relationship Type="http://schemas.openxmlformats.org/officeDocument/2006/relationships/notesMaster" Target="/ppt/notesMasters/notesMaster1.xml" Id="R4ff4a1b7cce5466f" /></Relationships>
</file>

<file path=ppt/notesSlides/_rels/notesSlide6.xml.rels>&#65279;<?xml version="1.0" encoding="utf-8"?><Relationships xmlns="http://schemas.openxmlformats.org/package/2006/relationships"><Relationship Type="http://schemas.openxmlformats.org/officeDocument/2006/relationships/slide" Target="/ppt/slides/slide6.xml" Id="Rba944cc4b50248ef" /><Relationship Type="http://schemas.openxmlformats.org/officeDocument/2006/relationships/notesMaster" Target="/ppt/notesMasters/notesMaster1.xml" Id="Rb9e89aca5fda433b" /></Relationships>
</file>

<file path=ppt/notesSlides/_rels/notesSlide7.xml.rels>&#65279;<?xml version="1.0" encoding="utf-8"?><Relationships xmlns="http://schemas.openxmlformats.org/package/2006/relationships"><Relationship Type="http://schemas.openxmlformats.org/officeDocument/2006/relationships/slide" Target="/ppt/slides/slide7.xml" Id="R345eda1d19e34f90" /><Relationship Type="http://schemas.openxmlformats.org/officeDocument/2006/relationships/notesMaster" Target="/ppt/notesMasters/notesMaster1.xml" Id="R95b036e4ae2d4dec" /></Relationships>
</file>

<file path=ppt/notesSlides/_rels/notesSlide8.xml.rels>&#65279;<?xml version="1.0" encoding="utf-8"?><Relationships xmlns="http://schemas.openxmlformats.org/package/2006/relationships"><Relationship Type="http://schemas.openxmlformats.org/officeDocument/2006/relationships/slide" Target="/ppt/slides/slide8.xml" Id="R56a46f17c6484c57" /><Relationship Type="http://schemas.openxmlformats.org/officeDocument/2006/relationships/notesMaster" Target="/ppt/notesMasters/notesMaster1.xml" Id="R2ba5227b0a454261" /></Relationships>
</file>

<file path=ppt/notesSlides/_rels/notesSlide9.xml.rels>&#65279;<?xml version="1.0" encoding="utf-8"?><Relationships xmlns="http://schemas.openxmlformats.org/package/2006/relationships"><Relationship Type="http://schemas.openxmlformats.org/officeDocument/2006/relationships/slide" Target="/ppt/slides/slide9.xml" Id="Rac1a07fea8384215" /><Relationship Type="http://schemas.openxmlformats.org/officeDocument/2006/relationships/notesMaster" Target="/ppt/notesMasters/notesMaster1.xml" Id="Rd32a6ae1592e4a8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860ccece1af4e5b" /><Relationship Type="http://schemas.openxmlformats.org/officeDocument/2006/relationships/notesMaster" Target="/ppt/notesMasters/notesMaster1.xml" Id="R5dd34278f2b74e7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0768035f7e345be" /><Relationship Type="http://schemas.openxmlformats.org/officeDocument/2006/relationships/notesMaster" Target="/ppt/notesMasters/notesMaster1.xml" Id="Rc17deff370c345c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69977e2db1e483c" /><Relationship Type="http://schemas.openxmlformats.org/officeDocument/2006/relationships/notesMaster" Target="/ppt/notesMasters/notesMaster1.xml" Id="Rb058f566dc1a455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b240a8a25c04136" /><Relationship Type="http://schemas.openxmlformats.org/officeDocument/2006/relationships/notesMaster" Target="/ppt/notesMasters/notesMaster1.xml" Id="Reb2ecc6d9ff6401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3d417e56d5441ed" /><Relationship Type="http://schemas.openxmlformats.org/officeDocument/2006/relationships/notesMaster" Target="/ppt/notesMasters/notesMaster1.xml" Id="Ra83d7aa0c8284fc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students as they enter. Generated cover illustration; it is not a photograph of an actual Project Syncere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project_syncere_python_foundations_3_saturdays.pdf, recurring Saturday schedule. Week 1 adapts the opening block to reserve 30 minutes for administrative tasks.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setup checklist to identify students who need follow-up. Do not delay the entire class for one device. Pair those students with a working partner and continue troubleshooting during guided 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project_syncere_python_foundations_3_saturdays.pdf, Saturday 1 activity: Program the Human. Give each pair one sheet of paper and one pen. Suggested timing: two minutes to pair and choose a drawing, six minutes for round one, six minutes after switching, and four minutes to debrief. Connect precise instructions to algorithms and debugging.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Git tracks versions of files, while GitHub stores a shared copy online. A clone downloads the full repository and its history into a new folder on the student's computer. Demonstrate the command, then show the new folder in File Explorer or Visual Studio Code. Students only clone this repository once. In later classes, they use git pull to download new lessons.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students to read the objectives silently. Ask which objective feels most familiar and which feels newest.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project_syncere_python_foundations_3_saturdays.pdf, Saturday 1 core concept: Input -&gt; Process -&gt; Output. Ask students for a non-computer example before showing the name-and-greeting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Live-code this example rather than only reading it. Narrate the quotation marks, parentheses, save action, and run command. Intentionally miss one quotation mark and read the error together.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a visible ten-minute timer. Use the break to check on unresolved account or device problems.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after each step and check that every student has the same result. Pair students intentionally. Students who finish early should explain an error message to a partner rather than racing ahead.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a visible ten-minute timer. Confirm that students know where the assignment starter file is before they leave.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project deliberately small because Day 1 includes 30 minutes of administration. Require a working minimum version before students personalize formatting or add optional lines.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feedback that is specific and kind. Ask two or three students to demonstrate a program or explain a bug they fixed. Do not require everyone to present on Day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Collect responses by 12:55 so students can save files and confirm their repository location. Record unresolved setup issues for follow-up before Week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ec3ead611ad4cd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5fb6b52e1224e77" /><Relationship Type="http://schemas.openxmlformats.org/officeDocument/2006/relationships/slideLayout" Target="/ppt/slideLayouts/slideLayout1.xml" Id="R453795c250ca4df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53795c250ca4df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3f5c14af93e40d2" /><Relationship Type="http://schemas.openxmlformats.org/officeDocument/2006/relationships/image" Target="/ppt/media/image.png" Id="Rd6fb71f7b27c423c" /><Relationship Type="http://schemas.openxmlformats.org/officeDocument/2006/relationships/notesSlide" Target="/ppt/notesSlides/notesSlide1.xml" Id="R50b79b954f794be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097f584fa1b4b61" /><Relationship Type="http://schemas.openxmlformats.org/officeDocument/2006/relationships/notesSlide" Target="/ppt/notesSlides/notesSlide2.xml" Id="R7bfd8df0660e459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46593ea4fb94e1d" /><Relationship Type="http://schemas.openxmlformats.org/officeDocument/2006/relationships/notesSlide" Target="/ppt/notesSlides/notesSlide3.xml" Id="R317a71b7156e437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5a109d122a24603" /><Relationship Type="http://schemas.openxmlformats.org/officeDocument/2006/relationships/notesSlide" Target="/ppt/notesSlides/notesSlide4.xml" Id="Re9ae86cedc3b4ee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941b8d6253d421e" /><Relationship Type="http://schemas.openxmlformats.org/officeDocument/2006/relationships/notesSlide" Target="/ppt/notesSlides/notesSlide5.xml" Id="Rd6430cc7e2d646b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6884ccd50d64e7c" /><Relationship Type="http://schemas.openxmlformats.org/officeDocument/2006/relationships/notesSlide" Target="/ppt/notesSlides/notesSlide6.xml" Id="Ra6360b9d76e2487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f3333b3d1894e47" /><Relationship Type="http://schemas.openxmlformats.org/officeDocument/2006/relationships/notesSlide" Target="/ppt/notesSlides/notesSlide7.xml" Id="R39076efbcc0c4ad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f6a4df31b60422c" /><Relationship Type="http://schemas.openxmlformats.org/officeDocument/2006/relationships/notesSlide" Target="/ppt/notesSlides/notesSlide8.xml" Id="Rb4fb1c923cf7486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1ca285e4bc24488" /><Relationship Type="http://schemas.openxmlformats.org/officeDocument/2006/relationships/notesSlide" Target="/ppt/notesSlides/notesSlide9.xml" Id="Rda5f0a7d952446a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2b5736cc8944a75" /><Relationship Type="http://schemas.openxmlformats.org/officeDocument/2006/relationships/notesSlide" Target="/ppt/notesSlides/notesSlide10.xml" Id="R47e41f2a5d45487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d3ffa15b28a42ed" /><Relationship Type="http://schemas.openxmlformats.org/officeDocument/2006/relationships/notesSlide" Target="/ppt/notesSlides/notesSlide11.xml" Id="R1bdce1885989492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a33d1bb13a843b1" /><Relationship Type="http://schemas.openxmlformats.org/officeDocument/2006/relationships/notesSlide" Target="/ppt/notesSlides/notesSlide12.xml" Id="R5ed659ef2afd40a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9a2d999435b45e0" /><Relationship Type="http://schemas.openxmlformats.org/officeDocument/2006/relationships/notesSlide" Target="/ppt/notesSlides/notesSlide13.xml" Id="R511c419b2b5046d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e0be6db9daa4af0" /><Relationship Type="http://schemas.openxmlformats.org/officeDocument/2006/relationships/notesSlide" Target="/ppt/notesSlides/notesSlide14.xml" Id="R965a037f4fc04934" /></Relationships>
</file>

<file path=ppt/slides/slide1.xml><?xml version="1.0" encoding="utf-8"?>
<p:sld xmlns:p="http://schemas.openxmlformats.org/presentationml/2006/main">
  <p:cSld>
    <p:bg>
      <p:bgPr>
        <a:solidFill xmlns:a="http://schemas.openxmlformats.org/drawingml/2006/main">
          <a:srgbClr val="173654"/>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d6fb71f7b27c423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D42791C-60BB-4D25-AC11-E2D32600BFEC}"/>
              </a:ext>
            </a:extLst>
          </p:cNvPr>
          <p:cNvSpPr>
            <a:spLocks xmlns:a="http://schemas.openxmlformats.org/drawingml/2006/main" noGrp="1"/>
          </p:cNvSpPr>
          <p:nvPr/>
        </p:nvSpPr>
        <p:spPr>
          <a:xfrm xmlns:a="http://schemas.openxmlformats.org/drawingml/2006/main">
            <a:off x="704850" y="2038350"/>
            <a:ext cx="4953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050" b="1" i="0">
                <a:solidFill>
                  <a:srgbClr val="FFFFFF"/>
                </a:solidFill>
                <a:latin typeface="Arial"/>
                <a:ea typeface="Arial"/>
                <a:cs typeface="Arial"/>
              </a:defRPr>
            </a:pPr>
            <a:r>
              <a:rPr sz="4050" b="1" i="0">
                <a:solidFill>
                  <a:srgbClr val="FFFFFF"/>
                </a:solidFill>
                <a:latin typeface="Arial"/>
                <a:ea typeface="Arial"/>
                <a:cs typeface="Arial"/>
              </a:rPr>
              <a:t>Python Basics</a:t>
            </a:r>
          </a:p>
        </p:txBody>
      </p:sp>
      <p:sp>
        <p:nvSpPr>
          <p:cNvPr id="3" name="">
            <a:extLst xmlns:a="http://schemas.openxmlformats.org/drawingml/2006/main">
              <a:ext uri="{FF2B5EF4-FFF2-40B4-BE49-F238E27FC236}">
                <a16:creationId xmlns:a16="http://schemas.microsoft.com/office/drawing/2014/main" id="{6B7A669B-B4BA-4001-8556-1B002607FA57}"/>
              </a:ext>
            </a:extLst>
          </p:cNvPr>
          <p:cNvSpPr>
            <a:spLocks xmlns:a="http://schemas.openxmlformats.org/drawingml/2006/main" noGrp="1"/>
          </p:cNvSpPr>
          <p:nvPr/>
        </p:nvSpPr>
        <p:spPr>
          <a:xfrm xmlns:a="http://schemas.openxmlformats.org/drawingml/2006/main">
            <a:off x="742950" y="2876550"/>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1" i="0">
                <a:solidFill>
                  <a:srgbClr val="B9DBA8"/>
                </a:solidFill>
                <a:latin typeface="Arial"/>
                <a:ea typeface="Arial"/>
                <a:cs typeface="Arial"/>
              </a:defRPr>
            </a:pPr>
            <a:r>
              <a:rPr sz="2250" b="1" i="0">
                <a:solidFill>
                  <a:srgbClr val="B9DBA8"/>
                </a:solidFill>
                <a:latin typeface="Arial"/>
                <a:ea typeface="Arial"/>
                <a:cs typeface="Arial"/>
              </a:rPr>
              <a:t>Week 1</a:t>
            </a:r>
          </a:p>
        </p:txBody>
      </p:sp>
      <p:sp>
        <p:nvSpPr>
          <p:cNvPr id="4" name="">
            <a:extLst xmlns:a="http://schemas.openxmlformats.org/drawingml/2006/main">
              <a:ext uri="{FF2B5EF4-FFF2-40B4-BE49-F238E27FC236}">
                <a16:creationId xmlns:a16="http://schemas.microsoft.com/office/drawing/2014/main" id="{82E9815D-40CE-45B5-9FC0-E7CED99DD8E1}"/>
              </a:ext>
            </a:extLst>
          </p:cNvPr>
          <p:cNvSpPr>
            <a:spLocks xmlns:a="http://schemas.openxmlformats.org/drawingml/2006/main" noGrp="1"/>
          </p:cNvSpPr>
          <p:nvPr/>
        </p:nvSpPr>
        <p:spPr>
          <a:xfrm xmlns:a="http://schemas.openxmlformats.org/drawingml/2006/main">
            <a:off x="742950" y="348615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i="0">
                <a:solidFill>
                  <a:srgbClr val="FFFFFF"/>
                </a:solidFill>
                <a:latin typeface="Arial"/>
                <a:ea typeface="Arial"/>
                <a:cs typeface="Arial"/>
              </a:defRPr>
            </a:pPr>
            <a:r>
              <a:rPr sz="1650" b="0" i="0">
                <a:solidFill>
                  <a:srgbClr val="FFFFFF"/>
                </a:solidFill>
                <a:latin typeface="Arial"/>
                <a:ea typeface="Arial"/>
                <a:cs typeface="Arial"/>
              </a:rPr>
              <a:t>Project Syncere Computer Science 2027</a:t>
            </a:r>
          </a:p>
        </p:txBody>
      </p:sp>
    </p:spTree>
    <p:extLst>
      <p:ext uri="{BB962C8B-B14F-4D97-AF65-F5344CB8AC3E}">
        <p14:creationId xmlns:p14="http://schemas.microsoft.com/office/powerpoint/2010/main" val="184537787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9436524-71C7-4240-99F4-146BCFDDA41B}"/>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00" b="1" i="0">
                <a:solidFill>
                  <a:srgbClr val="173654"/>
                </a:solidFill>
                <a:latin typeface="Arial"/>
                <a:ea typeface="Arial"/>
                <a:cs typeface="Arial"/>
              </a:defRPr>
            </a:pPr>
            <a:r>
              <a:rPr sz="3000" b="1" i="0">
                <a:solidFill>
                  <a:srgbClr val="173654"/>
                </a:solidFill>
                <a:latin typeface="Arial"/>
                <a:ea typeface="Arial"/>
                <a:cs typeface="Arial"/>
              </a:rPr>
              <a:t>Today’s schedule</a:t>
            </a:r>
          </a:p>
        </p:txBody>
      </p:sp>
      <p:sp>
        <p:nvSpPr>
          <p:cNvPr id="2" name="">
            <a:extLst xmlns:a="http://schemas.openxmlformats.org/drawingml/2006/main">
              <a:ext uri="{FF2B5EF4-FFF2-40B4-BE49-F238E27FC236}">
                <a16:creationId xmlns:a16="http://schemas.microsoft.com/office/drawing/2014/main" id="{44775D21-0517-4557-98FB-10949333A095}"/>
              </a:ext>
            </a:extLst>
          </p:cNvPr>
          <p:cNvSpPr>
            <a:spLocks xmlns:a="http://schemas.openxmlformats.org/drawingml/2006/main" noGrp="1"/>
          </p:cNvSpPr>
          <p:nvPr/>
        </p:nvSpPr>
        <p:spPr>
          <a:xfrm xmlns:a="http://schemas.openxmlformats.org/drawingml/2006/main">
            <a:off x="704850" y="10096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i="0">
                <a:solidFill>
                  <a:srgbClr val="5D6B78"/>
                </a:solidFill>
                <a:latin typeface="Arial"/>
                <a:ea typeface="Arial"/>
                <a:cs typeface="Arial"/>
              </a:defRPr>
            </a:pPr>
            <a:r>
              <a:rPr sz="1575" b="0" i="0">
                <a:solidFill>
                  <a:srgbClr val="5D6B78"/>
                </a:solidFill>
                <a:latin typeface="Arial"/>
                <a:ea typeface="Arial"/>
                <a:cs typeface="Arial"/>
              </a:rPr>
              <a:t>Saturday, 9:00 AM-1:00 PM</a:t>
            </a:r>
          </a:p>
        </p:txBody>
      </p:sp>
      <p:sp>
        <p:nvSpPr>
          <p:cNvPr id="3" name="">
            <a:extLst xmlns:a="http://schemas.openxmlformats.org/drawingml/2006/main">
              <a:ext uri="{FF2B5EF4-FFF2-40B4-BE49-F238E27FC236}">
                <a16:creationId xmlns:a16="http://schemas.microsoft.com/office/drawing/2014/main" id="{81D2609F-826F-4A53-B15F-37A9C46BFF01}"/>
              </a:ext>
            </a:extLst>
          </p:cNvPr>
          <p:cNvSpPr>
            <a:spLocks xmlns:a="http://schemas.openxmlformats.org/drawingml/2006/main" noGrp="1"/>
          </p:cNvSpPr>
          <p:nvPr/>
        </p:nvSpPr>
        <p:spPr>
          <a:xfrm xmlns:a="http://schemas.openxmlformats.org/drawingml/2006/main">
            <a:off x="914400" y="15049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i="0">
                <a:solidFill>
                  <a:srgbClr val="DF6765"/>
                </a:solidFill>
                <a:latin typeface="Arial"/>
                <a:ea typeface="Arial"/>
                <a:cs typeface="Arial"/>
              </a:defRPr>
            </a:pPr>
            <a:r>
              <a:rPr sz="1800" b="1" i="0">
                <a:solidFill>
                  <a:srgbClr val="DF6765"/>
                </a:solidFill>
                <a:latin typeface="Arial"/>
                <a:ea typeface="Arial"/>
                <a:cs typeface="Arial"/>
              </a:rPr>
              <a:t>9:00</a:t>
            </a:r>
          </a:p>
        </p:txBody>
      </p:sp>
      <p:sp>
        <p:nvSpPr>
          <p:cNvPr id="4" name="">
            <a:extLst xmlns:a="http://schemas.openxmlformats.org/drawingml/2006/main">
              <a:ext uri="{FF2B5EF4-FFF2-40B4-BE49-F238E27FC236}">
                <a16:creationId xmlns:a16="http://schemas.microsoft.com/office/drawing/2014/main" id="{34EBC96E-7E14-47C3-AC35-7071210139E0}"/>
              </a:ext>
            </a:extLst>
          </p:cNvPr>
          <p:cNvSpPr>
            <a:spLocks xmlns:a="http://schemas.openxmlformats.org/drawingml/2006/main" noGrp="1"/>
          </p:cNvSpPr>
          <p:nvPr/>
        </p:nvSpPr>
        <p:spPr>
          <a:xfrm xmlns:a="http://schemas.openxmlformats.org/drawingml/2006/main">
            <a:off x="2895600" y="1504950"/>
            <a:ext cx="800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i="0">
                <a:solidFill>
                  <a:srgbClr val="172433"/>
                </a:solidFill>
                <a:latin typeface="Arial"/>
                <a:ea typeface="Arial"/>
                <a:cs typeface="Arial"/>
              </a:defRPr>
            </a:pPr>
            <a:r>
              <a:rPr sz="1800" b="0" i="0">
                <a:solidFill>
                  <a:srgbClr val="172433"/>
                </a:solidFill>
                <a:latin typeface="Arial"/>
                <a:ea typeface="Arial"/>
                <a:cs typeface="Arial"/>
              </a:rPr>
              <a:t>Administrative tasks</a:t>
            </a:r>
          </a:p>
        </p:txBody>
      </p:sp>
      <p:sp>
        <p:nvSpPr>
          <p:cNvPr id="5" name="">
            <a:extLst xmlns:a="http://schemas.openxmlformats.org/drawingml/2006/main">
              <a:ext uri="{FF2B5EF4-FFF2-40B4-BE49-F238E27FC236}">
                <a16:creationId xmlns:a16="http://schemas.microsoft.com/office/drawing/2014/main" id="{19AB4111-435C-4C83-9D6A-7A05D5105742}"/>
              </a:ext>
            </a:extLst>
          </p:cNvPr>
          <p:cNvSpPr>
            <a:spLocks xmlns:a="http://schemas.openxmlformats.org/drawingml/2006/main" noGrp="1"/>
          </p:cNvSpPr>
          <p:nvPr/>
        </p:nvSpPr>
        <p:spPr>
          <a:xfrm xmlns:a="http://schemas.openxmlformats.org/drawingml/2006/main">
            <a:off x="914400" y="206692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i="0">
                <a:solidFill>
                  <a:srgbClr val="173654"/>
                </a:solidFill>
                <a:latin typeface="Arial"/>
                <a:ea typeface="Arial"/>
                <a:cs typeface="Arial"/>
              </a:defRPr>
            </a:pPr>
            <a:r>
              <a:rPr sz="1800" b="1" i="0">
                <a:solidFill>
                  <a:srgbClr val="173654"/>
                </a:solidFill>
                <a:latin typeface="Arial"/>
                <a:ea typeface="Arial"/>
                <a:cs typeface="Arial"/>
              </a:rPr>
              <a:t>9:30</a:t>
            </a:r>
          </a:p>
        </p:txBody>
      </p:sp>
      <p:sp>
        <p:nvSpPr>
          <p:cNvPr id="6" name="">
            <a:extLst xmlns:a="http://schemas.openxmlformats.org/drawingml/2006/main">
              <a:ext uri="{FF2B5EF4-FFF2-40B4-BE49-F238E27FC236}">
                <a16:creationId xmlns:a16="http://schemas.microsoft.com/office/drawing/2014/main" id="{56CBEDFB-0753-42E5-AE79-FA9C4C131546}"/>
              </a:ext>
            </a:extLst>
          </p:cNvPr>
          <p:cNvSpPr>
            <a:spLocks xmlns:a="http://schemas.openxmlformats.org/drawingml/2006/main" noGrp="1"/>
          </p:cNvSpPr>
          <p:nvPr/>
        </p:nvSpPr>
        <p:spPr>
          <a:xfrm xmlns:a="http://schemas.openxmlformats.org/drawingml/2006/main">
            <a:off x="2895600" y="2066925"/>
            <a:ext cx="800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i="0">
                <a:solidFill>
                  <a:srgbClr val="172433"/>
                </a:solidFill>
                <a:latin typeface="Arial"/>
                <a:ea typeface="Arial"/>
                <a:cs typeface="Arial"/>
              </a:defRPr>
            </a:pPr>
            <a:r>
              <a:rPr sz="1800" b="0" i="0">
                <a:solidFill>
                  <a:srgbClr val="172433"/>
                </a:solidFill>
                <a:latin typeface="Arial"/>
                <a:ea typeface="Arial"/>
                <a:cs typeface="Arial"/>
              </a:rPr>
              <a:t>Welcome, icebreaker, and objectives</a:t>
            </a:r>
          </a:p>
        </p:txBody>
      </p:sp>
      <p:sp>
        <p:nvSpPr>
          <p:cNvPr id="7" name="">
            <a:extLst xmlns:a="http://schemas.openxmlformats.org/drawingml/2006/main">
              <a:ext uri="{FF2B5EF4-FFF2-40B4-BE49-F238E27FC236}">
                <a16:creationId xmlns:a16="http://schemas.microsoft.com/office/drawing/2014/main" id="{951FB51C-9B8F-441E-A008-FBFFA28F3655}"/>
              </a:ext>
            </a:extLst>
          </p:cNvPr>
          <p:cNvSpPr>
            <a:spLocks xmlns:a="http://schemas.openxmlformats.org/drawingml/2006/main" noGrp="1"/>
          </p:cNvSpPr>
          <p:nvPr/>
        </p:nvSpPr>
        <p:spPr>
          <a:xfrm xmlns:a="http://schemas.openxmlformats.org/drawingml/2006/main">
            <a:off x="914400" y="262890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i="0">
                <a:solidFill>
                  <a:srgbClr val="5F9F4B"/>
                </a:solidFill>
                <a:latin typeface="Arial"/>
                <a:ea typeface="Arial"/>
                <a:cs typeface="Arial"/>
              </a:defRPr>
            </a:pPr>
            <a:r>
              <a:rPr sz="1800" b="1" i="0">
                <a:solidFill>
                  <a:srgbClr val="5F9F4B"/>
                </a:solidFill>
                <a:latin typeface="Arial"/>
                <a:ea typeface="Arial"/>
                <a:cs typeface="Arial"/>
              </a:rPr>
              <a:t>9:50</a:t>
            </a:r>
          </a:p>
        </p:txBody>
      </p:sp>
      <p:sp>
        <p:nvSpPr>
          <p:cNvPr id="8" name="">
            <a:extLst xmlns:a="http://schemas.openxmlformats.org/drawingml/2006/main">
              <a:ext uri="{FF2B5EF4-FFF2-40B4-BE49-F238E27FC236}">
                <a16:creationId xmlns:a16="http://schemas.microsoft.com/office/drawing/2014/main" id="{288023D1-592B-4298-B1BF-7A1B5B55FE8E}"/>
              </a:ext>
            </a:extLst>
          </p:cNvPr>
          <p:cNvSpPr>
            <a:spLocks xmlns:a="http://schemas.openxmlformats.org/drawingml/2006/main" noGrp="1"/>
          </p:cNvSpPr>
          <p:nvPr/>
        </p:nvSpPr>
        <p:spPr>
          <a:xfrm xmlns:a="http://schemas.openxmlformats.org/drawingml/2006/main">
            <a:off x="2895600" y="2628900"/>
            <a:ext cx="800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i="0">
                <a:solidFill>
                  <a:srgbClr val="172433"/>
                </a:solidFill>
                <a:latin typeface="Arial"/>
                <a:ea typeface="Arial"/>
                <a:cs typeface="Arial"/>
              </a:defRPr>
            </a:pPr>
            <a:r>
              <a:rPr sz="1800" b="0" i="0">
                <a:solidFill>
                  <a:srgbClr val="172433"/>
                </a:solidFill>
                <a:latin typeface="Arial"/>
                <a:ea typeface="Arial"/>
                <a:cs typeface="Arial"/>
              </a:rPr>
              <a:t>Computer science and the first Python program</a:t>
            </a:r>
          </a:p>
        </p:txBody>
      </p:sp>
      <p:sp>
        <p:nvSpPr>
          <p:cNvPr id="9" name="">
            <a:extLst xmlns:a="http://schemas.openxmlformats.org/drawingml/2006/main">
              <a:ext uri="{FF2B5EF4-FFF2-40B4-BE49-F238E27FC236}">
                <a16:creationId xmlns:a16="http://schemas.microsoft.com/office/drawing/2014/main" id="{0CC9B1AA-B642-4A8E-A71D-4BA7CF01E364}"/>
              </a:ext>
            </a:extLst>
          </p:cNvPr>
          <p:cNvSpPr>
            <a:spLocks xmlns:a="http://schemas.openxmlformats.org/drawingml/2006/main" noGrp="1"/>
          </p:cNvSpPr>
          <p:nvPr/>
        </p:nvSpPr>
        <p:spPr>
          <a:xfrm xmlns:a="http://schemas.openxmlformats.org/drawingml/2006/main">
            <a:off x="914400" y="3190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i="0">
                <a:solidFill>
                  <a:srgbClr val="DF6765"/>
                </a:solidFill>
                <a:latin typeface="Arial"/>
                <a:ea typeface="Arial"/>
                <a:cs typeface="Arial"/>
              </a:defRPr>
            </a:pPr>
            <a:r>
              <a:rPr sz="1800" b="1" i="0">
                <a:solidFill>
                  <a:srgbClr val="DF6765"/>
                </a:solidFill>
                <a:latin typeface="Arial"/>
                <a:ea typeface="Arial"/>
                <a:cs typeface="Arial"/>
              </a:rPr>
              <a:t>10:25</a:t>
            </a:r>
          </a:p>
        </p:txBody>
      </p:sp>
      <p:sp>
        <p:nvSpPr>
          <p:cNvPr id="10" name="">
            <a:extLst xmlns:a="http://schemas.openxmlformats.org/drawingml/2006/main">
              <a:ext uri="{FF2B5EF4-FFF2-40B4-BE49-F238E27FC236}">
                <a16:creationId xmlns:a16="http://schemas.microsoft.com/office/drawing/2014/main" id="{5CC09683-86B3-4154-A224-153A62FDB360}"/>
              </a:ext>
            </a:extLst>
          </p:cNvPr>
          <p:cNvSpPr>
            <a:spLocks xmlns:a="http://schemas.openxmlformats.org/drawingml/2006/main" noGrp="1"/>
          </p:cNvSpPr>
          <p:nvPr/>
        </p:nvSpPr>
        <p:spPr>
          <a:xfrm xmlns:a="http://schemas.openxmlformats.org/drawingml/2006/main">
            <a:off x="2895600" y="3190875"/>
            <a:ext cx="800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i="0">
                <a:solidFill>
                  <a:srgbClr val="172433"/>
                </a:solidFill>
                <a:latin typeface="Arial"/>
                <a:ea typeface="Arial"/>
                <a:cs typeface="Arial"/>
              </a:defRPr>
            </a:pPr>
            <a:r>
              <a:rPr sz="1800" b="0" i="0">
                <a:solidFill>
                  <a:srgbClr val="172433"/>
                </a:solidFill>
                <a:latin typeface="Arial"/>
                <a:ea typeface="Arial"/>
                <a:cs typeface="Arial"/>
              </a:rPr>
              <a:t>Break</a:t>
            </a:r>
          </a:p>
        </p:txBody>
      </p:sp>
      <p:sp>
        <p:nvSpPr>
          <p:cNvPr id="11" name="">
            <a:extLst xmlns:a="http://schemas.openxmlformats.org/drawingml/2006/main">
              <a:ext uri="{FF2B5EF4-FFF2-40B4-BE49-F238E27FC236}">
                <a16:creationId xmlns:a16="http://schemas.microsoft.com/office/drawing/2014/main" id="{B998EFFE-BAEF-4278-B1F5-9EB6FAC76585}"/>
              </a:ext>
            </a:extLst>
          </p:cNvPr>
          <p:cNvSpPr>
            <a:spLocks xmlns:a="http://schemas.openxmlformats.org/drawingml/2006/main" noGrp="1"/>
          </p:cNvSpPr>
          <p:nvPr/>
        </p:nvSpPr>
        <p:spPr>
          <a:xfrm xmlns:a="http://schemas.openxmlformats.org/drawingml/2006/main">
            <a:off x="914400" y="37528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i="0">
                <a:solidFill>
                  <a:srgbClr val="3C8994"/>
                </a:solidFill>
                <a:latin typeface="Arial"/>
                <a:ea typeface="Arial"/>
                <a:cs typeface="Arial"/>
              </a:defRPr>
            </a:pPr>
            <a:r>
              <a:rPr sz="1800" b="1" i="0">
                <a:solidFill>
                  <a:srgbClr val="3C8994"/>
                </a:solidFill>
                <a:latin typeface="Arial"/>
                <a:ea typeface="Arial"/>
                <a:cs typeface="Arial"/>
              </a:rPr>
              <a:t>10:35</a:t>
            </a:r>
          </a:p>
        </p:txBody>
      </p:sp>
      <p:sp>
        <p:nvSpPr>
          <p:cNvPr id="12" name="">
            <a:extLst xmlns:a="http://schemas.openxmlformats.org/drawingml/2006/main">
              <a:ext uri="{FF2B5EF4-FFF2-40B4-BE49-F238E27FC236}">
                <a16:creationId xmlns:a16="http://schemas.microsoft.com/office/drawing/2014/main" id="{3DEBB7BF-617A-4FF9-B8E6-D73B31BB69C6}"/>
              </a:ext>
            </a:extLst>
          </p:cNvPr>
          <p:cNvSpPr>
            <a:spLocks xmlns:a="http://schemas.openxmlformats.org/drawingml/2006/main" noGrp="1"/>
          </p:cNvSpPr>
          <p:nvPr/>
        </p:nvSpPr>
        <p:spPr>
          <a:xfrm xmlns:a="http://schemas.openxmlformats.org/drawingml/2006/main">
            <a:off x="2895600" y="3752850"/>
            <a:ext cx="800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i="0">
                <a:solidFill>
                  <a:srgbClr val="172433"/>
                </a:solidFill>
                <a:latin typeface="Arial"/>
                <a:ea typeface="Arial"/>
                <a:cs typeface="Arial"/>
              </a:defRPr>
            </a:pPr>
            <a:r>
              <a:rPr sz="1800" b="0" i="0">
                <a:solidFill>
                  <a:srgbClr val="172433"/>
                </a:solidFill>
                <a:latin typeface="Arial"/>
                <a:ea typeface="Arial"/>
                <a:cs typeface="Arial"/>
              </a:rPr>
              <a:t>Guided Python lab</a:t>
            </a:r>
          </a:p>
        </p:txBody>
      </p:sp>
      <p:sp>
        <p:nvSpPr>
          <p:cNvPr id="13" name="">
            <a:extLst xmlns:a="http://schemas.openxmlformats.org/drawingml/2006/main">
              <a:ext uri="{FF2B5EF4-FFF2-40B4-BE49-F238E27FC236}">
                <a16:creationId xmlns:a16="http://schemas.microsoft.com/office/drawing/2014/main" id="{037E7309-C6BF-43D6-BD5D-7D937E532E38}"/>
              </a:ext>
            </a:extLst>
          </p:cNvPr>
          <p:cNvSpPr>
            <a:spLocks xmlns:a="http://schemas.openxmlformats.org/drawingml/2006/main" noGrp="1"/>
          </p:cNvSpPr>
          <p:nvPr/>
        </p:nvSpPr>
        <p:spPr>
          <a:xfrm xmlns:a="http://schemas.openxmlformats.org/drawingml/2006/main">
            <a:off x="914400" y="431482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i="0">
                <a:solidFill>
                  <a:srgbClr val="DF6765"/>
                </a:solidFill>
                <a:latin typeface="Arial"/>
                <a:ea typeface="Arial"/>
                <a:cs typeface="Arial"/>
              </a:defRPr>
            </a:pPr>
            <a:r>
              <a:rPr sz="1800" b="1" i="0">
                <a:solidFill>
                  <a:srgbClr val="DF6765"/>
                </a:solidFill>
                <a:latin typeface="Arial"/>
                <a:ea typeface="Arial"/>
                <a:cs typeface="Arial"/>
              </a:rPr>
              <a:t>11:20</a:t>
            </a:r>
          </a:p>
        </p:txBody>
      </p:sp>
      <p:sp>
        <p:nvSpPr>
          <p:cNvPr id="14" name="">
            <a:extLst xmlns:a="http://schemas.openxmlformats.org/drawingml/2006/main">
              <a:ext uri="{FF2B5EF4-FFF2-40B4-BE49-F238E27FC236}">
                <a16:creationId xmlns:a16="http://schemas.microsoft.com/office/drawing/2014/main" id="{E753B930-216B-440C-B597-407DD08E2219}"/>
              </a:ext>
            </a:extLst>
          </p:cNvPr>
          <p:cNvSpPr>
            <a:spLocks xmlns:a="http://schemas.openxmlformats.org/drawingml/2006/main" noGrp="1"/>
          </p:cNvSpPr>
          <p:nvPr/>
        </p:nvSpPr>
        <p:spPr>
          <a:xfrm xmlns:a="http://schemas.openxmlformats.org/drawingml/2006/main">
            <a:off x="2895600" y="4314825"/>
            <a:ext cx="800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i="0">
                <a:solidFill>
                  <a:srgbClr val="172433"/>
                </a:solidFill>
                <a:latin typeface="Arial"/>
                <a:ea typeface="Arial"/>
                <a:cs typeface="Arial"/>
              </a:defRPr>
            </a:pPr>
            <a:r>
              <a:rPr sz="1800" b="0" i="0">
                <a:solidFill>
                  <a:srgbClr val="172433"/>
                </a:solidFill>
                <a:latin typeface="Arial"/>
                <a:ea typeface="Arial"/>
                <a:cs typeface="Arial"/>
              </a:rPr>
              <a:t>Break</a:t>
            </a:r>
          </a:p>
        </p:txBody>
      </p:sp>
      <p:sp>
        <p:nvSpPr>
          <p:cNvPr id="15" name="">
            <a:extLst xmlns:a="http://schemas.openxmlformats.org/drawingml/2006/main">
              <a:ext uri="{FF2B5EF4-FFF2-40B4-BE49-F238E27FC236}">
                <a16:creationId xmlns:a16="http://schemas.microsoft.com/office/drawing/2014/main" id="{033D2D6D-B979-4D25-B61B-6F12EA5A63F0}"/>
              </a:ext>
            </a:extLst>
          </p:cNvPr>
          <p:cNvSpPr>
            <a:spLocks xmlns:a="http://schemas.openxmlformats.org/drawingml/2006/main" noGrp="1"/>
          </p:cNvSpPr>
          <p:nvPr/>
        </p:nvSpPr>
        <p:spPr>
          <a:xfrm xmlns:a="http://schemas.openxmlformats.org/drawingml/2006/main">
            <a:off x="914400" y="487680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i="0">
                <a:solidFill>
                  <a:srgbClr val="2F6F89"/>
                </a:solidFill>
                <a:latin typeface="Arial"/>
                <a:ea typeface="Arial"/>
                <a:cs typeface="Arial"/>
              </a:defRPr>
            </a:pPr>
            <a:r>
              <a:rPr sz="1800" b="1" i="0">
                <a:solidFill>
                  <a:srgbClr val="2F6F89"/>
                </a:solidFill>
                <a:latin typeface="Arial"/>
                <a:ea typeface="Arial"/>
                <a:cs typeface="Arial"/>
              </a:rPr>
              <a:t>11:30</a:t>
            </a:r>
          </a:p>
        </p:txBody>
      </p:sp>
      <p:sp>
        <p:nvSpPr>
          <p:cNvPr id="16" name="">
            <a:extLst xmlns:a="http://schemas.openxmlformats.org/drawingml/2006/main">
              <a:ext uri="{FF2B5EF4-FFF2-40B4-BE49-F238E27FC236}">
                <a16:creationId xmlns:a16="http://schemas.microsoft.com/office/drawing/2014/main" id="{CC14D0C0-D601-454A-A726-5E122A901331}"/>
              </a:ext>
            </a:extLst>
          </p:cNvPr>
          <p:cNvSpPr>
            <a:spLocks xmlns:a="http://schemas.openxmlformats.org/drawingml/2006/main" noGrp="1"/>
          </p:cNvSpPr>
          <p:nvPr/>
        </p:nvSpPr>
        <p:spPr>
          <a:xfrm xmlns:a="http://schemas.openxmlformats.org/drawingml/2006/main">
            <a:off x="2895600" y="4876800"/>
            <a:ext cx="800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i="0">
                <a:solidFill>
                  <a:srgbClr val="172433"/>
                </a:solidFill>
                <a:latin typeface="Arial"/>
                <a:ea typeface="Arial"/>
                <a:cs typeface="Arial"/>
              </a:defRPr>
            </a:pPr>
            <a:r>
              <a:rPr sz="1800" b="0" i="0">
                <a:solidFill>
                  <a:srgbClr val="172433"/>
                </a:solidFill>
                <a:latin typeface="Arial"/>
                <a:ea typeface="Arial"/>
                <a:cs typeface="Arial"/>
              </a:rPr>
              <a:t>Student introduction project</a:t>
            </a:r>
          </a:p>
        </p:txBody>
      </p:sp>
      <p:sp>
        <p:nvSpPr>
          <p:cNvPr id="17" name="">
            <a:extLst xmlns:a="http://schemas.openxmlformats.org/drawingml/2006/main">
              <a:ext uri="{FF2B5EF4-FFF2-40B4-BE49-F238E27FC236}">
                <a16:creationId xmlns:a16="http://schemas.microsoft.com/office/drawing/2014/main" id="{65D08479-6562-48D9-92BF-70C6CB83F002}"/>
              </a:ext>
            </a:extLst>
          </p:cNvPr>
          <p:cNvSpPr>
            <a:spLocks xmlns:a="http://schemas.openxmlformats.org/drawingml/2006/main" noGrp="1"/>
          </p:cNvSpPr>
          <p:nvPr/>
        </p:nvSpPr>
        <p:spPr>
          <a:xfrm xmlns:a="http://schemas.openxmlformats.org/drawingml/2006/main">
            <a:off x="914400" y="54387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i="0">
                <a:solidFill>
                  <a:srgbClr val="5F9F4B"/>
                </a:solidFill>
                <a:latin typeface="Arial"/>
                <a:ea typeface="Arial"/>
                <a:cs typeface="Arial"/>
              </a:defRPr>
            </a:pPr>
            <a:r>
              <a:rPr sz="1800" b="1" i="0">
                <a:solidFill>
                  <a:srgbClr val="5F9F4B"/>
                </a:solidFill>
                <a:latin typeface="Arial"/>
                <a:ea typeface="Arial"/>
                <a:cs typeface="Arial"/>
              </a:rPr>
              <a:t>12:20</a:t>
            </a:r>
          </a:p>
        </p:txBody>
      </p:sp>
      <p:sp>
        <p:nvSpPr>
          <p:cNvPr id="18" name="">
            <a:extLst xmlns:a="http://schemas.openxmlformats.org/drawingml/2006/main">
              <a:ext uri="{FF2B5EF4-FFF2-40B4-BE49-F238E27FC236}">
                <a16:creationId xmlns:a16="http://schemas.microsoft.com/office/drawing/2014/main" id="{42875DF3-FA98-47BC-B107-FA979EBDA850}"/>
              </a:ext>
            </a:extLst>
          </p:cNvPr>
          <p:cNvSpPr>
            <a:spLocks xmlns:a="http://schemas.openxmlformats.org/drawingml/2006/main" noGrp="1"/>
          </p:cNvSpPr>
          <p:nvPr/>
        </p:nvSpPr>
        <p:spPr>
          <a:xfrm xmlns:a="http://schemas.openxmlformats.org/drawingml/2006/main">
            <a:off x="2895600" y="5438775"/>
            <a:ext cx="800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i="0">
                <a:solidFill>
                  <a:srgbClr val="172433"/>
                </a:solidFill>
                <a:latin typeface="Arial"/>
                <a:ea typeface="Arial"/>
                <a:cs typeface="Arial"/>
              </a:defRPr>
            </a:pPr>
            <a:r>
              <a:rPr sz="1800" b="0" i="0">
                <a:solidFill>
                  <a:srgbClr val="172433"/>
                </a:solidFill>
                <a:latin typeface="Arial"/>
                <a:ea typeface="Arial"/>
                <a:cs typeface="Arial"/>
              </a:rPr>
              <a:t>Share, debug, and reflect</a:t>
            </a:r>
          </a:p>
        </p:txBody>
      </p:sp>
      <p:sp>
        <p:nvSpPr>
          <p:cNvPr id="19" name="">
            <a:extLst xmlns:a="http://schemas.openxmlformats.org/drawingml/2006/main">
              <a:ext uri="{FF2B5EF4-FFF2-40B4-BE49-F238E27FC236}">
                <a16:creationId xmlns:a16="http://schemas.microsoft.com/office/drawing/2014/main" id="{24180F9E-77F5-43DA-AB1A-0C4E7F2EB38D}"/>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i="0">
                <a:solidFill>
                  <a:srgbClr val="5D6B78"/>
                </a:solidFill>
                <a:latin typeface="Arial"/>
                <a:ea typeface="Arial"/>
                <a:cs typeface="Arial"/>
              </a:defRPr>
            </a:pPr>
            <a:r>
              <a:rPr sz="1200" b="0" i="0">
                <a:solidFill>
                  <a:srgbClr val="5D6B78"/>
                </a:solidFill>
                <a:latin typeface="Arial"/>
                <a:ea typeface="Arial"/>
                <a:cs typeface="Arial"/>
              </a:rPr>
              <a:t>Week 1 | Python Basics</a:t>
            </a:r>
          </a:p>
        </p:txBody>
      </p:sp>
    </p:spTree>
    <p:extLst>
      <p:ext uri="{BB962C8B-B14F-4D97-AF65-F5344CB8AC3E}">
        <p14:creationId xmlns:p14="http://schemas.microsoft.com/office/powerpoint/2010/main" val="1735339675"/>
      </p:ext>
    </p:extLst>
  </p:cSld>
</p:sld>
</file>

<file path=ppt/slides/slide3.xml><?xml version="1.0" encoding="utf-8"?>
<p:sld xmlns:p="http://schemas.openxmlformats.org/presentationml/2006/main">
  <p:cSld>
    <p:bg>
      <p:bgPr>
        <a:solidFill xmlns:a="http://schemas.openxmlformats.org/drawingml/2006/main">
          <a:srgbClr val="FBEC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EE31590-E808-4EB3-9E33-7CBF406F65E5}"/>
              </a:ext>
            </a:extLst>
          </p:cNvPr>
          <p:cNvSpPr>
            <a:spLocks xmlns:a="http://schemas.openxmlformats.org/drawingml/2006/main" noGrp="1"/>
          </p:cNvSpPr>
          <p:nvPr/>
        </p:nvSpPr>
        <p:spPr>
          <a:xfrm xmlns:a="http://schemas.openxmlformats.org/drawingml/2006/main">
            <a:off x="685800" y="933450"/>
            <a:ext cx="400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800" b="1" i="0">
                <a:solidFill>
                  <a:srgbClr val="DF6765"/>
                </a:solidFill>
                <a:latin typeface="Arial"/>
                <a:ea typeface="Arial"/>
                <a:cs typeface="Arial"/>
              </a:defRPr>
            </a:pPr>
            <a:r>
              <a:rPr sz="4800" b="1" i="0">
                <a:solidFill>
                  <a:srgbClr val="DF6765"/>
                </a:solidFill>
                <a:latin typeface="Arial"/>
                <a:ea typeface="Arial"/>
                <a:cs typeface="Arial"/>
              </a:rPr>
              <a:t>30 minutes</a:t>
            </a:r>
          </a:p>
        </p:txBody>
      </p:sp>
      <p:sp>
        <p:nvSpPr>
          <p:cNvPr id="2" name="">
            <a:extLst xmlns:a="http://schemas.openxmlformats.org/drawingml/2006/main">
              <a:ext uri="{FF2B5EF4-FFF2-40B4-BE49-F238E27FC236}">
                <a16:creationId xmlns:a16="http://schemas.microsoft.com/office/drawing/2014/main" id="{7058C2A5-2F20-4236-BB8A-F57E93E1EFB6}"/>
              </a:ext>
            </a:extLst>
          </p:cNvPr>
          <p:cNvSpPr>
            <a:spLocks xmlns:a="http://schemas.openxmlformats.org/drawingml/2006/main" noGrp="1"/>
          </p:cNvSpPr>
          <p:nvPr/>
        </p:nvSpPr>
        <p:spPr>
          <a:xfrm xmlns:a="http://schemas.openxmlformats.org/drawingml/2006/main">
            <a:off x="704850" y="1885950"/>
            <a:ext cx="476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i="0">
                <a:solidFill>
                  <a:srgbClr val="173654"/>
                </a:solidFill>
                <a:latin typeface="Arial"/>
                <a:ea typeface="Arial"/>
                <a:cs typeface="Arial"/>
              </a:defRPr>
            </a:pPr>
            <a:r>
              <a:rPr sz="2850" b="1" i="0">
                <a:solidFill>
                  <a:srgbClr val="173654"/>
                </a:solidFill>
                <a:latin typeface="Arial"/>
                <a:ea typeface="Arial"/>
                <a:cs typeface="Arial"/>
              </a:rPr>
              <a:t>Administrative setup</a:t>
            </a:r>
          </a:p>
        </p:txBody>
      </p:sp>
      <p:sp>
        <p:nvSpPr>
          <p:cNvPr id="3" name="">
            <a:extLst xmlns:a="http://schemas.openxmlformats.org/drawingml/2006/main">
              <a:ext uri="{FF2B5EF4-FFF2-40B4-BE49-F238E27FC236}">
                <a16:creationId xmlns:a16="http://schemas.microsoft.com/office/drawing/2014/main" id="{A86FA1F5-2C4B-438A-BFA3-C34BDFF250A5}"/>
              </a:ext>
            </a:extLst>
          </p:cNvPr>
          <p:cNvSpPr>
            <a:spLocks xmlns:a="http://schemas.openxmlformats.org/drawingml/2006/main" noGrp="1"/>
          </p:cNvSpPr>
          <p:nvPr/>
        </p:nvSpPr>
        <p:spPr>
          <a:xfrm xmlns:a="http://schemas.openxmlformats.org/drawingml/2006/main">
            <a:off x="5943600" y="1123950"/>
            <a:ext cx="5429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27000">
              <a:spcAft>
                <a:spcPts val="1500"/>
              </a:spcAft>
              <a:buChar char="•"/>
              <a:defRPr sz="2100">
                <a:solidFill>
                  <a:srgbClr val="172433"/>
                </a:solidFill>
                <a:latin typeface="Arial"/>
                <a:ea typeface="Arial"/>
                <a:cs typeface="Arial"/>
              </a:defRPr>
            </a:pPr>
            <a:r>
              <a:rPr sz="2100">
                <a:solidFill>
                  <a:srgbClr val="172433"/>
                </a:solidFill>
                <a:latin typeface="Arial"/>
                <a:ea typeface="Arial"/>
                <a:cs typeface="Arial"/>
              </a:rPr>
              <a:t>Attendance and required forms</a:t>
            </a:r>
          </a:p>
          <a:p xmlns:a="http://schemas.openxmlformats.org/drawingml/2006/main">
            <a:pPr marL="254000" indent="-127000">
              <a:spcAft>
                <a:spcPts val="1500"/>
              </a:spcAft>
              <a:buChar char="•"/>
              <a:defRPr sz="2100">
                <a:solidFill>
                  <a:srgbClr val="172433"/>
                </a:solidFill>
                <a:latin typeface="Arial"/>
                <a:ea typeface="Arial"/>
                <a:cs typeface="Arial"/>
              </a:defRPr>
            </a:pPr>
            <a:r>
              <a:rPr sz="2100">
                <a:solidFill>
                  <a:srgbClr val="172433"/>
                </a:solidFill>
                <a:latin typeface="Arial"/>
                <a:ea typeface="Arial"/>
                <a:cs typeface="Arial"/>
              </a:rPr>
              <a:t>Student accounts and GitHub access</a:t>
            </a:r>
          </a:p>
          <a:p xmlns:a="http://schemas.openxmlformats.org/drawingml/2006/main">
            <a:pPr marL="254000" indent="-127000">
              <a:spcAft>
                <a:spcPts val="1500"/>
              </a:spcAft>
              <a:buChar char="•"/>
              <a:defRPr sz="2100">
                <a:solidFill>
                  <a:srgbClr val="172433"/>
                </a:solidFill>
                <a:latin typeface="Arial"/>
                <a:ea typeface="Arial"/>
                <a:cs typeface="Arial"/>
              </a:defRPr>
            </a:pPr>
            <a:r>
              <a:rPr sz="2100">
                <a:solidFill>
                  <a:srgbClr val="172433"/>
                </a:solidFill>
                <a:latin typeface="Arial"/>
                <a:ea typeface="Arial"/>
                <a:cs typeface="Arial"/>
              </a:rPr>
              <a:t>Device distribution and charging</a:t>
            </a:r>
          </a:p>
          <a:p xmlns:a="http://schemas.openxmlformats.org/drawingml/2006/main">
            <a:pPr marL="254000" indent="-127000">
              <a:spcAft>
                <a:spcPts val="1500"/>
              </a:spcAft>
              <a:buChar char="•"/>
              <a:defRPr sz="2100">
                <a:solidFill>
                  <a:srgbClr val="172433"/>
                </a:solidFill>
                <a:latin typeface="Arial"/>
                <a:ea typeface="Arial"/>
                <a:cs typeface="Arial"/>
              </a:defRPr>
            </a:pPr>
            <a:r>
              <a:rPr sz="2100">
                <a:solidFill>
                  <a:srgbClr val="172433"/>
                </a:solidFill>
                <a:latin typeface="Arial"/>
                <a:ea typeface="Arial"/>
                <a:cs typeface="Arial"/>
              </a:rPr>
              <a:t>Internet, accessibility, and login support</a:t>
            </a:r>
          </a:p>
        </p:txBody>
      </p:sp>
      <p:sp>
        <p:nvSpPr>
          <p:cNvPr id="4" name="">
            <a:extLst xmlns:a="http://schemas.openxmlformats.org/drawingml/2006/main">
              <a:ext uri="{FF2B5EF4-FFF2-40B4-BE49-F238E27FC236}">
                <a16:creationId xmlns:a16="http://schemas.microsoft.com/office/drawing/2014/main" id="{AC1D3097-49AB-455C-9FC4-68E7F2F395E8}"/>
              </a:ext>
            </a:extLst>
          </p:cNvPr>
          <p:cNvSpPr>
            <a:spLocks xmlns:a="http://schemas.openxmlformats.org/drawingml/2006/main" noGrp="1"/>
          </p:cNvSpPr>
          <p:nvPr/>
        </p:nvSpPr>
        <p:spPr>
          <a:xfrm xmlns:a="http://schemas.openxmlformats.org/drawingml/2006/main">
            <a:off x="704850" y="5124450"/>
            <a:ext cx="10382250" cy="76200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i="0">
                <a:solidFill>
                  <a:srgbClr val="172433"/>
                </a:solidFill>
                <a:latin typeface="Arial"/>
                <a:ea typeface="Arial"/>
                <a:cs typeface="Arial"/>
              </a:defRPr>
            </a:pPr>
            <a:r>
              <a:rPr sz="1875" b="0" i="0">
                <a:solidFill>
                  <a:srgbClr val="172433"/>
                </a:solidFill>
                <a:latin typeface="Arial"/>
                <a:ea typeface="Arial"/>
                <a:cs typeface="Arial"/>
              </a:rPr>
              <a:t>Keep your device open when you finish. Help a neighbor only after your own setup works.</a:t>
            </a:r>
          </a:p>
        </p:txBody>
      </p:sp>
    </p:spTree>
    <p:extLst>
      <p:ext uri="{BB962C8B-B14F-4D97-AF65-F5344CB8AC3E}">
        <p14:creationId xmlns:p14="http://schemas.microsoft.com/office/powerpoint/2010/main" val="1975247357"/>
      </p:ext>
    </p:extLst>
  </p:cSld>
</p:sld>
</file>

<file path=ppt/slides/slide4.xml><?xml version="1.0" encoding="utf-8"?>
<p:sld xmlns:p="http://schemas.openxmlformats.org/presentationml/2006/main">
  <p:cSld>
    <p:bg>
      <p:bgPr>
        <a:solidFill xmlns:a="http://schemas.openxmlformats.org/drawingml/2006/main">
          <a:srgbClr val="EAF2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028106F-8ACF-4E0A-98FC-0BB95EEC1F28}"/>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00" b="1" i="0">
                <a:solidFill>
                  <a:srgbClr val="173654"/>
                </a:solidFill>
                <a:latin typeface="Arial"/>
                <a:ea typeface="Arial"/>
                <a:cs typeface="Arial"/>
              </a:defRPr>
            </a:pPr>
            <a:r>
              <a:rPr sz="3000" b="1" i="0">
                <a:solidFill>
                  <a:srgbClr val="173654"/>
                </a:solidFill>
                <a:latin typeface="Arial"/>
                <a:ea typeface="Arial"/>
                <a:cs typeface="Arial"/>
              </a:rPr>
              <a:t>Program the Human</a:t>
            </a:r>
          </a:p>
        </p:txBody>
      </p:sp>
      <p:sp>
        <p:nvSpPr>
          <p:cNvPr id="2" name="">
            <a:extLst xmlns:a="http://schemas.openxmlformats.org/drawingml/2006/main">
              <a:ext uri="{FF2B5EF4-FFF2-40B4-BE49-F238E27FC236}">
                <a16:creationId xmlns:a16="http://schemas.microsoft.com/office/drawing/2014/main" id="{42E2DDAB-4396-4E52-904F-775E14B14384}"/>
              </a:ext>
            </a:extLst>
          </p:cNvPr>
          <p:cNvSpPr>
            <a:spLocks xmlns:a="http://schemas.openxmlformats.org/drawingml/2006/main" noGrp="1"/>
          </p:cNvSpPr>
          <p:nvPr/>
        </p:nvSpPr>
        <p:spPr>
          <a:xfrm xmlns:a="http://schemas.openxmlformats.org/drawingml/2006/main">
            <a:off x="704850" y="10096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i="0">
                <a:solidFill>
                  <a:srgbClr val="5D6B78"/>
                </a:solidFill>
                <a:latin typeface="Arial"/>
                <a:ea typeface="Arial"/>
                <a:cs typeface="Arial"/>
              </a:defRPr>
            </a:pPr>
            <a:r>
              <a:rPr sz="1575" b="0" i="0">
                <a:solidFill>
                  <a:srgbClr val="5D6B78"/>
                </a:solidFill>
                <a:latin typeface="Arial"/>
                <a:ea typeface="Arial"/>
                <a:cs typeface="Arial"/>
              </a:rPr>
              <a:t>One partner is the programmer. One partner is the computer.</a:t>
            </a:r>
          </a:p>
        </p:txBody>
      </p:sp>
      <p:sp>
        <p:nvSpPr>
          <p:cNvPr id="3" name="">
            <a:extLst xmlns:a="http://schemas.openxmlformats.org/drawingml/2006/main">
              <a:ext uri="{FF2B5EF4-FFF2-40B4-BE49-F238E27FC236}">
                <a16:creationId xmlns:a16="http://schemas.microsoft.com/office/drawing/2014/main" id="{7A7D2BDB-17ED-4CC0-9B22-57329CA6685D}"/>
              </a:ext>
            </a:extLst>
          </p:cNvPr>
          <p:cNvSpPr>
            <a:spLocks xmlns:a="http://schemas.openxmlformats.org/drawingml/2006/main" noGrp="1"/>
          </p:cNvSpPr>
          <p:nvPr/>
        </p:nvSpPr>
        <p:spPr>
          <a:xfrm xmlns:a="http://schemas.openxmlformats.org/drawingml/2006/main">
            <a:off x="876300" y="1790700"/>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i="0">
                <a:solidFill>
                  <a:srgbClr val="DF6765"/>
                </a:solidFill>
                <a:latin typeface="Arial"/>
                <a:ea typeface="Arial"/>
                <a:cs typeface="Arial"/>
              </a:defRPr>
            </a:pPr>
            <a:r>
              <a:rPr sz="3150" b="1" i="0">
                <a:solidFill>
                  <a:srgbClr val="DF6765"/>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18695D0D-2D4A-4826-AEB0-3C14D3605282}"/>
              </a:ext>
            </a:extLst>
          </p:cNvPr>
          <p:cNvSpPr>
            <a:spLocks xmlns:a="http://schemas.openxmlformats.org/drawingml/2006/main" noGrp="1"/>
          </p:cNvSpPr>
          <p:nvPr/>
        </p:nvSpPr>
        <p:spPr>
          <a:xfrm xmlns:a="http://schemas.openxmlformats.org/drawingml/2006/main">
            <a:off x="1809750" y="1790700"/>
            <a:ext cx="885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i="0">
                <a:solidFill>
                  <a:srgbClr val="172433"/>
                </a:solidFill>
                <a:latin typeface="Arial"/>
                <a:ea typeface="Arial"/>
                <a:cs typeface="Arial"/>
              </a:defRPr>
            </a:pPr>
            <a:r>
              <a:rPr sz="2100" b="0" i="0">
                <a:solidFill>
                  <a:srgbClr val="172433"/>
                </a:solidFill>
                <a:latin typeface="Arial"/>
                <a:ea typeface="Arial"/>
                <a:cs typeface="Arial"/>
              </a:rPr>
              <a:t>Choose a simple drawing: a house, face, or robot.</a:t>
            </a:r>
          </a:p>
        </p:txBody>
      </p:sp>
      <p:sp>
        <p:nvSpPr>
          <p:cNvPr id="5" name="">
            <a:extLst xmlns:a="http://schemas.openxmlformats.org/drawingml/2006/main">
              <a:ext uri="{FF2B5EF4-FFF2-40B4-BE49-F238E27FC236}">
                <a16:creationId xmlns:a16="http://schemas.microsoft.com/office/drawing/2014/main" id="{2FF6ACD2-2011-4CBD-B84B-6CB2D591C849}"/>
              </a:ext>
            </a:extLst>
          </p:cNvPr>
          <p:cNvSpPr>
            <a:spLocks xmlns:a="http://schemas.openxmlformats.org/drawingml/2006/main" noGrp="1"/>
          </p:cNvSpPr>
          <p:nvPr/>
        </p:nvSpPr>
        <p:spPr>
          <a:xfrm xmlns:a="http://schemas.openxmlformats.org/drawingml/2006/main">
            <a:off x="876300" y="2647950"/>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i="0">
                <a:solidFill>
                  <a:srgbClr val="5F9F4B"/>
                </a:solidFill>
                <a:latin typeface="Arial"/>
                <a:ea typeface="Arial"/>
                <a:cs typeface="Arial"/>
              </a:defRPr>
            </a:pPr>
            <a:r>
              <a:rPr sz="3150" b="1" i="0">
                <a:solidFill>
                  <a:srgbClr val="5F9F4B"/>
                </a:solidFill>
                <a:latin typeface="Arial"/>
                <a:ea typeface="Arial"/>
                <a:cs typeface="Arial"/>
              </a:rPr>
              <a:t>2</a:t>
            </a:r>
          </a:p>
        </p:txBody>
      </p:sp>
      <p:sp>
        <p:nvSpPr>
          <p:cNvPr id="6" name="">
            <a:extLst xmlns:a="http://schemas.openxmlformats.org/drawingml/2006/main">
              <a:ext uri="{FF2B5EF4-FFF2-40B4-BE49-F238E27FC236}">
                <a16:creationId xmlns:a16="http://schemas.microsoft.com/office/drawing/2014/main" id="{91E26746-EEE9-4434-BAFB-E7101F3FF1A8}"/>
              </a:ext>
            </a:extLst>
          </p:cNvPr>
          <p:cNvSpPr>
            <a:spLocks xmlns:a="http://schemas.openxmlformats.org/drawingml/2006/main" noGrp="1"/>
          </p:cNvSpPr>
          <p:nvPr/>
        </p:nvSpPr>
        <p:spPr>
          <a:xfrm xmlns:a="http://schemas.openxmlformats.org/drawingml/2006/main">
            <a:off x="1809750" y="2647950"/>
            <a:ext cx="885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i="0">
                <a:solidFill>
                  <a:srgbClr val="172433"/>
                </a:solidFill>
                <a:latin typeface="Arial"/>
                <a:ea typeface="Arial"/>
                <a:cs typeface="Arial"/>
              </a:defRPr>
            </a:pPr>
            <a:r>
              <a:rPr sz="2100" b="0" i="0">
                <a:solidFill>
                  <a:srgbClr val="172433"/>
                </a:solidFill>
                <a:latin typeface="Arial"/>
                <a:ea typeface="Arial"/>
                <a:cs typeface="Arial"/>
              </a:rPr>
              <a:t>The programmer gives one exact instruction at a time.</a:t>
            </a:r>
          </a:p>
        </p:txBody>
      </p:sp>
      <p:sp>
        <p:nvSpPr>
          <p:cNvPr id="7" name="">
            <a:extLst xmlns:a="http://schemas.openxmlformats.org/drawingml/2006/main">
              <a:ext uri="{FF2B5EF4-FFF2-40B4-BE49-F238E27FC236}">
                <a16:creationId xmlns:a16="http://schemas.microsoft.com/office/drawing/2014/main" id="{9D3DCEFB-6E79-4DC6-8F29-981D0E99DA79}"/>
              </a:ext>
            </a:extLst>
          </p:cNvPr>
          <p:cNvSpPr>
            <a:spLocks xmlns:a="http://schemas.openxmlformats.org/drawingml/2006/main" noGrp="1"/>
          </p:cNvSpPr>
          <p:nvPr/>
        </p:nvSpPr>
        <p:spPr>
          <a:xfrm xmlns:a="http://schemas.openxmlformats.org/drawingml/2006/main">
            <a:off x="876300" y="3505200"/>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i="0">
                <a:solidFill>
                  <a:srgbClr val="2F6F89"/>
                </a:solidFill>
                <a:latin typeface="Arial"/>
                <a:ea typeface="Arial"/>
                <a:cs typeface="Arial"/>
              </a:defRPr>
            </a:pPr>
            <a:r>
              <a:rPr sz="3150" b="1" i="0">
                <a:solidFill>
                  <a:srgbClr val="2F6F89"/>
                </a:solidFill>
                <a:latin typeface="Arial"/>
                <a:ea typeface="Arial"/>
                <a:cs typeface="Arial"/>
              </a:rPr>
              <a:t>3</a:t>
            </a:r>
          </a:p>
        </p:txBody>
      </p:sp>
      <p:sp>
        <p:nvSpPr>
          <p:cNvPr id="8" name="">
            <a:extLst xmlns:a="http://schemas.openxmlformats.org/drawingml/2006/main">
              <a:ext uri="{FF2B5EF4-FFF2-40B4-BE49-F238E27FC236}">
                <a16:creationId xmlns:a16="http://schemas.microsoft.com/office/drawing/2014/main" id="{37974DB1-DF60-45F7-A127-AE558CC5B9BB}"/>
              </a:ext>
            </a:extLst>
          </p:cNvPr>
          <p:cNvSpPr>
            <a:spLocks xmlns:a="http://schemas.openxmlformats.org/drawingml/2006/main" noGrp="1"/>
          </p:cNvSpPr>
          <p:nvPr/>
        </p:nvSpPr>
        <p:spPr>
          <a:xfrm xmlns:a="http://schemas.openxmlformats.org/drawingml/2006/main">
            <a:off x="1809750" y="3505200"/>
            <a:ext cx="885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i="0">
                <a:solidFill>
                  <a:srgbClr val="172433"/>
                </a:solidFill>
                <a:latin typeface="Arial"/>
                <a:ea typeface="Arial"/>
                <a:cs typeface="Arial"/>
              </a:defRPr>
            </a:pPr>
            <a:r>
              <a:rPr sz="2100" b="0" i="0">
                <a:solidFill>
                  <a:srgbClr val="172433"/>
                </a:solidFill>
                <a:latin typeface="Arial"/>
                <a:ea typeface="Arial"/>
                <a:cs typeface="Arial"/>
              </a:rPr>
              <a:t>The computer follows the instructions literally. No guessing.</a:t>
            </a:r>
          </a:p>
        </p:txBody>
      </p:sp>
      <p:sp>
        <p:nvSpPr>
          <p:cNvPr id="9" name="">
            <a:extLst xmlns:a="http://schemas.openxmlformats.org/drawingml/2006/main">
              <a:ext uri="{FF2B5EF4-FFF2-40B4-BE49-F238E27FC236}">
                <a16:creationId xmlns:a16="http://schemas.microsoft.com/office/drawing/2014/main" id="{1EB7855B-E3C6-438C-A5B3-2BEB6ECF6A7B}"/>
              </a:ext>
            </a:extLst>
          </p:cNvPr>
          <p:cNvSpPr>
            <a:spLocks xmlns:a="http://schemas.openxmlformats.org/drawingml/2006/main" noGrp="1"/>
          </p:cNvSpPr>
          <p:nvPr/>
        </p:nvSpPr>
        <p:spPr>
          <a:xfrm xmlns:a="http://schemas.openxmlformats.org/drawingml/2006/main">
            <a:off x="876300" y="4362450"/>
            <a:ext cx="66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i="0">
                <a:solidFill>
                  <a:srgbClr val="DF6765"/>
                </a:solidFill>
                <a:latin typeface="Arial"/>
                <a:ea typeface="Arial"/>
                <a:cs typeface="Arial"/>
              </a:defRPr>
            </a:pPr>
            <a:r>
              <a:rPr sz="3150" b="1" i="0">
                <a:solidFill>
                  <a:srgbClr val="DF6765"/>
                </a:solidFill>
                <a:latin typeface="Arial"/>
                <a:ea typeface="Arial"/>
                <a:cs typeface="Arial"/>
              </a:rPr>
              <a:t>4</a:t>
            </a:r>
          </a:p>
        </p:txBody>
      </p:sp>
      <p:sp>
        <p:nvSpPr>
          <p:cNvPr id="10" name="">
            <a:extLst xmlns:a="http://schemas.openxmlformats.org/drawingml/2006/main">
              <a:ext uri="{FF2B5EF4-FFF2-40B4-BE49-F238E27FC236}">
                <a16:creationId xmlns:a16="http://schemas.microsoft.com/office/drawing/2014/main" id="{15D0A991-F067-4CE2-B744-5047EE36EC2F}"/>
              </a:ext>
            </a:extLst>
          </p:cNvPr>
          <p:cNvSpPr>
            <a:spLocks xmlns:a="http://schemas.openxmlformats.org/drawingml/2006/main" noGrp="1"/>
          </p:cNvSpPr>
          <p:nvPr/>
        </p:nvSpPr>
        <p:spPr>
          <a:xfrm xmlns:a="http://schemas.openxmlformats.org/drawingml/2006/main">
            <a:off x="1809750" y="4362450"/>
            <a:ext cx="885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i="0">
                <a:solidFill>
                  <a:srgbClr val="172433"/>
                </a:solidFill>
                <a:latin typeface="Arial"/>
                <a:ea typeface="Arial"/>
                <a:cs typeface="Arial"/>
              </a:defRPr>
            </a:pPr>
            <a:r>
              <a:rPr sz="2100" b="0" i="0">
                <a:solidFill>
                  <a:srgbClr val="172433"/>
                </a:solidFill>
                <a:latin typeface="Arial"/>
                <a:ea typeface="Arial"/>
                <a:cs typeface="Arial"/>
              </a:rPr>
              <a:t>Switch roles after six minutes.</a:t>
            </a:r>
          </a:p>
        </p:txBody>
      </p:sp>
      <p:sp>
        <p:nvSpPr>
          <p:cNvPr id="11" name="">
            <a:extLst xmlns:a="http://schemas.openxmlformats.org/drawingml/2006/main">
              <a:ext uri="{FF2B5EF4-FFF2-40B4-BE49-F238E27FC236}">
                <a16:creationId xmlns:a16="http://schemas.microsoft.com/office/drawing/2014/main" id="{DF7FF232-172F-4470-8258-D7ACEF22261B}"/>
              </a:ext>
            </a:extLst>
          </p:cNvPr>
          <p:cNvSpPr>
            <a:spLocks xmlns:a="http://schemas.openxmlformats.org/drawingml/2006/main" noGrp="1"/>
          </p:cNvSpPr>
          <p:nvPr/>
        </p:nvSpPr>
        <p:spPr>
          <a:xfrm xmlns:a="http://schemas.openxmlformats.org/drawingml/2006/main">
            <a:off x="1428750" y="5467350"/>
            <a:ext cx="933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i="0">
                <a:solidFill>
                  <a:srgbClr val="173654"/>
                </a:solidFill>
                <a:latin typeface="Arial"/>
                <a:ea typeface="Arial"/>
                <a:cs typeface="Arial"/>
              </a:defRPr>
            </a:pPr>
            <a:r>
              <a:rPr sz="2175" b="1" i="0">
                <a:solidFill>
                  <a:srgbClr val="173654"/>
                </a:solidFill>
                <a:latin typeface="Arial"/>
                <a:ea typeface="Arial"/>
                <a:cs typeface="Arial"/>
              </a:rPr>
              <a:t>What made an instruction easy or hard to follow?</a:t>
            </a:r>
          </a:p>
        </p:txBody>
      </p:sp>
      <p:sp>
        <p:nvSpPr>
          <p:cNvPr id="12" name="">
            <a:extLst xmlns:a="http://schemas.openxmlformats.org/drawingml/2006/main">
              <a:ext uri="{FF2B5EF4-FFF2-40B4-BE49-F238E27FC236}">
                <a16:creationId xmlns:a16="http://schemas.microsoft.com/office/drawing/2014/main" id="{38D07DC5-4F24-453A-BEC3-ACD16DDE24E0}"/>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i="0">
                <a:solidFill>
                  <a:srgbClr val="5D6B78"/>
                </a:solidFill>
                <a:latin typeface="Arial"/>
                <a:ea typeface="Arial"/>
                <a:cs typeface="Arial"/>
              </a:defRPr>
            </a:pPr>
            <a:r>
              <a:rPr sz="1200" b="0" i="0">
                <a:solidFill>
                  <a:srgbClr val="5D6B78"/>
                </a:solidFill>
                <a:latin typeface="Arial"/>
                <a:ea typeface="Arial"/>
                <a:cs typeface="Arial"/>
              </a:rPr>
              <a:t>9:30-9:50 | Icebreaker and debrief</a:t>
            </a:r>
          </a:p>
        </p:txBody>
      </p:sp>
    </p:spTree>
    <p:extLst>
      <p:ext uri="{BB962C8B-B14F-4D97-AF65-F5344CB8AC3E}">
        <p14:creationId xmlns:p14="http://schemas.microsoft.com/office/powerpoint/2010/main" val="78643186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A10F237-A8F7-4F5D-9F69-8B4C5BC6CF0B}"/>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00" b="1" i="0">
                <a:solidFill>
                  <a:srgbClr val="173654"/>
                </a:solidFill>
                <a:latin typeface="Arial"/>
                <a:ea typeface="Arial"/>
                <a:cs typeface="Arial"/>
              </a:defRPr>
            </a:pPr>
            <a:r>
              <a:rPr sz="3000" b="1" i="0">
                <a:solidFill>
                  <a:srgbClr val="173654"/>
                </a:solidFill>
                <a:latin typeface="Arial"/>
                <a:ea typeface="Arial"/>
                <a:cs typeface="Arial"/>
              </a:rPr>
              <a:t>Git and git clone</a:t>
            </a:r>
          </a:p>
        </p:txBody>
      </p:sp>
      <p:sp>
        <p:nvSpPr>
          <p:cNvPr id="2" name="">
            <a:extLst xmlns:a="http://schemas.openxmlformats.org/drawingml/2006/main">
              <a:ext uri="{FF2B5EF4-FFF2-40B4-BE49-F238E27FC236}">
                <a16:creationId xmlns:a16="http://schemas.microsoft.com/office/drawing/2014/main" id="{F6A4AFB6-2503-4B8F-97BA-D04B8A599D68}"/>
              </a:ext>
            </a:extLst>
          </p:cNvPr>
          <p:cNvSpPr>
            <a:spLocks xmlns:a="http://schemas.openxmlformats.org/drawingml/2006/main" noGrp="1"/>
          </p:cNvSpPr>
          <p:nvPr/>
        </p:nvSpPr>
        <p:spPr>
          <a:xfrm xmlns:a="http://schemas.openxmlformats.org/drawingml/2006/main">
            <a:off x="704850" y="10096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i="0">
                <a:solidFill>
                  <a:srgbClr val="5D6B78"/>
                </a:solidFill>
                <a:latin typeface="Arial"/>
                <a:ea typeface="Arial"/>
                <a:cs typeface="Arial"/>
              </a:defRPr>
            </a:pPr>
            <a:r>
              <a:rPr sz="1575" b="0" i="0">
                <a:solidFill>
                  <a:srgbClr val="5D6B78"/>
                </a:solidFill>
                <a:latin typeface="Arial"/>
                <a:ea typeface="Arial"/>
                <a:cs typeface="Arial"/>
              </a:rPr>
              <a:t>Git keeps a history of changes to a project.</a:t>
            </a:r>
          </a:p>
        </p:txBody>
      </p:sp>
      <p:sp>
        <p:nvSpPr>
          <p:cNvPr id="3" name="">
            <a:extLst xmlns:a="http://schemas.openxmlformats.org/drawingml/2006/main">
              <a:ext uri="{FF2B5EF4-FFF2-40B4-BE49-F238E27FC236}">
                <a16:creationId xmlns:a16="http://schemas.microsoft.com/office/drawing/2014/main" id="{FED34926-6E7E-4B6C-BC1F-15AC80FD963D}"/>
              </a:ext>
            </a:extLst>
          </p:cNvPr>
          <p:cNvSpPr>
            <a:spLocks xmlns:a="http://schemas.openxmlformats.org/drawingml/2006/main" noGrp="1"/>
          </p:cNvSpPr>
          <p:nvPr/>
        </p:nvSpPr>
        <p:spPr>
          <a:xfrm xmlns:a="http://schemas.openxmlformats.org/drawingml/2006/main">
            <a:off x="1066800" y="2000250"/>
            <a:ext cx="2571750" cy="723900"/>
          </a:xfrm>
          <a:prstGeom xmlns:a="http://schemas.openxmlformats.org/drawingml/2006/main" prst="roundRect">
            <a:avLst>
              <a:gd name="adj" fmla="val 10526"/>
            </a:avLst>
          </a:prstGeom>
          <a:solidFill xmlns:a="http://schemas.openxmlformats.org/drawingml/2006/main">
            <a:srgbClr val="EDF5E9"/>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i="0">
                <a:solidFill>
                  <a:srgbClr val="173654"/>
                </a:solidFill>
                <a:latin typeface="Arial"/>
                <a:ea typeface="Arial"/>
                <a:cs typeface="Arial"/>
              </a:defRPr>
            </a:pPr>
            <a:r>
              <a:rPr sz="2550" b="1" i="0">
                <a:solidFill>
                  <a:srgbClr val="173654"/>
                </a:solidFill>
                <a:latin typeface="Arial"/>
                <a:ea typeface="Arial"/>
                <a:cs typeface="Arial"/>
              </a:rPr>
              <a:t>GitHub</a:t>
            </a:r>
          </a:p>
        </p:txBody>
      </p:sp>
      <p:sp>
        <p:nvSpPr>
          <p:cNvPr id="4" name="">
            <a:extLst xmlns:a="http://schemas.openxmlformats.org/drawingml/2006/main">
              <a:ext uri="{FF2B5EF4-FFF2-40B4-BE49-F238E27FC236}">
                <a16:creationId xmlns:a16="http://schemas.microsoft.com/office/drawing/2014/main" id="{23170332-742B-40BD-9504-DC4F9B317225}"/>
              </a:ext>
            </a:extLst>
          </p:cNvPr>
          <p:cNvSpPr>
            <a:spLocks xmlns:a="http://schemas.openxmlformats.org/drawingml/2006/main" noGrp="1"/>
          </p:cNvSpPr>
          <p:nvPr/>
        </p:nvSpPr>
        <p:spPr>
          <a:xfrm xmlns:a="http://schemas.openxmlformats.org/drawingml/2006/main">
            <a:off x="1066800" y="2781300"/>
            <a:ext cx="2571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i="0">
                <a:solidFill>
                  <a:srgbClr val="5D6B78"/>
                </a:solidFill>
                <a:latin typeface="Arial"/>
                <a:ea typeface="Arial"/>
                <a:cs typeface="Arial"/>
              </a:defRPr>
            </a:pPr>
            <a:r>
              <a:rPr sz="1575" b="0" i="0">
                <a:solidFill>
                  <a:srgbClr val="5D6B78"/>
                </a:solidFill>
                <a:latin typeface="Arial"/>
                <a:ea typeface="Arial"/>
                <a:cs typeface="Arial"/>
              </a:rPr>
              <a:t>class repository online</a:t>
            </a:r>
          </a:p>
        </p:txBody>
      </p:sp>
      <p:sp>
        <p:nvSpPr>
          <p:cNvPr id="5" name="">
            <a:extLst xmlns:a="http://schemas.openxmlformats.org/drawingml/2006/main">
              <a:ext uri="{FF2B5EF4-FFF2-40B4-BE49-F238E27FC236}">
                <a16:creationId xmlns:a16="http://schemas.microsoft.com/office/drawing/2014/main" id="{560E0DCE-7A93-43E6-B510-4C132420FEE1}"/>
              </a:ext>
            </a:extLst>
          </p:cNvPr>
          <p:cNvSpPr>
            <a:spLocks xmlns:a="http://schemas.openxmlformats.org/drawingml/2006/main" noGrp="1"/>
          </p:cNvSpPr>
          <p:nvPr/>
        </p:nvSpPr>
        <p:spPr>
          <a:xfrm xmlns:a="http://schemas.openxmlformats.org/drawingml/2006/main">
            <a:off x="4514850" y="2133600"/>
            <a:ext cx="3143250" cy="647700"/>
          </a:xfrm>
          <a:prstGeom xmlns:a="http://schemas.openxmlformats.org/drawingml/2006/main" prst="roundRect">
            <a:avLst>
              <a:gd name="adj" fmla="val 11765"/>
            </a:avLst>
          </a:prstGeom>
          <a:solidFill xmlns:a="http://schemas.openxmlformats.org/drawingml/2006/main">
            <a:srgbClr val="2F6F89"/>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1" i="0">
                <a:solidFill>
                  <a:srgbClr val="FFFFFF"/>
                </a:solidFill>
                <a:latin typeface="Consolas"/>
                <a:ea typeface="Consolas"/>
                <a:cs typeface="Consolas"/>
              </a:defRPr>
            </a:pPr>
            <a:r>
              <a:rPr sz="2250" b="1" i="0">
                <a:solidFill>
                  <a:srgbClr val="FFFFFF"/>
                </a:solidFill>
                <a:latin typeface="Consolas"/>
                <a:ea typeface="Consolas"/>
                <a:cs typeface="Consolas"/>
              </a:rPr>
              <a:t>git clone</a:t>
            </a:r>
          </a:p>
        </p:txBody>
      </p:sp>
      <p:sp>
        <p:nvSpPr>
          <p:cNvPr id="6" name="">
            <a:extLst xmlns:a="http://schemas.openxmlformats.org/drawingml/2006/main">
              <a:ext uri="{FF2B5EF4-FFF2-40B4-BE49-F238E27FC236}">
                <a16:creationId xmlns:a16="http://schemas.microsoft.com/office/drawing/2014/main" id="{9798A8E0-6B5F-467F-BE40-A001C60F3E10}"/>
              </a:ext>
            </a:extLst>
          </p:cNvPr>
          <p:cNvSpPr>
            <a:spLocks xmlns:a="http://schemas.openxmlformats.org/drawingml/2006/main" noGrp="1"/>
          </p:cNvSpPr>
          <p:nvPr/>
        </p:nvSpPr>
        <p:spPr>
          <a:xfrm xmlns:a="http://schemas.openxmlformats.org/drawingml/2006/main">
            <a:off x="4514850" y="283845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i="0">
                <a:solidFill>
                  <a:srgbClr val="5D6B78"/>
                </a:solidFill>
                <a:latin typeface="Arial"/>
                <a:ea typeface="Arial"/>
                <a:cs typeface="Arial"/>
              </a:defRPr>
            </a:pPr>
            <a:r>
              <a:rPr sz="1575" b="0" i="0">
                <a:solidFill>
                  <a:srgbClr val="5D6B78"/>
                </a:solidFill>
                <a:latin typeface="Arial"/>
                <a:ea typeface="Arial"/>
                <a:cs typeface="Arial"/>
              </a:rPr>
              <a:t>copies the repository</a:t>
            </a:r>
          </a:p>
        </p:txBody>
      </p:sp>
      <p:sp>
        <p:nvSpPr>
          <p:cNvPr id="7" name="">
            <a:extLst xmlns:a="http://schemas.openxmlformats.org/drawingml/2006/main">
              <a:ext uri="{FF2B5EF4-FFF2-40B4-BE49-F238E27FC236}">
                <a16:creationId xmlns:a16="http://schemas.microsoft.com/office/drawing/2014/main" id="{86D85F1D-FADC-4C8A-B453-F181799FE4F9}"/>
              </a:ext>
            </a:extLst>
          </p:cNvPr>
          <p:cNvSpPr>
            <a:spLocks xmlns:a="http://schemas.openxmlformats.org/drawingml/2006/main" noGrp="1"/>
          </p:cNvSpPr>
          <p:nvPr/>
        </p:nvSpPr>
        <p:spPr>
          <a:xfrm xmlns:a="http://schemas.openxmlformats.org/drawingml/2006/main">
            <a:off x="8534400" y="2000250"/>
            <a:ext cx="2571750" cy="723900"/>
          </a:xfrm>
          <a:prstGeom xmlns:a="http://schemas.openxmlformats.org/drawingml/2006/main" prst="roundRect">
            <a:avLst>
              <a:gd name="adj" fmla="val 10526"/>
            </a:avLst>
          </a:prstGeom>
          <a:solidFill xmlns:a="http://schemas.openxmlformats.org/drawingml/2006/main">
            <a:srgbClr val="EAF2F7"/>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i="0">
                <a:solidFill>
                  <a:srgbClr val="173654"/>
                </a:solidFill>
                <a:latin typeface="Arial"/>
                <a:ea typeface="Arial"/>
                <a:cs typeface="Arial"/>
              </a:defRPr>
            </a:pPr>
            <a:r>
              <a:rPr sz="2550" b="1" i="0">
                <a:solidFill>
                  <a:srgbClr val="173654"/>
                </a:solidFill>
                <a:latin typeface="Arial"/>
                <a:ea typeface="Arial"/>
                <a:cs typeface="Arial"/>
              </a:rPr>
              <a:t>Your computer</a:t>
            </a:r>
          </a:p>
        </p:txBody>
      </p:sp>
      <p:sp>
        <p:nvSpPr>
          <p:cNvPr id="8" name="">
            <a:extLst xmlns:a="http://schemas.openxmlformats.org/drawingml/2006/main">
              <a:ext uri="{FF2B5EF4-FFF2-40B4-BE49-F238E27FC236}">
                <a16:creationId xmlns:a16="http://schemas.microsoft.com/office/drawing/2014/main" id="{21F2214A-DE10-4B0F-9D30-72177D60CF0B}"/>
              </a:ext>
            </a:extLst>
          </p:cNvPr>
          <p:cNvSpPr>
            <a:spLocks xmlns:a="http://schemas.openxmlformats.org/drawingml/2006/main" noGrp="1"/>
          </p:cNvSpPr>
          <p:nvPr/>
        </p:nvSpPr>
        <p:spPr>
          <a:xfrm xmlns:a="http://schemas.openxmlformats.org/drawingml/2006/main">
            <a:off x="8534400" y="2781300"/>
            <a:ext cx="2571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i="0">
                <a:solidFill>
                  <a:srgbClr val="5D6B78"/>
                </a:solidFill>
                <a:latin typeface="Arial"/>
                <a:ea typeface="Arial"/>
                <a:cs typeface="Arial"/>
              </a:defRPr>
            </a:pPr>
            <a:r>
              <a:rPr sz="1575" b="0" i="0">
                <a:solidFill>
                  <a:srgbClr val="5D6B78"/>
                </a:solidFill>
                <a:latin typeface="Arial"/>
                <a:ea typeface="Arial"/>
                <a:cs typeface="Arial"/>
              </a:rPr>
              <a:t>a local working copy</a:t>
            </a:r>
          </a:p>
        </p:txBody>
      </p:sp>
      <p:sp>
        <p:nvSpPr>
          <p:cNvPr id="9" name="">
            <a:extLst xmlns:a="http://schemas.openxmlformats.org/drawingml/2006/main">
              <a:ext uri="{FF2B5EF4-FFF2-40B4-BE49-F238E27FC236}">
                <a16:creationId xmlns:a16="http://schemas.microsoft.com/office/drawing/2014/main" id="{35E2989C-4AE5-4A55-84E9-54AF5881B108}"/>
              </a:ext>
            </a:extLst>
          </p:cNvPr>
          <p:cNvSpPr>
            <a:spLocks xmlns:a="http://schemas.openxmlformats.org/drawingml/2006/main" noGrp="1"/>
          </p:cNvSpPr>
          <p:nvPr/>
        </p:nvSpPr>
        <p:spPr>
          <a:xfrm xmlns:a="http://schemas.openxmlformats.org/drawingml/2006/main">
            <a:off x="1257300" y="3714750"/>
            <a:ext cx="9677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5F9F4B"/>
                </a:solidFill>
                <a:latin typeface="Arial"/>
                <a:ea typeface="Arial"/>
                <a:cs typeface="Arial"/>
              </a:defRPr>
            </a:pPr>
            <a:r>
              <a:rPr sz="1875" b="1" i="0">
                <a:solidFill>
                  <a:srgbClr val="5F9F4B"/>
                </a:solidFill>
                <a:latin typeface="Arial"/>
                <a:ea typeface="Arial"/>
                <a:cs typeface="Arial"/>
              </a:rPr>
              <a:t>git clone copies the online repository into a local folder.</a:t>
            </a:r>
          </a:p>
        </p:txBody>
      </p:sp>
      <p:sp>
        <p:nvSpPr>
          <p:cNvPr id="10" name="">
            <a:extLst xmlns:a="http://schemas.openxmlformats.org/drawingml/2006/main">
              <a:ext uri="{FF2B5EF4-FFF2-40B4-BE49-F238E27FC236}">
                <a16:creationId xmlns:a16="http://schemas.microsoft.com/office/drawing/2014/main" id="{9FDD6B4A-1D6F-4F2E-96B1-A276B869B695}"/>
              </a:ext>
            </a:extLst>
          </p:cNvPr>
          <p:cNvSpPr>
            <a:spLocks xmlns:a="http://schemas.openxmlformats.org/drawingml/2006/main" noGrp="1"/>
          </p:cNvSpPr>
          <p:nvPr/>
        </p:nvSpPr>
        <p:spPr>
          <a:xfrm xmlns:a="http://schemas.openxmlformats.org/drawingml/2006/main">
            <a:off x="1085850" y="4629150"/>
            <a:ext cx="10020300" cy="666750"/>
          </a:xfrm>
          <a:prstGeom xmlns:a="http://schemas.openxmlformats.org/drawingml/2006/main" prst="roundRect">
            <a:avLst>
              <a:gd name="adj" fmla="val 11429"/>
            </a:avLst>
          </a:prstGeom>
          <a:solidFill xmlns:a="http://schemas.openxmlformats.org/drawingml/2006/main">
            <a:srgbClr val="173654"/>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i="0">
                <a:solidFill>
                  <a:srgbClr val="FFFFFF"/>
                </a:solidFill>
                <a:latin typeface="Consolas"/>
                <a:ea typeface="Consolas"/>
                <a:cs typeface="Consolas"/>
              </a:defRPr>
            </a:pPr>
            <a:r>
              <a:rPr sz="1650" b="0" i="0">
                <a:solidFill>
                  <a:srgbClr val="FFFFFF"/>
                </a:solidFill>
                <a:latin typeface="Consolas"/>
                <a:ea typeface="Consolas"/>
                <a:cs typeface="Consolas"/>
              </a:rPr>
              <a:t>git clone https://github.com/lhernandez-sudo/project-syncere-cs-2027.git</a:t>
            </a:r>
          </a:p>
        </p:txBody>
      </p:sp>
      <p:sp>
        <p:nvSpPr>
          <p:cNvPr id="11" name="">
            <a:extLst xmlns:a="http://schemas.openxmlformats.org/drawingml/2006/main">
              <a:ext uri="{FF2B5EF4-FFF2-40B4-BE49-F238E27FC236}">
                <a16:creationId xmlns:a16="http://schemas.microsoft.com/office/drawing/2014/main" id="{A54C55F8-6DAE-4579-9162-5953E560BA6C}"/>
              </a:ext>
            </a:extLst>
          </p:cNvPr>
          <p:cNvSpPr>
            <a:spLocks xmlns:a="http://schemas.openxmlformats.org/drawingml/2006/main" noGrp="1"/>
          </p:cNvSpPr>
          <p:nvPr/>
        </p:nvSpPr>
        <p:spPr>
          <a:xfrm xmlns:a="http://schemas.openxmlformats.org/drawingml/2006/main">
            <a:off x="1524000" y="5543550"/>
            <a:ext cx="914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DF6765"/>
                </a:solidFill>
                <a:latin typeface="Arial"/>
                <a:ea typeface="Arial"/>
                <a:cs typeface="Arial"/>
              </a:defRPr>
            </a:pPr>
            <a:r>
              <a:rPr sz="1875" b="1" i="0">
                <a:solidFill>
                  <a:srgbClr val="DF6765"/>
                </a:solidFill>
                <a:latin typeface="Arial"/>
                <a:ea typeface="Arial"/>
                <a:cs typeface="Arial"/>
              </a:rPr>
              <a:t>Clone once. Later, use git pull to get new lessons.</a:t>
            </a:r>
          </a:p>
        </p:txBody>
      </p:sp>
      <p:sp>
        <p:nvSpPr>
          <p:cNvPr id="12" name="">
            <a:extLst xmlns:a="http://schemas.openxmlformats.org/drawingml/2006/main">
              <a:ext uri="{FF2B5EF4-FFF2-40B4-BE49-F238E27FC236}">
                <a16:creationId xmlns:a16="http://schemas.microsoft.com/office/drawing/2014/main" id="{4C76C4AB-E620-4A20-AE45-8846D9259489}"/>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i="0">
                <a:solidFill>
                  <a:srgbClr val="5D6B78"/>
                </a:solidFill>
                <a:latin typeface="Arial"/>
                <a:ea typeface="Arial"/>
                <a:cs typeface="Arial"/>
              </a:defRPr>
            </a:pPr>
            <a:r>
              <a:rPr sz="1200" b="0" i="0">
                <a:solidFill>
                  <a:srgbClr val="5D6B78"/>
                </a:solidFill>
                <a:latin typeface="Arial"/>
                <a:ea typeface="Arial"/>
                <a:cs typeface="Arial"/>
              </a:rPr>
              <a:t>9:50 | Getting the class repository</a:t>
            </a:r>
          </a:p>
        </p:txBody>
      </p:sp>
    </p:spTree>
    <p:extLst>
      <p:ext uri="{BB962C8B-B14F-4D97-AF65-F5344CB8AC3E}">
        <p14:creationId xmlns:p14="http://schemas.microsoft.com/office/powerpoint/2010/main" val="127376873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484E9E7-F907-4708-B375-AB1AC65D5B5F}"/>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00" b="1" i="0">
                <a:solidFill>
                  <a:srgbClr val="173654"/>
                </a:solidFill>
                <a:latin typeface="Arial"/>
                <a:ea typeface="Arial"/>
                <a:cs typeface="Arial"/>
              </a:defRPr>
            </a:pPr>
            <a:r>
              <a:rPr sz="3000" b="1" i="0">
                <a:solidFill>
                  <a:srgbClr val="173654"/>
                </a:solidFill>
                <a:latin typeface="Arial"/>
                <a:ea typeface="Arial"/>
                <a:cs typeface="Arial"/>
              </a:rPr>
              <a:t>Learning objectives</a:t>
            </a:r>
          </a:p>
        </p:txBody>
      </p:sp>
      <p:sp>
        <p:nvSpPr>
          <p:cNvPr id="2" name="">
            <a:extLst xmlns:a="http://schemas.openxmlformats.org/drawingml/2006/main">
              <a:ext uri="{FF2B5EF4-FFF2-40B4-BE49-F238E27FC236}">
                <a16:creationId xmlns:a16="http://schemas.microsoft.com/office/drawing/2014/main" id="{0D0E1244-F34B-4ABE-BBA8-E858B31A6877}"/>
              </a:ext>
            </a:extLst>
          </p:cNvPr>
          <p:cNvSpPr>
            <a:spLocks xmlns:a="http://schemas.openxmlformats.org/drawingml/2006/main" noGrp="1"/>
          </p:cNvSpPr>
          <p:nvPr/>
        </p:nvSpPr>
        <p:spPr>
          <a:xfrm xmlns:a="http://schemas.openxmlformats.org/drawingml/2006/main">
            <a:off x="704850" y="10096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i="0">
                <a:solidFill>
                  <a:srgbClr val="5D6B78"/>
                </a:solidFill>
                <a:latin typeface="Arial"/>
                <a:ea typeface="Arial"/>
                <a:cs typeface="Arial"/>
              </a:defRPr>
            </a:pPr>
            <a:r>
              <a:rPr sz="1575" b="0" i="0">
                <a:solidFill>
                  <a:srgbClr val="5D6B78"/>
                </a:solidFill>
                <a:latin typeface="Arial"/>
                <a:ea typeface="Arial"/>
                <a:cs typeface="Arial"/>
              </a:rPr>
              <a:t>By 1:00 PM, you should be able to...</a:t>
            </a:r>
          </a:p>
        </p:txBody>
      </p:sp>
      <p:sp>
        <p:nvSpPr>
          <p:cNvPr id="3" name="">
            <a:extLst xmlns:a="http://schemas.openxmlformats.org/drawingml/2006/main">
              <a:ext uri="{FF2B5EF4-FFF2-40B4-BE49-F238E27FC236}">
                <a16:creationId xmlns:a16="http://schemas.microsoft.com/office/drawing/2014/main" id="{39EFE3B2-32C4-4D53-A933-8A4F82DDB64D}"/>
              </a:ext>
            </a:extLst>
          </p:cNvPr>
          <p:cNvSpPr>
            <a:spLocks xmlns:a="http://schemas.openxmlformats.org/drawingml/2006/main" noGrp="1"/>
          </p:cNvSpPr>
          <p:nvPr/>
        </p:nvSpPr>
        <p:spPr>
          <a:xfrm xmlns:a="http://schemas.openxmlformats.org/drawingml/2006/main">
            <a:off x="1181100" y="1714500"/>
            <a:ext cx="981075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27000">
              <a:spcAft>
                <a:spcPts val="1400"/>
              </a:spcAft>
              <a:buChar char="•"/>
              <a:defRPr sz="2250">
                <a:solidFill>
                  <a:srgbClr val="172433"/>
                </a:solidFill>
                <a:latin typeface="Arial"/>
                <a:ea typeface="Arial"/>
                <a:cs typeface="Arial"/>
              </a:defRPr>
            </a:pPr>
            <a:r>
              <a:rPr sz="2250">
                <a:solidFill>
                  <a:srgbClr val="172433"/>
                </a:solidFill>
                <a:latin typeface="Arial"/>
                <a:ea typeface="Arial"/>
                <a:cs typeface="Arial"/>
              </a:rPr>
              <a:t>Run a Python file from Visual Studio Code or PowerShell</a:t>
            </a:r>
          </a:p>
          <a:p xmlns:a="http://schemas.openxmlformats.org/drawingml/2006/main">
            <a:pPr marL="254000" indent="-127000">
              <a:spcAft>
                <a:spcPts val="1400"/>
              </a:spcAft>
              <a:buChar char="•"/>
              <a:defRPr sz="2250">
                <a:solidFill>
                  <a:srgbClr val="172433"/>
                </a:solidFill>
                <a:latin typeface="Arial"/>
                <a:ea typeface="Arial"/>
                <a:cs typeface="Arial"/>
              </a:defRPr>
            </a:pPr>
            <a:r>
              <a:rPr sz="2250">
                <a:solidFill>
                  <a:srgbClr val="172433"/>
                </a:solidFill>
                <a:latin typeface="Arial"/>
                <a:ea typeface="Arial"/>
                <a:cs typeface="Arial"/>
              </a:rPr>
              <a:t>Use print() to display text</a:t>
            </a:r>
          </a:p>
          <a:p xmlns:a="http://schemas.openxmlformats.org/drawingml/2006/main">
            <a:pPr marL="254000" indent="-127000">
              <a:spcAft>
                <a:spcPts val="1400"/>
              </a:spcAft>
              <a:buChar char="•"/>
              <a:defRPr sz="2250">
                <a:solidFill>
                  <a:srgbClr val="172433"/>
                </a:solidFill>
                <a:latin typeface="Arial"/>
                <a:ea typeface="Arial"/>
                <a:cs typeface="Arial"/>
              </a:defRPr>
            </a:pPr>
            <a:r>
              <a:rPr sz="2250">
                <a:solidFill>
                  <a:srgbClr val="172433"/>
                </a:solidFill>
                <a:latin typeface="Arial"/>
                <a:ea typeface="Arial"/>
                <a:cs typeface="Arial"/>
              </a:rPr>
              <a:t>Add comments that explain a program</a:t>
            </a:r>
          </a:p>
          <a:p xmlns:a="http://schemas.openxmlformats.org/drawingml/2006/main">
            <a:pPr marL="254000" indent="-127000">
              <a:spcAft>
                <a:spcPts val="1400"/>
              </a:spcAft>
              <a:buChar char="•"/>
              <a:defRPr sz="2250">
                <a:solidFill>
                  <a:srgbClr val="172433"/>
                </a:solidFill>
                <a:latin typeface="Arial"/>
                <a:ea typeface="Arial"/>
                <a:cs typeface="Arial"/>
              </a:defRPr>
            </a:pPr>
            <a:r>
              <a:rPr sz="2250">
                <a:solidFill>
                  <a:srgbClr val="172433"/>
                </a:solidFill>
                <a:latin typeface="Arial"/>
                <a:ea typeface="Arial"/>
                <a:cs typeface="Arial"/>
              </a:rPr>
              <a:t>Locate the useful line in a Python error message</a:t>
            </a:r>
          </a:p>
          <a:p xmlns:a="http://schemas.openxmlformats.org/drawingml/2006/main">
            <a:pPr marL="254000" indent="-127000">
              <a:spcAft>
                <a:spcPts val="1400"/>
              </a:spcAft>
              <a:buChar char="•"/>
              <a:defRPr sz="2250">
                <a:solidFill>
                  <a:srgbClr val="172433"/>
                </a:solidFill>
                <a:latin typeface="Arial"/>
                <a:ea typeface="Arial"/>
                <a:cs typeface="Arial"/>
              </a:defRPr>
            </a:pPr>
            <a:r>
              <a:rPr sz="2250">
                <a:solidFill>
                  <a:srgbClr val="172433"/>
                </a:solidFill>
                <a:latin typeface="Arial"/>
                <a:ea typeface="Arial"/>
                <a:cs typeface="Arial"/>
              </a:rPr>
              <a:t>Make and describe one Git commit</a:t>
            </a:r>
          </a:p>
        </p:txBody>
      </p:sp>
      <p:sp>
        <p:nvSpPr>
          <p:cNvPr id="4" name="">
            <a:extLst xmlns:a="http://schemas.openxmlformats.org/drawingml/2006/main">
              <a:ext uri="{FF2B5EF4-FFF2-40B4-BE49-F238E27FC236}">
                <a16:creationId xmlns:a16="http://schemas.microsoft.com/office/drawing/2014/main" id="{78008273-74E4-40CB-A918-91CE080FB6CE}"/>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i="0">
                <a:solidFill>
                  <a:srgbClr val="5D6B78"/>
                </a:solidFill>
                <a:latin typeface="Arial"/>
                <a:ea typeface="Arial"/>
                <a:cs typeface="Arial"/>
              </a:defRPr>
            </a:pPr>
            <a:r>
              <a:rPr sz="1200" b="0" i="0">
                <a:solidFill>
                  <a:srgbClr val="5D6B78"/>
                </a:solidFill>
                <a:latin typeface="Arial"/>
                <a:ea typeface="Arial"/>
                <a:cs typeface="Arial"/>
              </a:rPr>
              <a:t>9:30-9:50 | Welcome and objectives</a:t>
            </a:r>
          </a:p>
        </p:txBody>
      </p:sp>
    </p:spTree>
    <p:extLst>
      <p:ext uri="{BB962C8B-B14F-4D97-AF65-F5344CB8AC3E}">
        <p14:creationId xmlns:p14="http://schemas.microsoft.com/office/powerpoint/2010/main" val="117593453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A70D39E-915C-4FB6-9FB8-9A5819DA88FD}"/>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00" b="1" i="0">
                <a:solidFill>
                  <a:srgbClr val="173654"/>
                </a:solidFill>
                <a:latin typeface="Arial"/>
                <a:ea typeface="Arial"/>
                <a:cs typeface="Arial"/>
              </a:defRPr>
            </a:pPr>
            <a:r>
              <a:rPr sz="3000" b="1" i="0">
                <a:solidFill>
                  <a:srgbClr val="173654"/>
                </a:solidFill>
                <a:latin typeface="Arial"/>
                <a:ea typeface="Arial"/>
                <a:cs typeface="Arial"/>
              </a:rPr>
              <a:t>Input, process, output</a:t>
            </a:r>
          </a:p>
        </p:txBody>
      </p:sp>
      <p:sp>
        <p:nvSpPr>
          <p:cNvPr id="2" name="">
            <a:extLst xmlns:a="http://schemas.openxmlformats.org/drawingml/2006/main">
              <a:ext uri="{FF2B5EF4-FFF2-40B4-BE49-F238E27FC236}">
                <a16:creationId xmlns:a16="http://schemas.microsoft.com/office/drawing/2014/main" id="{C62F575A-E8DA-42A1-9309-B7D3742604A5}"/>
              </a:ext>
            </a:extLst>
          </p:cNvPr>
          <p:cNvSpPr>
            <a:spLocks xmlns:a="http://schemas.openxmlformats.org/drawingml/2006/main" noGrp="1"/>
          </p:cNvSpPr>
          <p:nvPr/>
        </p:nvSpPr>
        <p:spPr>
          <a:xfrm xmlns:a="http://schemas.openxmlformats.org/drawingml/2006/main">
            <a:off x="704850" y="10096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i="0">
                <a:solidFill>
                  <a:srgbClr val="5D6B78"/>
                </a:solidFill>
                <a:latin typeface="Arial"/>
                <a:ea typeface="Arial"/>
                <a:cs typeface="Arial"/>
              </a:defRPr>
            </a:pPr>
            <a:r>
              <a:rPr sz="1575" b="0" i="0">
                <a:solidFill>
                  <a:srgbClr val="5D6B78"/>
                </a:solidFill>
                <a:latin typeface="Arial"/>
                <a:ea typeface="Arial"/>
                <a:cs typeface="Arial"/>
              </a:rPr>
              <a:t>A program turns information into a result</a:t>
            </a:r>
          </a:p>
        </p:txBody>
      </p:sp>
      <p:sp>
        <p:nvSpPr>
          <p:cNvPr id="3" name="">
            <a:extLst xmlns:a="http://schemas.openxmlformats.org/drawingml/2006/main">
              <a:ext uri="{FF2B5EF4-FFF2-40B4-BE49-F238E27FC236}">
                <a16:creationId xmlns:a16="http://schemas.microsoft.com/office/drawing/2014/main" id="{863C83EB-6EE1-4AF3-8D35-5C0E47EF55EE}"/>
              </a:ext>
            </a:extLst>
          </p:cNvPr>
          <p:cNvSpPr>
            <a:spLocks xmlns:a="http://schemas.openxmlformats.org/drawingml/2006/main" noGrp="1"/>
          </p:cNvSpPr>
          <p:nvPr/>
        </p:nvSpPr>
        <p:spPr>
          <a:xfrm xmlns:a="http://schemas.openxmlformats.org/drawingml/2006/main">
            <a:off x="838200" y="2076450"/>
            <a:ext cx="3162300" cy="666750"/>
          </a:xfrm>
          <a:prstGeom xmlns:a="http://schemas.openxmlformats.org/drawingml/2006/main" prst="roundRect">
            <a:avLst>
              <a:gd name="adj" fmla="val 11429"/>
            </a:avLst>
          </a:prstGeom>
          <a:solidFill xmlns:a="http://schemas.openxmlformats.org/drawingml/2006/main">
            <a:srgbClr val="EAF2F7"/>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1" i="0">
                <a:solidFill>
                  <a:srgbClr val="2F6F89"/>
                </a:solidFill>
                <a:latin typeface="Arial"/>
                <a:ea typeface="Arial"/>
                <a:cs typeface="Arial"/>
              </a:defRPr>
            </a:pPr>
            <a:r>
              <a:rPr sz="2250" b="1" i="0">
                <a:solidFill>
                  <a:srgbClr val="2F6F89"/>
                </a:solidFill>
                <a:latin typeface="Arial"/>
                <a:ea typeface="Arial"/>
                <a:cs typeface="Arial"/>
              </a:rPr>
              <a:t>INPUT</a:t>
            </a:r>
          </a:p>
        </p:txBody>
      </p:sp>
      <p:sp>
        <p:nvSpPr>
          <p:cNvPr id="4" name="">
            <a:extLst xmlns:a="http://schemas.openxmlformats.org/drawingml/2006/main">
              <a:ext uri="{FF2B5EF4-FFF2-40B4-BE49-F238E27FC236}">
                <a16:creationId xmlns:a16="http://schemas.microsoft.com/office/drawing/2014/main" id="{4457E954-38D6-4921-8EC0-95C67730781F}"/>
              </a:ext>
            </a:extLst>
          </p:cNvPr>
          <p:cNvSpPr>
            <a:spLocks xmlns:a="http://schemas.openxmlformats.org/drawingml/2006/main" noGrp="1"/>
          </p:cNvSpPr>
          <p:nvPr/>
        </p:nvSpPr>
        <p:spPr>
          <a:xfrm xmlns:a="http://schemas.openxmlformats.org/drawingml/2006/main">
            <a:off x="1047750" y="3009900"/>
            <a:ext cx="2743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i="0">
                <a:solidFill>
                  <a:srgbClr val="172433"/>
                </a:solidFill>
                <a:latin typeface="Arial"/>
                <a:ea typeface="Arial"/>
                <a:cs typeface="Arial"/>
              </a:defRPr>
            </a:pPr>
            <a:r>
              <a:rPr sz="1800" b="0" i="0">
                <a:solidFill>
                  <a:srgbClr val="172433"/>
                </a:solidFill>
                <a:latin typeface="Arial"/>
                <a:ea typeface="Arial"/>
                <a:cs typeface="Arial"/>
              </a:rPr>
              <a:t>What the program receives</a:t>
            </a:r>
          </a:p>
        </p:txBody>
      </p:sp>
      <p:sp>
        <p:nvSpPr>
          <p:cNvPr id="5" name="">
            <a:extLst xmlns:a="http://schemas.openxmlformats.org/drawingml/2006/main">
              <a:ext uri="{FF2B5EF4-FFF2-40B4-BE49-F238E27FC236}">
                <a16:creationId xmlns:a16="http://schemas.microsoft.com/office/drawing/2014/main" id="{3DFB4704-3943-47C7-A4BF-1F060DFC0001}"/>
              </a:ext>
            </a:extLst>
          </p:cNvPr>
          <p:cNvSpPr>
            <a:spLocks xmlns:a="http://schemas.openxmlformats.org/drawingml/2006/main" noGrp="1"/>
          </p:cNvSpPr>
          <p:nvPr/>
        </p:nvSpPr>
        <p:spPr>
          <a:xfrm xmlns:a="http://schemas.openxmlformats.org/drawingml/2006/main">
            <a:off x="4476750" y="2076450"/>
            <a:ext cx="3162300" cy="666750"/>
          </a:xfrm>
          <a:prstGeom xmlns:a="http://schemas.openxmlformats.org/drawingml/2006/main" prst="roundRect">
            <a:avLst>
              <a:gd name="adj" fmla="val 11429"/>
            </a:avLst>
          </a:prstGeom>
          <a:solidFill xmlns:a="http://schemas.openxmlformats.org/drawingml/2006/main">
            <a:srgbClr val="EDF5E9"/>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1" i="0">
                <a:solidFill>
                  <a:srgbClr val="5F9F4B"/>
                </a:solidFill>
                <a:latin typeface="Arial"/>
                <a:ea typeface="Arial"/>
                <a:cs typeface="Arial"/>
              </a:defRPr>
            </a:pPr>
            <a:r>
              <a:rPr sz="2250" b="1" i="0">
                <a:solidFill>
                  <a:srgbClr val="5F9F4B"/>
                </a:solidFill>
                <a:latin typeface="Arial"/>
                <a:ea typeface="Arial"/>
                <a:cs typeface="Arial"/>
              </a:rPr>
              <a:t>PROCESS</a:t>
            </a:r>
          </a:p>
        </p:txBody>
      </p:sp>
      <p:sp>
        <p:nvSpPr>
          <p:cNvPr id="6" name="">
            <a:extLst xmlns:a="http://schemas.openxmlformats.org/drawingml/2006/main">
              <a:ext uri="{FF2B5EF4-FFF2-40B4-BE49-F238E27FC236}">
                <a16:creationId xmlns:a16="http://schemas.microsoft.com/office/drawing/2014/main" id="{EAC3E392-8D55-4F9C-9226-E42907759CD8}"/>
              </a:ext>
            </a:extLst>
          </p:cNvPr>
          <p:cNvSpPr>
            <a:spLocks xmlns:a="http://schemas.openxmlformats.org/drawingml/2006/main" noGrp="1"/>
          </p:cNvSpPr>
          <p:nvPr/>
        </p:nvSpPr>
        <p:spPr>
          <a:xfrm xmlns:a="http://schemas.openxmlformats.org/drawingml/2006/main">
            <a:off x="4686300" y="3009900"/>
            <a:ext cx="2743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i="0">
                <a:solidFill>
                  <a:srgbClr val="172433"/>
                </a:solidFill>
                <a:latin typeface="Arial"/>
                <a:ea typeface="Arial"/>
                <a:cs typeface="Arial"/>
              </a:defRPr>
            </a:pPr>
            <a:r>
              <a:rPr sz="1800" b="0" i="0">
                <a:solidFill>
                  <a:srgbClr val="172433"/>
                </a:solidFill>
                <a:latin typeface="Arial"/>
                <a:ea typeface="Arial"/>
                <a:cs typeface="Arial"/>
              </a:rPr>
              <a:t>The steps the program follows</a:t>
            </a:r>
          </a:p>
        </p:txBody>
      </p:sp>
      <p:sp>
        <p:nvSpPr>
          <p:cNvPr id="7" name="">
            <a:extLst xmlns:a="http://schemas.openxmlformats.org/drawingml/2006/main">
              <a:ext uri="{FF2B5EF4-FFF2-40B4-BE49-F238E27FC236}">
                <a16:creationId xmlns:a16="http://schemas.microsoft.com/office/drawing/2014/main" id="{AB76040C-E2CB-446B-BA20-E095F30D449F}"/>
              </a:ext>
            </a:extLst>
          </p:cNvPr>
          <p:cNvSpPr>
            <a:spLocks xmlns:a="http://schemas.openxmlformats.org/drawingml/2006/main" noGrp="1"/>
          </p:cNvSpPr>
          <p:nvPr/>
        </p:nvSpPr>
        <p:spPr>
          <a:xfrm xmlns:a="http://schemas.openxmlformats.org/drawingml/2006/main">
            <a:off x="8115300" y="2076450"/>
            <a:ext cx="3162300" cy="666750"/>
          </a:xfrm>
          <a:prstGeom xmlns:a="http://schemas.openxmlformats.org/drawingml/2006/main" prst="roundRect">
            <a:avLst>
              <a:gd name="adj" fmla="val 11429"/>
            </a:avLst>
          </a:prstGeom>
          <a:solidFill xmlns:a="http://schemas.openxmlformats.org/drawingml/2006/main">
            <a:srgbClr val="FBECEC"/>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1" i="0">
                <a:solidFill>
                  <a:srgbClr val="DF6765"/>
                </a:solidFill>
                <a:latin typeface="Arial"/>
                <a:ea typeface="Arial"/>
                <a:cs typeface="Arial"/>
              </a:defRPr>
            </a:pPr>
            <a:r>
              <a:rPr sz="2250" b="1" i="0">
                <a:solidFill>
                  <a:srgbClr val="DF6765"/>
                </a:solidFill>
                <a:latin typeface="Arial"/>
                <a:ea typeface="Arial"/>
                <a:cs typeface="Arial"/>
              </a:rPr>
              <a:t>OUTPUT</a:t>
            </a:r>
          </a:p>
        </p:txBody>
      </p:sp>
      <p:sp>
        <p:nvSpPr>
          <p:cNvPr id="8" name="">
            <a:extLst xmlns:a="http://schemas.openxmlformats.org/drawingml/2006/main">
              <a:ext uri="{FF2B5EF4-FFF2-40B4-BE49-F238E27FC236}">
                <a16:creationId xmlns:a16="http://schemas.microsoft.com/office/drawing/2014/main" id="{9677197C-92E9-4D3F-A2FB-E795CBE5072D}"/>
              </a:ext>
            </a:extLst>
          </p:cNvPr>
          <p:cNvSpPr>
            <a:spLocks xmlns:a="http://schemas.openxmlformats.org/drawingml/2006/main" noGrp="1"/>
          </p:cNvSpPr>
          <p:nvPr/>
        </p:nvSpPr>
        <p:spPr>
          <a:xfrm xmlns:a="http://schemas.openxmlformats.org/drawingml/2006/main">
            <a:off x="8324850" y="3009900"/>
            <a:ext cx="2743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i="0">
                <a:solidFill>
                  <a:srgbClr val="172433"/>
                </a:solidFill>
                <a:latin typeface="Arial"/>
                <a:ea typeface="Arial"/>
                <a:cs typeface="Arial"/>
              </a:defRPr>
            </a:pPr>
            <a:r>
              <a:rPr sz="1800" b="0" i="0">
                <a:solidFill>
                  <a:srgbClr val="172433"/>
                </a:solidFill>
                <a:latin typeface="Arial"/>
                <a:ea typeface="Arial"/>
                <a:cs typeface="Arial"/>
              </a:rPr>
              <a:t>What the program produces</a:t>
            </a:r>
          </a:p>
        </p:txBody>
      </p:sp>
      <p:sp>
        <p:nvSpPr>
          <p:cNvPr id="9" name="">
            <a:extLst xmlns:a="http://schemas.openxmlformats.org/drawingml/2006/main">
              <a:ext uri="{FF2B5EF4-FFF2-40B4-BE49-F238E27FC236}">
                <a16:creationId xmlns:a16="http://schemas.microsoft.com/office/drawing/2014/main" id="{489431A0-EDE4-4328-AAE9-1EAE0924B1B2}"/>
              </a:ext>
            </a:extLst>
          </p:cNvPr>
          <p:cNvSpPr>
            <a:spLocks xmlns:a="http://schemas.openxmlformats.org/drawingml/2006/main" noGrp="1"/>
          </p:cNvSpPr>
          <p:nvPr/>
        </p:nvSpPr>
        <p:spPr>
          <a:xfrm xmlns:a="http://schemas.openxmlformats.org/drawingml/2006/main">
            <a:off x="1047750" y="4495800"/>
            <a:ext cx="2724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2F6F89"/>
                </a:solidFill>
                <a:latin typeface="Arial"/>
                <a:ea typeface="Arial"/>
                <a:cs typeface="Arial"/>
              </a:defRPr>
            </a:pPr>
            <a:r>
              <a:rPr sz="1875" b="1" i="0">
                <a:solidFill>
                  <a:srgbClr val="2F6F89"/>
                </a:solidFill>
                <a:latin typeface="Arial"/>
                <a:ea typeface="Arial"/>
                <a:cs typeface="Arial"/>
              </a:rPr>
              <a:t>Example: your name</a:t>
            </a:r>
          </a:p>
        </p:txBody>
      </p:sp>
      <p:sp>
        <p:nvSpPr>
          <p:cNvPr id="10" name="">
            <a:extLst xmlns:a="http://schemas.openxmlformats.org/drawingml/2006/main">
              <a:ext uri="{FF2B5EF4-FFF2-40B4-BE49-F238E27FC236}">
                <a16:creationId xmlns:a16="http://schemas.microsoft.com/office/drawing/2014/main" id="{90358C5E-AD2F-4055-A8A7-68B3B0AB32D0}"/>
              </a:ext>
            </a:extLst>
          </p:cNvPr>
          <p:cNvSpPr>
            <a:spLocks xmlns:a="http://schemas.openxmlformats.org/drawingml/2006/main" noGrp="1"/>
          </p:cNvSpPr>
          <p:nvPr/>
        </p:nvSpPr>
        <p:spPr>
          <a:xfrm xmlns:a="http://schemas.openxmlformats.org/drawingml/2006/main">
            <a:off x="4705350" y="4495800"/>
            <a:ext cx="2724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5F9F4B"/>
                </a:solidFill>
                <a:latin typeface="Arial"/>
                <a:ea typeface="Arial"/>
                <a:cs typeface="Arial"/>
              </a:defRPr>
            </a:pPr>
            <a:r>
              <a:rPr sz="1875" b="1" i="0">
                <a:solidFill>
                  <a:srgbClr val="5F9F4B"/>
                </a:solidFill>
                <a:latin typeface="Arial"/>
                <a:ea typeface="Arial"/>
                <a:cs typeface="Arial"/>
              </a:rPr>
              <a:t>Combine it with a greeting</a:t>
            </a:r>
          </a:p>
        </p:txBody>
      </p:sp>
      <p:sp>
        <p:nvSpPr>
          <p:cNvPr id="11" name="">
            <a:extLst xmlns:a="http://schemas.openxmlformats.org/drawingml/2006/main">
              <a:ext uri="{FF2B5EF4-FFF2-40B4-BE49-F238E27FC236}">
                <a16:creationId xmlns:a16="http://schemas.microsoft.com/office/drawing/2014/main" id="{2C5475B7-7EE6-4EA4-9756-73E6EDB32515}"/>
              </a:ext>
            </a:extLst>
          </p:cNvPr>
          <p:cNvSpPr>
            <a:spLocks xmlns:a="http://schemas.openxmlformats.org/drawingml/2006/main" noGrp="1"/>
          </p:cNvSpPr>
          <p:nvPr/>
        </p:nvSpPr>
        <p:spPr>
          <a:xfrm xmlns:a="http://schemas.openxmlformats.org/drawingml/2006/main">
            <a:off x="8324850" y="4495800"/>
            <a:ext cx="2724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DF6765"/>
                </a:solidFill>
                <a:latin typeface="Arial"/>
                <a:ea typeface="Arial"/>
                <a:cs typeface="Arial"/>
              </a:defRPr>
            </a:pPr>
            <a:r>
              <a:rPr sz="1875" b="1" i="0">
                <a:solidFill>
                  <a:srgbClr val="DF6765"/>
                </a:solidFill>
                <a:latin typeface="Arial"/>
                <a:ea typeface="Arial"/>
                <a:cs typeface="Arial"/>
              </a:rPr>
              <a:t>Hello, Maya!</a:t>
            </a:r>
          </a:p>
        </p:txBody>
      </p:sp>
      <p:sp>
        <p:nvSpPr>
          <p:cNvPr id="12" name="">
            <a:extLst xmlns:a="http://schemas.openxmlformats.org/drawingml/2006/main">
              <a:ext uri="{FF2B5EF4-FFF2-40B4-BE49-F238E27FC236}">
                <a16:creationId xmlns:a16="http://schemas.microsoft.com/office/drawing/2014/main" id="{22D493B3-96FF-45B4-A4BD-D2C4103B0A3A}"/>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i="0">
                <a:solidFill>
                  <a:srgbClr val="5D6B78"/>
                </a:solidFill>
                <a:latin typeface="Arial"/>
                <a:ea typeface="Arial"/>
                <a:cs typeface="Arial"/>
              </a:defRPr>
            </a:pPr>
            <a:r>
              <a:rPr sz="1200" b="0" i="0">
                <a:solidFill>
                  <a:srgbClr val="5D6B78"/>
                </a:solidFill>
                <a:latin typeface="Arial"/>
                <a:ea typeface="Arial"/>
                <a:cs typeface="Arial"/>
              </a:rPr>
              <a:t>9:50-10:25 | Lesson and live coding</a:t>
            </a:r>
          </a:p>
        </p:txBody>
      </p:sp>
    </p:spTree>
    <p:extLst>
      <p:ext uri="{BB962C8B-B14F-4D97-AF65-F5344CB8AC3E}">
        <p14:creationId xmlns:p14="http://schemas.microsoft.com/office/powerpoint/2010/main" val="89799441"/>
      </p:ext>
    </p:extLst>
  </p:cSld>
</p:sld>
</file>

<file path=ppt/slides/slide8.xml><?xml version="1.0" encoding="utf-8"?>
<p:sld xmlns:p="http://schemas.openxmlformats.org/presentationml/2006/main">
  <p:cSld>
    <p:bg>
      <p:bgPr>
        <a:solidFill xmlns:a="http://schemas.openxmlformats.org/drawingml/2006/main">
          <a:srgbClr val="173654"/>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ADAFA25-026D-4ABA-ABA1-5A52EFE19981}"/>
              </a:ext>
            </a:extLst>
          </p:cNvPr>
          <p:cNvSpPr>
            <a:spLocks xmlns:a="http://schemas.openxmlformats.org/drawingml/2006/main" noGrp="1"/>
          </p:cNvSpPr>
          <p:nvPr/>
        </p:nvSpPr>
        <p:spPr>
          <a:xfrm xmlns:a="http://schemas.openxmlformats.org/drawingml/2006/main">
            <a:off x="685800" y="5143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00" b="1" i="0">
                <a:solidFill>
                  <a:srgbClr val="FFFFFF"/>
                </a:solidFill>
                <a:latin typeface="Arial"/>
                <a:ea typeface="Arial"/>
                <a:cs typeface="Arial"/>
              </a:defRPr>
            </a:pPr>
            <a:r>
              <a:rPr sz="3000" b="1" i="0">
                <a:solidFill>
                  <a:srgbClr val="FFFFFF"/>
                </a:solidFill>
                <a:latin typeface="Arial"/>
                <a:ea typeface="Arial"/>
                <a:cs typeface="Arial"/>
              </a:rPr>
              <a:t>Your first Python program</a:t>
            </a:r>
          </a:p>
        </p:txBody>
      </p:sp>
      <p:sp>
        <p:nvSpPr>
          <p:cNvPr id="2" name="">
            <a:extLst xmlns:a="http://schemas.openxmlformats.org/drawingml/2006/main">
              <a:ext uri="{FF2B5EF4-FFF2-40B4-BE49-F238E27FC236}">
                <a16:creationId xmlns:a16="http://schemas.microsoft.com/office/drawing/2014/main" id="{33654394-9E1D-4E59-987C-26F1F2094E70}"/>
              </a:ext>
            </a:extLst>
          </p:cNvPr>
          <p:cNvSpPr>
            <a:spLocks xmlns:a="http://schemas.openxmlformats.org/drawingml/2006/main" noGrp="1"/>
          </p:cNvSpPr>
          <p:nvPr/>
        </p:nvSpPr>
        <p:spPr>
          <a:xfrm xmlns:a="http://schemas.openxmlformats.org/drawingml/2006/main">
            <a:off x="838200" y="1790700"/>
            <a:ext cx="8572500" cy="1809750"/>
          </a:xfrm>
          <a:prstGeom xmlns:a="http://schemas.openxmlformats.org/drawingml/2006/main" prst="roundRect">
            <a:avLst>
              <a:gd name="adj" fmla="val 4211"/>
            </a:avLst>
          </a:prstGeom>
          <a:solidFill xmlns:a="http://schemas.openxmlformats.org/drawingml/2006/main">
            <a:srgbClr val="0F263D"/>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0" i="0">
                <a:solidFill>
                  <a:srgbClr val="D9F2CF"/>
                </a:solidFill>
                <a:latin typeface="Consolas"/>
                <a:ea typeface="Consolas"/>
                <a:cs typeface="Consolas"/>
              </a:defRPr>
            </a:pPr>
            <a:r>
              <a:rPr sz="2550" b="0" i="0">
                <a:solidFill>
                  <a:srgbClr val="D9F2CF"/>
                </a:solidFill>
                <a:latin typeface="Consolas"/>
                <a:ea typeface="Consolas"/>
                <a:cs typeface="Consolas"/>
              </a:rPr>
              <a:t>print("Hello, Project Syncere!")</a:t>
            </a:r>
          </a:p>
          <a:p xmlns:a="http://schemas.openxmlformats.org/drawingml/2006/main">
            <a:pPr>
              <a:defRPr sz="2550" b="0" i="0">
                <a:solidFill>
                  <a:srgbClr val="D9F2CF"/>
                </a:solidFill>
                <a:latin typeface="Consolas"/>
                <a:ea typeface="Consolas"/>
                <a:cs typeface="Consolas"/>
              </a:defRPr>
            </a:pPr>
            <a:r>
              <a:rPr sz="2550" b="0" i="0">
                <a:solidFill>
                  <a:srgbClr val="D9F2CF"/>
                </a:solidFill>
                <a:latin typeface="Consolas"/>
                <a:ea typeface="Consolas"/>
                <a:cs typeface="Consolas"/>
              </a:rPr>
              <a:t>print("Welcome to computer science.")</a:t>
            </a:r>
          </a:p>
        </p:txBody>
      </p:sp>
      <p:sp>
        <p:nvSpPr>
          <p:cNvPr id="3" name="">
            <a:extLst xmlns:a="http://schemas.openxmlformats.org/drawingml/2006/main">
              <a:ext uri="{FF2B5EF4-FFF2-40B4-BE49-F238E27FC236}">
                <a16:creationId xmlns:a16="http://schemas.microsoft.com/office/drawing/2014/main" id="{9D09D597-AD6A-4389-AB33-5847B344E907}"/>
              </a:ext>
            </a:extLst>
          </p:cNvPr>
          <p:cNvSpPr>
            <a:spLocks xmlns:a="http://schemas.openxmlformats.org/drawingml/2006/main" noGrp="1"/>
          </p:cNvSpPr>
          <p:nvPr/>
        </p:nvSpPr>
        <p:spPr>
          <a:xfrm xmlns:a="http://schemas.openxmlformats.org/drawingml/2006/main">
            <a:off x="857250" y="4171950"/>
            <a:ext cx="2286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1" i="0">
                <a:solidFill>
                  <a:srgbClr val="FFB1AD"/>
                </a:solidFill>
                <a:latin typeface="Arial"/>
                <a:ea typeface="Arial"/>
                <a:cs typeface="Arial"/>
              </a:defRPr>
            </a:pPr>
            <a:r>
              <a:rPr sz="2250" b="1" i="0">
                <a:solidFill>
                  <a:srgbClr val="FFB1AD"/>
                </a:solidFill>
                <a:latin typeface="Arial"/>
                <a:ea typeface="Arial"/>
                <a:cs typeface="Arial"/>
              </a:rPr>
              <a:t>Predict first</a:t>
            </a:r>
          </a:p>
        </p:txBody>
      </p:sp>
      <p:sp>
        <p:nvSpPr>
          <p:cNvPr id="4" name="">
            <a:extLst xmlns:a="http://schemas.openxmlformats.org/drawingml/2006/main">
              <a:ext uri="{FF2B5EF4-FFF2-40B4-BE49-F238E27FC236}">
                <a16:creationId xmlns:a16="http://schemas.microsoft.com/office/drawing/2014/main" id="{38361CE1-3899-4422-B0B8-EEEE354D87A5}"/>
              </a:ext>
            </a:extLst>
          </p:cNvPr>
          <p:cNvSpPr>
            <a:spLocks xmlns:a="http://schemas.openxmlformats.org/drawingml/2006/main" noGrp="1"/>
          </p:cNvSpPr>
          <p:nvPr/>
        </p:nvSpPr>
        <p:spPr>
          <a:xfrm xmlns:a="http://schemas.openxmlformats.org/drawingml/2006/main">
            <a:off x="3238500" y="4171950"/>
            <a:ext cx="7524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i="0">
                <a:solidFill>
                  <a:srgbClr val="FFFFFF"/>
                </a:solidFill>
                <a:latin typeface="Arial"/>
                <a:ea typeface="Arial"/>
                <a:cs typeface="Arial"/>
              </a:defRPr>
            </a:pPr>
            <a:r>
              <a:rPr sz="2100" b="0" i="0">
                <a:solidFill>
                  <a:srgbClr val="FFFFFF"/>
                </a:solidFill>
                <a:latin typeface="Arial"/>
                <a:ea typeface="Arial"/>
                <a:cs typeface="Arial"/>
              </a:rPr>
              <a:t>What will appear when this program runs?</a:t>
            </a:r>
          </a:p>
        </p:txBody>
      </p:sp>
      <p:sp>
        <p:nvSpPr>
          <p:cNvPr id="5" name="">
            <a:extLst xmlns:a="http://schemas.openxmlformats.org/drawingml/2006/main">
              <a:ext uri="{FF2B5EF4-FFF2-40B4-BE49-F238E27FC236}">
                <a16:creationId xmlns:a16="http://schemas.microsoft.com/office/drawing/2014/main" id="{1A82DAA0-446B-4F13-AF82-04DE26B1190E}"/>
              </a:ext>
            </a:extLst>
          </p:cNvPr>
          <p:cNvSpPr>
            <a:spLocks xmlns:a="http://schemas.openxmlformats.org/drawingml/2006/main" noGrp="1"/>
          </p:cNvSpPr>
          <p:nvPr/>
        </p:nvSpPr>
        <p:spPr>
          <a:xfrm xmlns:a="http://schemas.openxmlformats.org/drawingml/2006/main">
            <a:off x="857250" y="495300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i="0">
                <a:solidFill>
                  <a:srgbClr val="FFFFFF"/>
                </a:solidFill>
                <a:latin typeface="Arial"/>
                <a:ea typeface="Arial"/>
                <a:cs typeface="Arial"/>
              </a:defRPr>
            </a:pPr>
            <a:r>
              <a:rPr sz="1950" b="0" i="0">
                <a:solidFill>
                  <a:srgbClr val="FFFFFF"/>
                </a:solidFill>
                <a:latin typeface="Arial"/>
                <a:ea typeface="Arial"/>
                <a:cs typeface="Arial"/>
              </a:rPr>
              <a:t>Then change one message and run it again.</a:t>
            </a:r>
          </a:p>
        </p:txBody>
      </p:sp>
    </p:spTree>
    <p:extLst>
      <p:ext uri="{BB962C8B-B14F-4D97-AF65-F5344CB8AC3E}">
        <p14:creationId xmlns:p14="http://schemas.microsoft.com/office/powerpoint/2010/main" val="309618594"/>
      </p:ext>
    </p:extLst>
  </p:cSld>
</p:sld>
</file>

<file path=ppt/slides/slide9.xml><?xml version="1.0" encoding="utf-8"?>
<p:sld xmlns:p="http://schemas.openxmlformats.org/presentationml/2006/main">
  <p:cSld>
    <p:bg>
      <p:bgPr>
        <a:solidFill xmlns:a="http://schemas.openxmlformats.org/drawingml/2006/main">
          <a:srgbClr val="DF676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A141C57-347B-43F1-8EAF-B664FE026072}"/>
              </a:ext>
            </a:extLst>
          </p:cNvPr>
          <p:cNvSpPr>
            <a:spLocks xmlns:a="http://schemas.openxmlformats.org/drawingml/2006/main" noGrp="1"/>
          </p:cNvSpPr>
          <p:nvPr/>
        </p:nvSpPr>
        <p:spPr>
          <a:xfrm xmlns:a="http://schemas.openxmlformats.org/drawingml/2006/main">
            <a:off x="685800" y="2095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5400" b="1" i="0">
                <a:solidFill>
                  <a:srgbClr val="FFFFFF"/>
                </a:solidFill>
                <a:latin typeface="Arial"/>
                <a:ea typeface="Arial"/>
                <a:cs typeface="Arial"/>
              </a:defRPr>
            </a:pPr>
            <a:r>
              <a:rPr sz="5400" b="1" i="0">
                <a:solidFill>
                  <a:srgbClr val="FFFFFF"/>
                </a:solidFill>
                <a:latin typeface="Arial"/>
                <a:ea typeface="Arial"/>
                <a:cs typeface="Arial"/>
              </a:rPr>
              <a:t>Break</a:t>
            </a:r>
          </a:p>
        </p:txBody>
      </p:sp>
      <p:sp>
        <p:nvSpPr>
          <p:cNvPr id="2" name="">
            <a:extLst xmlns:a="http://schemas.openxmlformats.org/drawingml/2006/main">
              <a:ext uri="{FF2B5EF4-FFF2-40B4-BE49-F238E27FC236}">
                <a16:creationId xmlns:a16="http://schemas.microsoft.com/office/drawing/2014/main" id="{9EACD736-5263-4EF7-BAB3-A05CAD6D8870}"/>
              </a:ext>
            </a:extLst>
          </p:cNvPr>
          <p:cNvSpPr>
            <a:spLocks xmlns:a="http://schemas.openxmlformats.org/drawingml/2006/main" noGrp="1"/>
          </p:cNvSpPr>
          <p:nvPr/>
        </p:nvSpPr>
        <p:spPr>
          <a:xfrm xmlns:a="http://schemas.openxmlformats.org/drawingml/2006/main">
            <a:off x="685800" y="32385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00" b="0" i="0">
                <a:solidFill>
                  <a:srgbClr val="FFFFFF"/>
                </a:solidFill>
                <a:latin typeface="Arial"/>
                <a:ea typeface="Arial"/>
                <a:cs typeface="Arial"/>
              </a:defRPr>
            </a:pPr>
            <a:r>
              <a:rPr sz="2700" b="0" i="0">
                <a:solidFill>
                  <a:srgbClr val="FFFFFF"/>
                </a:solidFill>
                <a:latin typeface="Arial"/>
                <a:ea typeface="Arial"/>
                <a:cs typeface="Arial"/>
              </a:rPr>
              <a:t>10:25-10:35</a:t>
            </a:r>
          </a:p>
        </p:txBody>
      </p:sp>
      <p:sp>
        <p:nvSpPr>
          <p:cNvPr id="3" name="">
            <a:extLst xmlns:a="http://schemas.openxmlformats.org/drawingml/2006/main">
              <a:ext uri="{FF2B5EF4-FFF2-40B4-BE49-F238E27FC236}">
                <a16:creationId xmlns:a16="http://schemas.microsoft.com/office/drawing/2014/main" id="{1A4460CF-0A00-4E3F-9DD6-FD6D9943738D}"/>
              </a:ext>
            </a:extLst>
          </p:cNvPr>
          <p:cNvSpPr>
            <a:spLocks xmlns:a="http://schemas.openxmlformats.org/drawingml/2006/main" noGrp="1"/>
          </p:cNvSpPr>
          <p:nvPr/>
        </p:nvSpPr>
        <p:spPr>
          <a:xfrm xmlns:a="http://schemas.openxmlformats.org/drawingml/2006/main">
            <a:off x="685800" y="417195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i="0">
                <a:solidFill>
                  <a:srgbClr val="FFFFFF"/>
                </a:solidFill>
                <a:latin typeface="Arial"/>
                <a:ea typeface="Arial"/>
                <a:cs typeface="Arial"/>
              </a:defRPr>
            </a:pPr>
            <a:r>
              <a:rPr sz="1875" b="0" i="0">
                <a:solidFill>
                  <a:srgbClr val="FFFFFF"/>
                </a:solidFill>
                <a:latin typeface="Arial"/>
                <a:ea typeface="Arial"/>
                <a:cs typeface="Arial"/>
              </a:rPr>
              <a:t>Step away from your screen. Return ready to code.</a:t>
            </a:r>
          </a:p>
        </p:txBody>
      </p:sp>
    </p:spTree>
    <p:extLst>
      <p:ext uri="{BB962C8B-B14F-4D97-AF65-F5344CB8AC3E}">
        <p14:creationId xmlns:p14="http://schemas.microsoft.com/office/powerpoint/2010/main" val="16494393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979960C-E0D4-412F-AA25-EC5FB719E002}"/>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00" b="1" i="0">
                <a:solidFill>
                  <a:srgbClr val="173654"/>
                </a:solidFill>
                <a:latin typeface="Arial"/>
                <a:ea typeface="Arial"/>
                <a:cs typeface="Arial"/>
              </a:defRPr>
            </a:pPr>
            <a:r>
              <a:rPr sz="3000" b="1" i="0">
                <a:solidFill>
                  <a:srgbClr val="173654"/>
                </a:solidFill>
                <a:latin typeface="Arial"/>
                <a:ea typeface="Arial"/>
                <a:cs typeface="Arial"/>
              </a:rPr>
              <a:t>Guided Python lab</a:t>
            </a:r>
          </a:p>
        </p:txBody>
      </p:sp>
      <p:sp>
        <p:nvSpPr>
          <p:cNvPr id="2" name="">
            <a:extLst xmlns:a="http://schemas.openxmlformats.org/drawingml/2006/main">
              <a:ext uri="{FF2B5EF4-FFF2-40B4-BE49-F238E27FC236}">
                <a16:creationId xmlns:a16="http://schemas.microsoft.com/office/drawing/2014/main" id="{1C718188-554D-43B2-86D1-D7D3608B8707}"/>
              </a:ext>
            </a:extLst>
          </p:cNvPr>
          <p:cNvSpPr>
            <a:spLocks xmlns:a="http://schemas.openxmlformats.org/drawingml/2006/main" noGrp="1"/>
          </p:cNvSpPr>
          <p:nvPr/>
        </p:nvSpPr>
        <p:spPr>
          <a:xfrm xmlns:a="http://schemas.openxmlformats.org/drawingml/2006/main">
            <a:off x="704850" y="10096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i="0">
                <a:solidFill>
                  <a:srgbClr val="5D6B78"/>
                </a:solidFill>
                <a:latin typeface="Arial"/>
                <a:ea typeface="Arial"/>
                <a:cs typeface="Arial"/>
              </a:defRPr>
            </a:pPr>
            <a:r>
              <a:rPr sz="1575" b="0" i="0">
                <a:solidFill>
                  <a:srgbClr val="5D6B78"/>
                </a:solidFill>
                <a:latin typeface="Arial"/>
                <a:ea typeface="Arial"/>
                <a:cs typeface="Arial"/>
              </a:rPr>
              <a:t>Work with the class first, then repeat the steps independently</a:t>
            </a:r>
          </a:p>
        </p:txBody>
      </p:sp>
      <p:sp>
        <p:nvSpPr>
          <p:cNvPr id="3" name="">
            <a:extLst xmlns:a="http://schemas.openxmlformats.org/drawingml/2006/main">
              <a:ext uri="{FF2B5EF4-FFF2-40B4-BE49-F238E27FC236}">
                <a16:creationId xmlns:a16="http://schemas.microsoft.com/office/drawing/2014/main" id="{228A6BAB-20C5-48D5-BDAE-02ED7409AF30}"/>
              </a:ext>
            </a:extLst>
          </p:cNvPr>
          <p:cNvSpPr>
            <a:spLocks xmlns:a="http://schemas.openxmlformats.org/drawingml/2006/main" noGrp="1"/>
          </p:cNvSpPr>
          <p:nvPr/>
        </p:nvSpPr>
        <p:spPr>
          <a:xfrm xmlns:a="http://schemas.openxmlformats.org/drawingml/2006/main">
            <a:off x="857250" y="1676400"/>
            <a:ext cx="723900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27000">
              <a:spcAft>
                <a:spcPts val="1200"/>
              </a:spcAft>
              <a:buChar char="•"/>
              <a:defRPr sz="2025">
                <a:solidFill>
                  <a:srgbClr val="172433"/>
                </a:solidFill>
                <a:latin typeface="Arial"/>
                <a:ea typeface="Arial"/>
                <a:cs typeface="Arial"/>
              </a:defRPr>
            </a:pPr>
            <a:r>
              <a:rPr sz="2025">
                <a:solidFill>
                  <a:srgbClr val="172433"/>
                </a:solidFill>
                <a:latin typeface="Arial"/>
                <a:ea typeface="Arial"/>
                <a:cs typeface="Arial"/>
              </a:rPr>
              <a:t>Open the course repository in Visual Studio Code</a:t>
            </a:r>
          </a:p>
          <a:p xmlns:a="http://schemas.openxmlformats.org/drawingml/2006/main">
            <a:pPr marL="254000" indent="-127000">
              <a:spcAft>
                <a:spcPts val="1200"/>
              </a:spcAft>
              <a:buChar char="•"/>
              <a:defRPr sz="2025">
                <a:solidFill>
                  <a:srgbClr val="172433"/>
                </a:solidFill>
                <a:latin typeface="Arial"/>
                <a:ea typeface="Arial"/>
                <a:cs typeface="Arial"/>
              </a:defRPr>
            </a:pPr>
            <a:r>
              <a:rPr sz="2025">
                <a:solidFill>
                  <a:srgbClr val="172433"/>
                </a:solidFill>
                <a:latin typeface="Arial"/>
                <a:ea typeface="Arial"/>
                <a:cs typeface="Arial"/>
              </a:rPr>
              <a:t>Run setup/verify_setup.py</a:t>
            </a:r>
          </a:p>
          <a:p xmlns:a="http://schemas.openxmlformats.org/drawingml/2006/main">
            <a:pPr marL="254000" indent="-127000">
              <a:spcAft>
                <a:spcPts val="1200"/>
              </a:spcAft>
              <a:buChar char="•"/>
              <a:defRPr sz="2025">
                <a:solidFill>
                  <a:srgbClr val="172433"/>
                </a:solidFill>
                <a:latin typeface="Arial"/>
                <a:ea typeface="Arial"/>
                <a:cs typeface="Arial"/>
              </a:defRPr>
            </a:pPr>
            <a:r>
              <a:rPr sz="2025">
                <a:solidFill>
                  <a:srgbClr val="172433"/>
                </a:solidFill>
                <a:latin typeface="Arial"/>
                <a:ea typeface="Arial"/>
                <a:cs typeface="Arial"/>
              </a:rPr>
              <a:t>Run week-01-python-basics/examples/hello.py</a:t>
            </a:r>
          </a:p>
          <a:p xmlns:a="http://schemas.openxmlformats.org/drawingml/2006/main">
            <a:pPr marL="254000" indent="-127000">
              <a:spcAft>
                <a:spcPts val="1200"/>
              </a:spcAft>
              <a:buChar char="•"/>
              <a:defRPr sz="2025">
                <a:solidFill>
                  <a:srgbClr val="172433"/>
                </a:solidFill>
                <a:latin typeface="Arial"/>
                <a:ea typeface="Arial"/>
                <a:cs typeface="Arial"/>
              </a:defRPr>
            </a:pPr>
            <a:r>
              <a:rPr sz="2025">
                <a:solidFill>
                  <a:srgbClr val="172433"/>
                </a:solidFill>
                <a:latin typeface="Arial"/>
                <a:ea typeface="Arial"/>
                <a:cs typeface="Arial"/>
              </a:rPr>
              <a:t>Change every displayed message</a:t>
            </a:r>
          </a:p>
          <a:p xmlns:a="http://schemas.openxmlformats.org/drawingml/2006/main">
            <a:pPr marL="254000" indent="-127000">
              <a:spcAft>
                <a:spcPts val="1200"/>
              </a:spcAft>
              <a:buChar char="•"/>
              <a:defRPr sz="2025">
                <a:solidFill>
                  <a:srgbClr val="172433"/>
                </a:solidFill>
                <a:latin typeface="Arial"/>
                <a:ea typeface="Arial"/>
                <a:cs typeface="Arial"/>
              </a:defRPr>
            </a:pPr>
            <a:r>
              <a:rPr sz="2025">
                <a:solidFill>
                  <a:srgbClr val="172433"/>
                </a:solidFill>
                <a:latin typeface="Arial"/>
                <a:ea typeface="Arial"/>
                <a:cs typeface="Arial"/>
              </a:rPr>
              <a:t>Create one error, read it, and repair it</a:t>
            </a:r>
          </a:p>
        </p:txBody>
      </p:sp>
      <p:sp>
        <p:nvSpPr>
          <p:cNvPr id="4" name="">
            <a:extLst xmlns:a="http://schemas.openxmlformats.org/drawingml/2006/main">
              <a:ext uri="{FF2B5EF4-FFF2-40B4-BE49-F238E27FC236}">
                <a16:creationId xmlns:a16="http://schemas.microsoft.com/office/drawing/2014/main" id="{5B640723-2BFB-49A0-BA26-D3E90B02D131}"/>
              </a:ext>
            </a:extLst>
          </p:cNvPr>
          <p:cNvSpPr>
            <a:spLocks xmlns:a="http://schemas.openxmlformats.org/drawingml/2006/main" noGrp="1"/>
          </p:cNvSpPr>
          <p:nvPr/>
        </p:nvSpPr>
        <p:spPr>
          <a:xfrm xmlns:a="http://schemas.openxmlformats.org/drawingml/2006/main">
            <a:off x="8286750" y="1752600"/>
            <a:ext cx="276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i="0">
                <a:solidFill>
                  <a:srgbClr val="2F6F89"/>
                </a:solidFill>
                <a:latin typeface="Arial"/>
                <a:ea typeface="Arial"/>
                <a:cs typeface="Arial"/>
              </a:defRPr>
            </a:pPr>
            <a:r>
              <a:rPr sz="1800" b="1" i="0">
                <a:solidFill>
                  <a:srgbClr val="2F6F89"/>
                </a:solidFill>
                <a:latin typeface="Arial"/>
                <a:ea typeface="Arial"/>
                <a:cs typeface="Arial"/>
              </a:rPr>
              <a:t>Command</a:t>
            </a:r>
          </a:p>
        </p:txBody>
      </p:sp>
      <p:sp>
        <p:nvSpPr>
          <p:cNvPr id="5" name="">
            <a:extLst xmlns:a="http://schemas.openxmlformats.org/drawingml/2006/main">
              <a:ext uri="{FF2B5EF4-FFF2-40B4-BE49-F238E27FC236}">
                <a16:creationId xmlns:a16="http://schemas.microsoft.com/office/drawing/2014/main" id="{777C26C0-EEA8-4EC0-8506-3B3C2A967AA9}"/>
              </a:ext>
            </a:extLst>
          </p:cNvPr>
          <p:cNvSpPr>
            <a:spLocks xmlns:a="http://schemas.openxmlformats.org/drawingml/2006/main" noGrp="1"/>
          </p:cNvSpPr>
          <p:nvPr/>
        </p:nvSpPr>
        <p:spPr>
          <a:xfrm xmlns:a="http://schemas.openxmlformats.org/drawingml/2006/main">
            <a:off x="8248650" y="2305050"/>
            <a:ext cx="3143250" cy="1428750"/>
          </a:xfrm>
          <a:prstGeom xmlns:a="http://schemas.openxmlformats.org/drawingml/2006/main" prst="roundRect">
            <a:avLst>
              <a:gd name="adj" fmla="val 5333"/>
            </a:avLst>
          </a:prstGeom>
          <a:solidFill xmlns:a="http://schemas.openxmlformats.org/drawingml/2006/main">
            <a:srgbClr val="173654"/>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i="0">
                <a:solidFill>
                  <a:srgbClr val="FFFFFF"/>
                </a:solidFill>
                <a:latin typeface="Consolas"/>
                <a:ea typeface="Consolas"/>
                <a:cs typeface="Consolas"/>
              </a:defRPr>
            </a:pPr>
            <a:r>
              <a:rPr sz="1725" b="0" i="0">
                <a:solidFill>
                  <a:srgbClr val="FFFFFF"/>
                </a:solidFill>
                <a:latin typeface="Consolas"/>
                <a:ea typeface="Consolas"/>
                <a:cs typeface="Consolas"/>
              </a:rPr>
              <a:t>python week-01-python-basics/</a:t>
            </a:r>
          </a:p>
          <a:p xmlns:a="http://schemas.openxmlformats.org/drawingml/2006/main">
            <a:pPr>
              <a:defRPr sz="1725" b="0" i="0">
                <a:solidFill>
                  <a:srgbClr val="FFFFFF"/>
                </a:solidFill>
                <a:latin typeface="Consolas"/>
                <a:ea typeface="Consolas"/>
                <a:cs typeface="Consolas"/>
              </a:defRPr>
            </a:pPr>
            <a:r>
              <a:rPr sz="1725" b="0" i="0">
                <a:solidFill>
                  <a:srgbClr val="FFFFFF"/>
                </a:solidFill>
                <a:latin typeface="Consolas"/>
                <a:ea typeface="Consolas"/>
                <a:cs typeface="Consolas"/>
              </a:rPr>
              <a:t>examples/hello.py</a:t>
            </a:r>
          </a:p>
        </p:txBody>
      </p:sp>
      <p:sp>
        <p:nvSpPr>
          <p:cNvPr id="6" name="">
            <a:extLst xmlns:a="http://schemas.openxmlformats.org/drawingml/2006/main">
              <a:ext uri="{FF2B5EF4-FFF2-40B4-BE49-F238E27FC236}">
                <a16:creationId xmlns:a16="http://schemas.microsoft.com/office/drawing/2014/main" id="{CD7F5DAC-A51A-4F04-9EC4-057E612687A3}"/>
              </a:ext>
            </a:extLst>
          </p:cNvPr>
          <p:cNvSpPr>
            <a:spLocks xmlns:a="http://schemas.openxmlformats.org/drawingml/2006/main" noGrp="1"/>
          </p:cNvSpPr>
          <p:nvPr/>
        </p:nvSpPr>
        <p:spPr>
          <a:xfrm xmlns:a="http://schemas.openxmlformats.org/drawingml/2006/main">
            <a:off x="8248650" y="4171950"/>
            <a:ext cx="3143250" cy="952500"/>
          </a:xfrm>
          <a:prstGeom xmlns:a="http://schemas.openxmlformats.org/drawingml/2006/main" prst="roundRect">
            <a:avLst>
              <a:gd name="adj" fmla="val 8000"/>
            </a:avLst>
          </a:prstGeom>
          <a:solidFill xmlns:a="http://schemas.openxmlformats.org/drawingml/2006/main">
            <a:srgbClr val="EAF2F7"/>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i="0">
                <a:solidFill>
                  <a:srgbClr val="172433"/>
                </a:solidFill>
                <a:latin typeface="Arial"/>
                <a:ea typeface="Arial"/>
                <a:cs typeface="Arial"/>
              </a:defRPr>
            </a:pPr>
            <a:r>
              <a:rPr sz="1650" b="0" i="0">
                <a:solidFill>
                  <a:srgbClr val="172433"/>
                </a:solidFill>
                <a:latin typeface="Arial"/>
                <a:ea typeface="Arial"/>
                <a:cs typeface="Arial"/>
              </a:rPr>
              <a:t>Ask for help with the complete error message visible.</a:t>
            </a:r>
          </a:p>
        </p:txBody>
      </p:sp>
      <p:sp>
        <p:nvSpPr>
          <p:cNvPr id="7" name="">
            <a:extLst xmlns:a="http://schemas.openxmlformats.org/drawingml/2006/main">
              <a:ext uri="{FF2B5EF4-FFF2-40B4-BE49-F238E27FC236}">
                <a16:creationId xmlns:a16="http://schemas.microsoft.com/office/drawing/2014/main" id="{A7EDEA0D-918A-4E99-A043-A4D3BC0CE7A9}"/>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i="0">
                <a:solidFill>
                  <a:srgbClr val="5D6B78"/>
                </a:solidFill>
                <a:latin typeface="Arial"/>
                <a:ea typeface="Arial"/>
                <a:cs typeface="Arial"/>
              </a:defRPr>
            </a:pPr>
            <a:r>
              <a:rPr sz="1200" b="0" i="0">
                <a:solidFill>
                  <a:srgbClr val="5D6B78"/>
                </a:solidFill>
                <a:latin typeface="Arial"/>
                <a:ea typeface="Arial"/>
                <a:cs typeface="Arial"/>
              </a:rPr>
              <a:t>10:35-11:20 | Guided lab</a:t>
            </a:r>
          </a:p>
        </p:txBody>
      </p:sp>
    </p:spTree>
    <p:extLst>
      <p:ext uri="{BB962C8B-B14F-4D97-AF65-F5344CB8AC3E}">
        <p14:creationId xmlns:p14="http://schemas.microsoft.com/office/powerpoint/2010/main" val="742153838"/>
      </p:ext>
    </p:extLst>
  </p:cSld>
</p:sld>
</file>

<file path=ppt/slides/slide11.xml><?xml version="1.0" encoding="utf-8"?>
<p:sld xmlns:p="http://schemas.openxmlformats.org/presentationml/2006/main">
  <p:cSld>
    <p:bg>
      <p:bgPr>
        <a:solidFill xmlns:a="http://schemas.openxmlformats.org/drawingml/2006/main">
          <a:srgbClr val="3C8994"/>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91A1703-162C-4E42-845B-E311CA9606D6}"/>
              </a:ext>
            </a:extLst>
          </p:cNvPr>
          <p:cNvSpPr>
            <a:spLocks xmlns:a="http://schemas.openxmlformats.org/drawingml/2006/main" noGrp="1"/>
          </p:cNvSpPr>
          <p:nvPr/>
        </p:nvSpPr>
        <p:spPr>
          <a:xfrm xmlns:a="http://schemas.openxmlformats.org/drawingml/2006/main">
            <a:off x="685800" y="2095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5400" b="1" i="0">
                <a:solidFill>
                  <a:srgbClr val="FFFFFF"/>
                </a:solidFill>
                <a:latin typeface="Arial"/>
                <a:ea typeface="Arial"/>
                <a:cs typeface="Arial"/>
              </a:defRPr>
            </a:pPr>
            <a:r>
              <a:rPr sz="5400" b="1" i="0">
                <a:solidFill>
                  <a:srgbClr val="FFFFFF"/>
                </a:solidFill>
                <a:latin typeface="Arial"/>
                <a:ea typeface="Arial"/>
                <a:cs typeface="Arial"/>
              </a:rPr>
              <a:t>Break</a:t>
            </a:r>
          </a:p>
        </p:txBody>
      </p:sp>
      <p:sp>
        <p:nvSpPr>
          <p:cNvPr id="2" name="">
            <a:extLst xmlns:a="http://schemas.openxmlformats.org/drawingml/2006/main">
              <a:ext uri="{FF2B5EF4-FFF2-40B4-BE49-F238E27FC236}">
                <a16:creationId xmlns:a16="http://schemas.microsoft.com/office/drawing/2014/main" id="{EA00AD43-51E3-45DA-B5E3-CAD727906AA1}"/>
              </a:ext>
            </a:extLst>
          </p:cNvPr>
          <p:cNvSpPr>
            <a:spLocks xmlns:a="http://schemas.openxmlformats.org/drawingml/2006/main" noGrp="1"/>
          </p:cNvSpPr>
          <p:nvPr/>
        </p:nvSpPr>
        <p:spPr>
          <a:xfrm xmlns:a="http://schemas.openxmlformats.org/drawingml/2006/main">
            <a:off x="685800" y="32385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00" b="0" i="0">
                <a:solidFill>
                  <a:srgbClr val="FFFFFF"/>
                </a:solidFill>
                <a:latin typeface="Arial"/>
                <a:ea typeface="Arial"/>
                <a:cs typeface="Arial"/>
              </a:defRPr>
            </a:pPr>
            <a:r>
              <a:rPr sz="2700" b="0" i="0">
                <a:solidFill>
                  <a:srgbClr val="FFFFFF"/>
                </a:solidFill>
                <a:latin typeface="Arial"/>
                <a:ea typeface="Arial"/>
                <a:cs typeface="Arial"/>
              </a:rPr>
              <a:t>11:20-11:30</a:t>
            </a:r>
          </a:p>
        </p:txBody>
      </p:sp>
      <p:sp>
        <p:nvSpPr>
          <p:cNvPr id="3" name="">
            <a:extLst xmlns:a="http://schemas.openxmlformats.org/drawingml/2006/main">
              <a:ext uri="{FF2B5EF4-FFF2-40B4-BE49-F238E27FC236}">
                <a16:creationId xmlns:a16="http://schemas.microsoft.com/office/drawing/2014/main" id="{A9ECB7A6-76AA-4208-B4DB-D93ED7CE1C28}"/>
              </a:ext>
            </a:extLst>
          </p:cNvPr>
          <p:cNvSpPr>
            <a:spLocks xmlns:a="http://schemas.openxmlformats.org/drawingml/2006/main" noGrp="1"/>
          </p:cNvSpPr>
          <p:nvPr/>
        </p:nvSpPr>
        <p:spPr>
          <a:xfrm xmlns:a="http://schemas.openxmlformats.org/drawingml/2006/main">
            <a:off x="685800" y="417195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i="0">
                <a:solidFill>
                  <a:srgbClr val="FFFFFF"/>
                </a:solidFill>
                <a:latin typeface="Arial"/>
                <a:ea typeface="Arial"/>
                <a:cs typeface="Arial"/>
              </a:defRPr>
            </a:pPr>
            <a:r>
              <a:rPr sz="1875" b="0" i="0">
                <a:solidFill>
                  <a:srgbClr val="FFFFFF"/>
                </a:solidFill>
                <a:latin typeface="Arial"/>
                <a:ea typeface="Arial"/>
                <a:cs typeface="Arial"/>
              </a:rPr>
              <a:t>After the break: build something that introduces you.</a:t>
            </a:r>
          </a:p>
        </p:txBody>
      </p:sp>
    </p:spTree>
    <p:extLst>
      <p:ext uri="{BB962C8B-B14F-4D97-AF65-F5344CB8AC3E}">
        <p14:creationId xmlns:p14="http://schemas.microsoft.com/office/powerpoint/2010/main" val="991942461"/>
      </p:ext>
    </p:extLst>
  </p:cSld>
</p:sld>
</file>

<file path=ppt/slides/slide12.xml><?xml version="1.0" encoding="utf-8"?>
<p:sld xmlns:p="http://schemas.openxmlformats.org/presentationml/2006/main">
  <p:cSld>
    <p:bg>
      <p:bgPr>
        <a:solidFill xmlns:a="http://schemas.openxmlformats.org/drawingml/2006/main">
          <a:srgbClr val="EDF5E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FBFCEAE-CA1E-4191-96E6-A905DE509B30}"/>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00" b="1" i="0">
                <a:solidFill>
                  <a:srgbClr val="173654"/>
                </a:solidFill>
                <a:latin typeface="Arial"/>
                <a:ea typeface="Arial"/>
                <a:cs typeface="Arial"/>
              </a:defRPr>
            </a:pPr>
            <a:r>
              <a:rPr sz="3000" b="1" i="0">
                <a:solidFill>
                  <a:srgbClr val="173654"/>
                </a:solidFill>
                <a:latin typeface="Arial"/>
                <a:ea typeface="Arial"/>
                <a:cs typeface="Arial"/>
              </a:rPr>
              <a:t>Project: introduce yourself</a:t>
            </a:r>
          </a:p>
        </p:txBody>
      </p:sp>
      <p:sp>
        <p:nvSpPr>
          <p:cNvPr id="2" name="">
            <a:extLst xmlns:a="http://schemas.openxmlformats.org/drawingml/2006/main">
              <a:ext uri="{FF2B5EF4-FFF2-40B4-BE49-F238E27FC236}">
                <a16:creationId xmlns:a16="http://schemas.microsoft.com/office/drawing/2014/main" id="{71EE0A95-4DDF-43B4-8D1B-F204FC4BB67C}"/>
              </a:ext>
            </a:extLst>
          </p:cNvPr>
          <p:cNvSpPr>
            <a:spLocks xmlns:a="http://schemas.openxmlformats.org/drawingml/2006/main" noGrp="1"/>
          </p:cNvSpPr>
          <p:nvPr/>
        </p:nvSpPr>
        <p:spPr>
          <a:xfrm xmlns:a="http://schemas.openxmlformats.org/drawingml/2006/main">
            <a:off x="704850" y="10096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i="0">
                <a:solidFill>
                  <a:srgbClr val="5D6B78"/>
                </a:solidFill>
                <a:latin typeface="Arial"/>
                <a:ea typeface="Arial"/>
                <a:cs typeface="Arial"/>
              </a:defRPr>
            </a:pPr>
            <a:r>
              <a:rPr sz="1575" b="0" i="0">
                <a:solidFill>
                  <a:srgbClr val="5D6B78"/>
                </a:solidFill>
                <a:latin typeface="Arial"/>
                <a:ea typeface="Arial"/>
                <a:cs typeface="Arial"/>
              </a:rPr>
              <a:t>Create a short Python program for a classmate to run</a:t>
            </a:r>
          </a:p>
        </p:txBody>
      </p:sp>
      <p:sp>
        <p:nvSpPr>
          <p:cNvPr id="3" name="">
            <a:extLst xmlns:a="http://schemas.openxmlformats.org/drawingml/2006/main">
              <a:ext uri="{FF2B5EF4-FFF2-40B4-BE49-F238E27FC236}">
                <a16:creationId xmlns:a16="http://schemas.microsoft.com/office/drawing/2014/main" id="{918C3C14-A5C1-49E0-93FE-711EAFEF921C}"/>
              </a:ext>
            </a:extLst>
          </p:cNvPr>
          <p:cNvSpPr>
            <a:spLocks xmlns:a="http://schemas.openxmlformats.org/drawingml/2006/main" noGrp="1"/>
          </p:cNvSpPr>
          <p:nvPr/>
        </p:nvSpPr>
        <p:spPr>
          <a:xfrm xmlns:a="http://schemas.openxmlformats.org/drawingml/2006/main">
            <a:off x="838200" y="171450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5F9F4B"/>
                </a:solidFill>
                <a:latin typeface="Arial"/>
                <a:ea typeface="Arial"/>
                <a:cs typeface="Arial"/>
              </a:defRPr>
            </a:pPr>
            <a:r>
              <a:rPr sz="2100" b="1" i="0">
                <a:solidFill>
                  <a:srgbClr val="5F9F4B"/>
                </a:solidFill>
                <a:latin typeface="Arial"/>
                <a:ea typeface="Arial"/>
                <a:cs typeface="Arial"/>
              </a:rPr>
              <a:t>Required</a:t>
            </a:r>
          </a:p>
        </p:txBody>
      </p:sp>
      <p:sp>
        <p:nvSpPr>
          <p:cNvPr id="4" name="">
            <a:extLst xmlns:a="http://schemas.openxmlformats.org/drawingml/2006/main">
              <a:ext uri="{FF2B5EF4-FFF2-40B4-BE49-F238E27FC236}">
                <a16:creationId xmlns:a16="http://schemas.microsoft.com/office/drawing/2014/main" id="{524DE84D-3EC3-4617-9E54-B3841A8DCA04}"/>
              </a:ext>
            </a:extLst>
          </p:cNvPr>
          <p:cNvSpPr>
            <a:spLocks xmlns:a="http://schemas.openxmlformats.org/drawingml/2006/main" noGrp="1"/>
          </p:cNvSpPr>
          <p:nvPr/>
        </p:nvSpPr>
        <p:spPr>
          <a:xfrm xmlns:a="http://schemas.openxmlformats.org/drawingml/2006/main">
            <a:off x="819150" y="2286000"/>
            <a:ext cx="51435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27000">
              <a:spcAft>
                <a:spcPts val="1000"/>
              </a:spcAft>
              <a:buChar char="•"/>
              <a:defRPr sz="1950">
                <a:solidFill>
                  <a:srgbClr val="172433"/>
                </a:solidFill>
                <a:latin typeface="Arial"/>
                <a:ea typeface="Arial"/>
                <a:cs typeface="Arial"/>
              </a:defRPr>
            </a:pPr>
            <a:r>
              <a:rPr sz="1950">
                <a:solidFill>
                  <a:srgbClr val="172433"/>
                </a:solidFill>
                <a:latin typeface="Arial"/>
                <a:ea typeface="Arial"/>
                <a:cs typeface="Arial"/>
              </a:rPr>
              <a:t>Your name</a:t>
            </a:r>
          </a:p>
          <a:p xmlns:a="http://schemas.openxmlformats.org/drawingml/2006/main">
            <a:pPr marL="254000" indent="-127000">
              <a:spcAft>
                <a:spcPts val="1000"/>
              </a:spcAft>
              <a:buChar char="•"/>
              <a:defRPr sz="1950">
                <a:solidFill>
                  <a:srgbClr val="172433"/>
                </a:solidFill>
                <a:latin typeface="Arial"/>
                <a:ea typeface="Arial"/>
                <a:cs typeface="Arial"/>
              </a:defRPr>
            </a:pPr>
            <a:r>
              <a:rPr sz="1950">
                <a:solidFill>
                  <a:srgbClr val="172433"/>
                </a:solidFill>
                <a:latin typeface="Arial"/>
                <a:ea typeface="Arial"/>
                <a:cs typeface="Arial"/>
              </a:rPr>
              <a:t>At least three facts about you</a:t>
            </a:r>
          </a:p>
          <a:p xmlns:a="http://schemas.openxmlformats.org/drawingml/2006/main">
            <a:pPr marL="254000" indent="-127000">
              <a:spcAft>
                <a:spcPts val="1000"/>
              </a:spcAft>
              <a:buChar char="•"/>
              <a:defRPr sz="1950">
                <a:solidFill>
                  <a:srgbClr val="172433"/>
                </a:solidFill>
                <a:latin typeface="Arial"/>
                <a:ea typeface="Arial"/>
                <a:cs typeface="Arial"/>
              </a:defRPr>
            </a:pPr>
            <a:r>
              <a:rPr sz="1950">
                <a:solidFill>
                  <a:srgbClr val="172433"/>
                </a:solidFill>
                <a:latin typeface="Arial"/>
                <a:ea typeface="Arial"/>
                <a:cs typeface="Arial"/>
              </a:rPr>
              <a:t>One goal for this course</a:t>
            </a:r>
          </a:p>
          <a:p xmlns:a="http://schemas.openxmlformats.org/drawingml/2006/main">
            <a:pPr marL="254000" indent="-127000">
              <a:spcAft>
                <a:spcPts val="1000"/>
              </a:spcAft>
              <a:buChar char="•"/>
              <a:defRPr sz="1950">
                <a:solidFill>
                  <a:srgbClr val="172433"/>
                </a:solidFill>
                <a:latin typeface="Arial"/>
                <a:ea typeface="Arial"/>
                <a:cs typeface="Arial"/>
              </a:defRPr>
            </a:pPr>
            <a:r>
              <a:rPr sz="1950">
                <a:solidFill>
                  <a:srgbClr val="172433"/>
                </a:solidFill>
                <a:latin typeface="Arial"/>
                <a:ea typeface="Arial"/>
                <a:cs typeface="Arial"/>
              </a:rPr>
              <a:t>At least two useful comments</a:t>
            </a:r>
          </a:p>
          <a:p xmlns:a="http://schemas.openxmlformats.org/drawingml/2006/main">
            <a:pPr marL="254000" indent="-127000">
              <a:spcAft>
                <a:spcPts val="1000"/>
              </a:spcAft>
              <a:buChar char="•"/>
              <a:defRPr sz="1950">
                <a:solidFill>
                  <a:srgbClr val="172433"/>
                </a:solidFill>
                <a:latin typeface="Arial"/>
                <a:ea typeface="Arial"/>
                <a:cs typeface="Arial"/>
              </a:defRPr>
            </a:pPr>
            <a:r>
              <a:rPr sz="1950">
                <a:solidFill>
                  <a:srgbClr val="172433"/>
                </a:solidFill>
                <a:latin typeface="Arial"/>
                <a:ea typeface="Arial"/>
                <a:cs typeface="Arial"/>
              </a:rPr>
              <a:t>A program that runs without errors</a:t>
            </a:r>
          </a:p>
        </p:txBody>
      </p:sp>
      <p:sp>
        <p:nvSpPr>
          <p:cNvPr id="5" name="">
            <a:extLst xmlns:a="http://schemas.openxmlformats.org/drawingml/2006/main">
              <a:ext uri="{FF2B5EF4-FFF2-40B4-BE49-F238E27FC236}">
                <a16:creationId xmlns:a16="http://schemas.microsoft.com/office/drawing/2014/main" id="{32DF1BFD-640C-4F26-BC45-FFAB1847FE32}"/>
              </a:ext>
            </a:extLst>
          </p:cNvPr>
          <p:cNvSpPr>
            <a:spLocks xmlns:a="http://schemas.openxmlformats.org/drawingml/2006/main" noGrp="1"/>
          </p:cNvSpPr>
          <p:nvPr/>
        </p:nvSpPr>
        <p:spPr>
          <a:xfrm xmlns:a="http://schemas.openxmlformats.org/drawingml/2006/main">
            <a:off x="6724650" y="1714500"/>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2F6F89"/>
                </a:solidFill>
                <a:latin typeface="Arial"/>
                <a:ea typeface="Arial"/>
                <a:cs typeface="Arial"/>
              </a:defRPr>
            </a:pPr>
            <a:r>
              <a:rPr sz="2100" b="1" i="0">
                <a:solidFill>
                  <a:srgbClr val="2F6F89"/>
                </a:solidFill>
                <a:latin typeface="Arial"/>
                <a:ea typeface="Arial"/>
                <a:cs typeface="Arial"/>
              </a:rPr>
              <a:t>Start here</a:t>
            </a:r>
          </a:p>
        </p:txBody>
      </p:sp>
      <p:sp>
        <p:nvSpPr>
          <p:cNvPr id="6" name="">
            <a:extLst xmlns:a="http://schemas.openxmlformats.org/drawingml/2006/main">
              <a:ext uri="{FF2B5EF4-FFF2-40B4-BE49-F238E27FC236}">
                <a16:creationId xmlns:a16="http://schemas.microsoft.com/office/drawing/2014/main" id="{D3CA5C99-65A5-4FD2-A29F-3F4084DF1173}"/>
              </a:ext>
            </a:extLst>
          </p:cNvPr>
          <p:cNvSpPr>
            <a:spLocks xmlns:a="http://schemas.openxmlformats.org/drawingml/2006/main" noGrp="1"/>
          </p:cNvSpPr>
          <p:nvPr/>
        </p:nvSpPr>
        <p:spPr>
          <a:xfrm xmlns:a="http://schemas.openxmlformats.org/drawingml/2006/main">
            <a:off x="6667500" y="2343150"/>
            <a:ext cx="4095750" cy="1143000"/>
          </a:xfrm>
          <a:prstGeom xmlns:a="http://schemas.openxmlformats.org/drawingml/2006/main" prst="roundRect">
            <a:avLst>
              <a:gd name="adj" fmla="val 6667"/>
            </a:avLst>
          </a:prstGeom>
          <a:solidFill xmlns:a="http://schemas.openxmlformats.org/drawingml/2006/main">
            <a:srgbClr val="173654"/>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i="0">
                <a:solidFill>
                  <a:srgbClr val="FFFFFF"/>
                </a:solidFill>
                <a:latin typeface="Consolas"/>
                <a:ea typeface="Consolas"/>
                <a:cs typeface="Consolas"/>
              </a:defRPr>
            </a:pPr>
            <a:r>
              <a:rPr sz="1875" b="0" i="0">
                <a:solidFill>
                  <a:srgbClr val="FFFFFF"/>
                </a:solidFill>
                <a:latin typeface="Consolas"/>
                <a:ea typeface="Consolas"/>
                <a:cs typeface="Consolas"/>
              </a:rPr>
              <a:t>week-01-python-basics/</a:t>
            </a:r>
          </a:p>
          <a:p xmlns:a="http://schemas.openxmlformats.org/drawingml/2006/main">
            <a:pPr>
              <a:defRPr sz="1875" b="0" i="0">
                <a:solidFill>
                  <a:srgbClr val="FFFFFF"/>
                </a:solidFill>
                <a:latin typeface="Consolas"/>
                <a:ea typeface="Consolas"/>
                <a:cs typeface="Consolas"/>
              </a:defRPr>
            </a:pPr>
            <a:r>
              <a:rPr sz="1875" b="0" i="0">
                <a:solidFill>
                  <a:srgbClr val="FFFFFF"/>
                </a:solidFill>
                <a:latin typeface="Consolas"/>
                <a:ea typeface="Consolas"/>
                <a:cs typeface="Consolas"/>
              </a:rPr>
              <a:t>assignment/starter.py</a:t>
            </a:r>
          </a:p>
        </p:txBody>
      </p:sp>
      <p:sp>
        <p:nvSpPr>
          <p:cNvPr id="7" name="">
            <a:extLst xmlns:a="http://schemas.openxmlformats.org/drawingml/2006/main">
              <a:ext uri="{FF2B5EF4-FFF2-40B4-BE49-F238E27FC236}">
                <a16:creationId xmlns:a16="http://schemas.microsoft.com/office/drawing/2014/main" id="{65A9F725-FA50-43F2-9BB1-49A0AED6DD36}"/>
              </a:ext>
            </a:extLst>
          </p:cNvPr>
          <p:cNvSpPr>
            <a:spLocks xmlns:a="http://schemas.openxmlformats.org/drawingml/2006/main" noGrp="1"/>
          </p:cNvSpPr>
          <p:nvPr/>
        </p:nvSpPr>
        <p:spPr>
          <a:xfrm xmlns:a="http://schemas.openxmlformats.org/drawingml/2006/main">
            <a:off x="6667500" y="4019550"/>
            <a:ext cx="4095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DF6765"/>
                </a:solidFill>
                <a:latin typeface="Arial"/>
                <a:ea typeface="Arial"/>
                <a:cs typeface="Arial"/>
              </a:defRPr>
            </a:pPr>
            <a:r>
              <a:rPr sz="1875" b="1" i="0">
                <a:solidFill>
                  <a:srgbClr val="DF6765"/>
                </a:solidFill>
                <a:latin typeface="Arial"/>
                <a:ea typeface="Arial"/>
                <a:cs typeface="Arial"/>
              </a:rPr>
              <a:t>Working and understandable beats complicated.</a:t>
            </a:r>
          </a:p>
        </p:txBody>
      </p:sp>
      <p:sp>
        <p:nvSpPr>
          <p:cNvPr id="8" name="">
            <a:extLst xmlns:a="http://schemas.openxmlformats.org/drawingml/2006/main">
              <a:ext uri="{FF2B5EF4-FFF2-40B4-BE49-F238E27FC236}">
                <a16:creationId xmlns:a16="http://schemas.microsoft.com/office/drawing/2014/main" id="{D74317CB-B55B-4DB4-8B63-DA2D75738C8D}"/>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i="0">
                <a:solidFill>
                  <a:srgbClr val="5D6B78"/>
                </a:solidFill>
                <a:latin typeface="Arial"/>
                <a:ea typeface="Arial"/>
                <a:cs typeface="Arial"/>
              </a:defRPr>
            </a:pPr>
            <a:r>
              <a:rPr sz="1200" b="0" i="0">
                <a:solidFill>
                  <a:srgbClr val="5D6B78"/>
                </a:solidFill>
                <a:latin typeface="Arial"/>
                <a:ea typeface="Arial"/>
                <a:cs typeface="Arial"/>
              </a:rPr>
              <a:t>11:30-12:20 | Project and peer testing</a:t>
            </a:r>
          </a:p>
        </p:txBody>
      </p:sp>
    </p:spTree>
    <p:extLst>
      <p:ext uri="{BB962C8B-B14F-4D97-AF65-F5344CB8AC3E}">
        <p14:creationId xmlns:p14="http://schemas.microsoft.com/office/powerpoint/2010/main" val="163307646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BA0C26B-F24A-489D-959D-594A86D1746A}"/>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00" b="1" i="0">
                <a:solidFill>
                  <a:srgbClr val="173654"/>
                </a:solidFill>
                <a:latin typeface="Arial"/>
                <a:ea typeface="Arial"/>
                <a:cs typeface="Arial"/>
              </a:defRPr>
            </a:pPr>
            <a:r>
              <a:rPr sz="3000" b="1" i="0">
                <a:solidFill>
                  <a:srgbClr val="173654"/>
                </a:solidFill>
                <a:latin typeface="Arial"/>
                <a:ea typeface="Arial"/>
                <a:cs typeface="Arial"/>
              </a:rPr>
              <a:t>Peer test and share</a:t>
            </a:r>
          </a:p>
        </p:txBody>
      </p:sp>
      <p:sp>
        <p:nvSpPr>
          <p:cNvPr id="2" name="">
            <a:extLst xmlns:a="http://schemas.openxmlformats.org/drawingml/2006/main">
              <a:ext uri="{FF2B5EF4-FFF2-40B4-BE49-F238E27FC236}">
                <a16:creationId xmlns:a16="http://schemas.microsoft.com/office/drawing/2014/main" id="{A366D86C-C6C8-43F5-9F94-FF67558FFC6B}"/>
              </a:ext>
            </a:extLst>
          </p:cNvPr>
          <p:cNvSpPr>
            <a:spLocks xmlns:a="http://schemas.openxmlformats.org/drawingml/2006/main" noGrp="1"/>
          </p:cNvSpPr>
          <p:nvPr/>
        </p:nvSpPr>
        <p:spPr>
          <a:xfrm xmlns:a="http://schemas.openxmlformats.org/drawingml/2006/main">
            <a:off x="704850" y="10096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i="0">
                <a:solidFill>
                  <a:srgbClr val="5D6B78"/>
                </a:solidFill>
                <a:latin typeface="Arial"/>
                <a:ea typeface="Arial"/>
                <a:cs typeface="Arial"/>
              </a:defRPr>
            </a:pPr>
            <a:r>
              <a:rPr sz="1575" b="0" i="0">
                <a:solidFill>
                  <a:srgbClr val="5D6B78"/>
                </a:solidFill>
                <a:latin typeface="Arial"/>
                <a:ea typeface="Arial"/>
                <a:cs typeface="Arial"/>
              </a:rPr>
              <a:t>Your partner runs the program on their computer</a:t>
            </a:r>
          </a:p>
        </p:txBody>
      </p:sp>
      <p:sp>
        <p:nvSpPr>
          <p:cNvPr id="3" name="">
            <a:extLst xmlns:a="http://schemas.openxmlformats.org/drawingml/2006/main">
              <a:ext uri="{FF2B5EF4-FFF2-40B4-BE49-F238E27FC236}">
                <a16:creationId xmlns:a16="http://schemas.microsoft.com/office/drawing/2014/main" id="{453DB96C-BC20-4754-A789-D65D3B06B066}"/>
              </a:ext>
            </a:extLst>
          </p:cNvPr>
          <p:cNvSpPr>
            <a:spLocks xmlns:a="http://schemas.openxmlformats.org/drawingml/2006/main" noGrp="1"/>
          </p:cNvSpPr>
          <p:nvPr/>
        </p:nvSpPr>
        <p:spPr>
          <a:xfrm xmlns:a="http://schemas.openxmlformats.org/drawingml/2006/main">
            <a:off x="1047750" y="1676400"/>
            <a:ext cx="99060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27000">
              <a:spcAft>
                <a:spcPts val="1200"/>
              </a:spcAft>
              <a:buChar char="•"/>
              <a:defRPr sz="2175">
                <a:solidFill>
                  <a:srgbClr val="172433"/>
                </a:solidFill>
                <a:latin typeface="Arial"/>
                <a:ea typeface="Arial"/>
                <a:cs typeface="Arial"/>
              </a:defRPr>
            </a:pPr>
            <a:r>
              <a:rPr sz="2175">
                <a:solidFill>
                  <a:srgbClr val="172433"/>
                </a:solidFill>
                <a:latin typeface="Arial"/>
                <a:ea typeface="Arial"/>
                <a:cs typeface="Arial"/>
              </a:rPr>
              <a:t>Run the program without editing it first</a:t>
            </a:r>
          </a:p>
          <a:p xmlns:a="http://schemas.openxmlformats.org/drawingml/2006/main">
            <a:pPr marL="254000" indent="-127000">
              <a:spcAft>
                <a:spcPts val="1200"/>
              </a:spcAft>
              <a:buChar char="•"/>
              <a:defRPr sz="2175">
                <a:solidFill>
                  <a:srgbClr val="172433"/>
                </a:solidFill>
                <a:latin typeface="Arial"/>
                <a:ea typeface="Arial"/>
                <a:cs typeface="Arial"/>
              </a:defRPr>
            </a:pPr>
            <a:r>
              <a:rPr sz="2175">
                <a:solidFill>
                  <a:srgbClr val="172433"/>
                </a:solidFill>
                <a:latin typeface="Arial"/>
                <a:ea typeface="Arial"/>
                <a:cs typeface="Arial"/>
              </a:rPr>
              <a:t>Describe what worked</a:t>
            </a:r>
          </a:p>
          <a:p xmlns:a="http://schemas.openxmlformats.org/drawingml/2006/main">
            <a:pPr marL="254000" indent="-127000">
              <a:spcAft>
                <a:spcPts val="1200"/>
              </a:spcAft>
              <a:buChar char="•"/>
              <a:defRPr sz="2175">
                <a:solidFill>
                  <a:srgbClr val="172433"/>
                </a:solidFill>
                <a:latin typeface="Arial"/>
                <a:ea typeface="Arial"/>
                <a:cs typeface="Arial"/>
              </a:defRPr>
            </a:pPr>
            <a:r>
              <a:rPr sz="2175">
                <a:solidFill>
                  <a:srgbClr val="172433"/>
                </a:solidFill>
                <a:latin typeface="Arial"/>
                <a:ea typeface="Arial"/>
                <a:cs typeface="Arial"/>
              </a:rPr>
              <a:t>Copy the complete error message if something failed</a:t>
            </a:r>
          </a:p>
          <a:p xmlns:a="http://schemas.openxmlformats.org/drawingml/2006/main">
            <a:pPr marL="254000" indent="-127000">
              <a:spcAft>
                <a:spcPts val="1200"/>
              </a:spcAft>
              <a:buChar char="•"/>
              <a:defRPr sz="2175">
                <a:solidFill>
                  <a:srgbClr val="172433"/>
                </a:solidFill>
                <a:latin typeface="Arial"/>
                <a:ea typeface="Arial"/>
                <a:cs typeface="Arial"/>
              </a:defRPr>
            </a:pPr>
            <a:r>
              <a:rPr sz="2175">
                <a:solidFill>
                  <a:srgbClr val="172433"/>
                </a:solidFill>
                <a:latin typeface="Arial"/>
                <a:ea typeface="Arial"/>
                <a:cs typeface="Arial"/>
              </a:rPr>
              <a:t>Suggest one improvement that keeps the project small</a:t>
            </a:r>
          </a:p>
          <a:p xmlns:a="http://schemas.openxmlformats.org/drawingml/2006/main">
            <a:pPr marL="254000" indent="-127000">
              <a:spcAft>
                <a:spcPts val="1200"/>
              </a:spcAft>
              <a:buChar char="•"/>
              <a:defRPr sz="2175">
                <a:solidFill>
                  <a:srgbClr val="172433"/>
                </a:solidFill>
                <a:latin typeface="Arial"/>
                <a:ea typeface="Arial"/>
                <a:cs typeface="Arial"/>
              </a:defRPr>
            </a:pPr>
            <a:r>
              <a:rPr sz="2175">
                <a:solidFill>
                  <a:srgbClr val="172433"/>
                </a:solidFill>
                <a:latin typeface="Arial"/>
                <a:ea typeface="Arial"/>
                <a:cs typeface="Arial"/>
              </a:rPr>
              <a:t>Return the program and let the author make the change</a:t>
            </a:r>
          </a:p>
        </p:txBody>
      </p:sp>
      <p:sp>
        <p:nvSpPr>
          <p:cNvPr id="4" name="">
            <a:extLst xmlns:a="http://schemas.openxmlformats.org/drawingml/2006/main">
              <a:ext uri="{FF2B5EF4-FFF2-40B4-BE49-F238E27FC236}">
                <a16:creationId xmlns:a16="http://schemas.microsoft.com/office/drawing/2014/main" id="{48025FB1-28BC-4610-8D39-3AEA3DB6A62F}"/>
              </a:ext>
            </a:extLst>
          </p:cNvPr>
          <p:cNvSpPr>
            <a:spLocks xmlns:a="http://schemas.openxmlformats.org/drawingml/2006/main" noGrp="1"/>
          </p:cNvSpPr>
          <p:nvPr/>
        </p:nvSpPr>
        <p:spPr>
          <a:xfrm xmlns:a="http://schemas.openxmlformats.org/drawingml/2006/main">
            <a:off x="1504950" y="5581650"/>
            <a:ext cx="904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5F9F4B"/>
                </a:solidFill>
                <a:latin typeface="Arial"/>
                <a:ea typeface="Arial"/>
                <a:cs typeface="Arial"/>
              </a:defRPr>
            </a:pPr>
            <a:r>
              <a:rPr sz="2100" b="1" i="0">
                <a:solidFill>
                  <a:srgbClr val="5F9F4B"/>
                </a:solidFill>
                <a:latin typeface="Arial"/>
                <a:ea typeface="Arial"/>
                <a:cs typeface="Arial"/>
              </a:rPr>
              <a:t>Share one debugging discovery with the class.</a:t>
            </a:r>
          </a:p>
        </p:txBody>
      </p:sp>
      <p:sp>
        <p:nvSpPr>
          <p:cNvPr id="5" name="">
            <a:extLst xmlns:a="http://schemas.openxmlformats.org/drawingml/2006/main">
              <a:ext uri="{FF2B5EF4-FFF2-40B4-BE49-F238E27FC236}">
                <a16:creationId xmlns:a16="http://schemas.microsoft.com/office/drawing/2014/main" id="{F1B03BEC-E8D7-42B5-9D97-6E0251B2F7A5}"/>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i="0">
                <a:solidFill>
                  <a:srgbClr val="5D6B78"/>
                </a:solidFill>
                <a:latin typeface="Arial"/>
                <a:ea typeface="Arial"/>
                <a:cs typeface="Arial"/>
              </a:defRPr>
            </a:pPr>
            <a:r>
              <a:rPr sz="1200" b="0" i="0">
                <a:solidFill>
                  <a:srgbClr val="5D6B78"/>
                </a:solidFill>
                <a:latin typeface="Arial"/>
                <a:ea typeface="Arial"/>
                <a:cs typeface="Arial"/>
              </a:rPr>
              <a:t>12:20-12:40 | Share, debug, and peer review</a:t>
            </a:r>
          </a:p>
        </p:txBody>
      </p:sp>
    </p:spTree>
    <p:extLst>
      <p:ext uri="{BB962C8B-B14F-4D97-AF65-F5344CB8AC3E}">
        <p14:creationId xmlns:p14="http://schemas.microsoft.com/office/powerpoint/2010/main" val="51861682"/>
      </p:ext>
    </p:extLst>
  </p:cSld>
</p:sld>
</file>

<file path=ppt/slides/slide14.xml><?xml version="1.0" encoding="utf-8"?>
<p:sld xmlns:p="http://schemas.openxmlformats.org/presentationml/2006/main">
  <p:cSld>
    <p:bg>
      <p:bgPr>
        <a:solidFill xmlns:a="http://schemas.openxmlformats.org/drawingml/2006/main">
          <a:srgbClr val="17365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679A28D-58E0-4822-AAB2-5FEB74525B46}"/>
              </a:ext>
            </a:extLst>
          </p:cNvPr>
          <p:cNvSpPr>
            <a:spLocks xmlns:a="http://schemas.openxmlformats.org/drawingml/2006/main" noGrp="1"/>
          </p:cNvSpPr>
          <p:nvPr/>
        </p:nvSpPr>
        <p:spPr>
          <a:xfrm xmlns:a="http://schemas.openxmlformats.org/drawingml/2006/main">
            <a:off x="685800" y="4953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i="0">
                <a:solidFill>
                  <a:srgbClr val="FFFFFF"/>
                </a:solidFill>
                <a:latin typeface="Arial"/>
                <a:ea typeface="Arial"/>
                <a:cs typeface="Arial"/>
              </a:defRPr>
            </a:pPr>
            <a:r>
              <a:rPr sz="3300" b="1" i="0">
                <a:solidFill>
                  <a:srgbClr val="FFFFFF"/>
                </a:solidFill>
                <a:latin typeface="Arial"/>
                <a:ea typeface="Arial"/>
                <a:cs typeface="Arial"/>
              </a:rPr>
              <a:t>Exit ticket</a:t>
            </a:r>
          </a:p>
        </p:txBody>
      </p:sp>
      <p:sp>
        <p:nvSpPr>
          <p:cNvPr id="2" name="">
            <a:extLst xmlns:a="http://schemas.openxmlformats.org/drawingml/2006/main">
              <a:ext uri="{FF2B5EF4-FFF2-40B4-BE49-F238E27FC236}">
                <a16:creationId xmlns:a16="http://schemas.microsoft.com/office/drawing/2014/main" id="{0024EF52-4BD6-447A-902C-4123D387D791}"/>
              </a:ext>
            </a:extLst>
          </p:cNvPr>
          <p:cNvSpPr>
            <a:spLocks xmlns:a="http://schemas.openxmlformats.org/drawingml/2006/main" noGrp="1"/>
          </p:cNvSpPr>
          <p:nvPr/>
        </p:nvSpPr>
        <p:spPr>
          <a:xfrm xmlns:a="http://schemas.openxmlformats.org/drawingml/2006/main">
            <a:off x="723900" y="1219200"/>
            <a:ext cx="571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i="0">
                <a:solidFill>
                  <a:srgbClr val="B9DBA8"/>
                </a:solidFill>
                <a:latin typeface="Arial"/>
                <a:ea typeface="Arial"/>
                <a:cs typeface="Arial"/>
              </a:defRPr>
            </a:pPr>
            <a:r>
              <a:rPr sz="1800" b="0" i="0">
                <a:solidFill>
                  <a:srgbClr val="B9DBA8"/>
                </a:solidFill>
                <a:latin typeface="Arial"/>
                <a:ea typeface="Arial"/>
                <a:cs typeface="Arial"/>
              </a:rPr>
              <a:t>Answer before you leave</a:t>
            </a:r>
          </a:p>
        </p:txBody>
      </p:sp>
      <p:sp>
        <p:nvSpPr>
          <p:cNvPr id="3" name="">
            <a:extLst xmlns:a="http://schemas.openxmlformats.org/drawingml/2006/main">
              <a:ext uri="{FF2B5EF4-FFF2-40B4-BE49-F238E27FC236}">
                <a16:creationId xmlns:a16="http://schemas.microsoft.com/office/drawing/2014/main" id="{9D00C9CC-5582-4977-A6CD-2AAC7DB3E469}"/>
              </a:ext>
            </a:extLst>
          </p:cNvPr>
          <p:cNvSpPr>
            <a:spLocks xmlns:a="http://schemas.openxmlformats.org/drawingml/2006/main" noGrp="1"/>
          </p:cNvSpPr>
          <p:nvPr/>
        </p:nvSpPr>
        <p:spPr>
          <a:xfrm xmlns:a="http://schemas.openxmlformats.org/drawingml/2006/main">
            <a:off x="838200" y="2038350"/>
            <a:ext cx="66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i="0">
                <a:solidFill>
                  <a:srgbClr val="DF6765"/>
                </a:solidFill>
                <a:latin typeface="Arial"/>
                <a:ea typeface="Arial"/>
                <a:cs typeface="Arial"/>
              </a:defRPr>
            </a:pPr>
            <a:r>
              <a:rPr sz="3600" b="1" i="0">
                <a:solidFill>
                  <a:srgbClr val="DF6765"/>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88123B61-90AF-473E-AE5C-037612AD16DF}"/>
              </a:ext>
            </a:extLst>
          </p:cNvPr>
          <p:cNvSpPr>
            <a:spLocks xmlns:a="http://schemas.openxmlformats.org/drawingml/2006/main" noGrp="1"/>
          </p:cNvSpPr>
          <p:nvPr/>
        </p:nvSpPr>
        <p:spPr>
          <a:xfrm xmlns:a="http://schemas.openxmlformats.org/drawingml/2006/main">
            <a:off x="1714500" y="2038350"/>
            <a:ext cx="885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i="0">
                <a:solidFill>
                  <a:srgbClr val="FFFFFF"/>
                </a:solidFill>
                <a:latin typeface="Arial"/>
                <a:ea typeface="Arial"/>
                <a:cs typeface="Arial"/>
              </a:defRPr>
            </a:pPr>
            <a:r>
              <a:rPr sz="2325" b="0" i="0">
                <a:solidFill>
                  <a:srgbClr val="FFFFFF"/>
                </a:solidFill>
                <a:latin typeface="Arial"/>
                <a:ea typeface="Arial"/>
                <a:cs typeface="Arial"/>
              </a:rPr>
              <a:t>What did you make today?</a:t>
            </a:r>
          </a:p>
        </p:txBody>
      </p:sp>
      <p:sp>
        <p:nvSpPr>
          <p:cNvPr id="5" name="">
            <a:extLst xmlns:a="http://schemas.openxmlformats.org/drawingml/2006/main">
              <a:ext uri="{FF2B5EF4-FFF2-40B4-BE49-F238E27FC236}">
                <a16:creationId xmlns:a16="http://schemas.microsoft.com/office/drawing/2014/main" id="{B5D8DC3C-37DA-4DBF-AEA6-E716F4148C9E}"/>
              </a:ext>
            </a:extLst>
          </p:cNvPr>
          <p:cNvSpPr>
            <a:spLocks xmlns:a="http://schemas.openxmlformats.org/drawingml/2006/main" noGrp="1"/>
          </p:cNvSpPr>
          <p:nvPr/>
        </p:nvSpPr>
        <p:spPr>
          <a:xfrm xmlns:a="http://schemas.openxmlformats.org/drawingml/2006/main">
            <a:off x="838200" y="3162300"/>
            <a:ext cx="66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i="0">
                <a:solidFill>
                  <a:srgbClr val="5F9F4B"/>
                </a:solidFill>
                <a:latin typeface="Arial"/>
                <a:ea typeface="Arial"/>
                <a:cs typeface="Arial"/>
              </a:defRPr>
            </a:pPr>
            <a:r>
              <a:rPr sz="3600" b="1" i="0">
                <a:solidFill>
                  <a:srgbClr val="5F9F4B"/>
                </a:solidFill>
                <a:latin typeface="Arial"/>
                <a:ea typeface="Arial"/>
                <a:cs typeface="Arial"/>
              </a:rPr>
              <a:t>2</a:t>
            </a:r>
          </a:p>
        </p:txBody>
      </p:sp>
      <p:sp>
        <p:nvSpPr>
          <p:cNvPr id="6" name="">
            <a:extLst xmlns:a="http://schemas.openxmlformats.org/drawingml/2006/main">
              <a:ext uri="{FF2B5EF4-FFF2-40B4-BE49-F238E27FC236}">
                <a16:creationId xmlns:a16="http://schemas.microsoft.com/office/drawing/2014/main" id="{3CB08CC9-FCD9-473D-AA7A-9E539CD56B36}"/>
              </a:ext>
            </a:extLst>
          </p:cNvPr>
          <p:cNvSpPr>
            <a:spLocks xmlns:a="http://schemas.openxmlformats.org/drawingml/2006/main" noGrp="1"/>
          </p:cNvSpPr>
          <p:nvPr/>
        </p:nvSpPr>
        <p:spPr>
          <a:xfrm xmlns:a="http://schemas.openxmlformats.org/drawingml/2006/main">
            <a:off x="1714500" y="3162300"/>
            <a:ext cx="885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i="0">
                <a:solidFill>
                  <a:srgbClr val="FFFFFF"/>
                </a:solidFill>
                <a:latin typeface="Arial"/>
                <a:ea typeface="Arial"/>
                <a:cs typeface="Arial"/>
              </a:defRPr>
            </a:pPr>
            <a:r>
              <a:rPr sz="2325" b="0" i="0">
                <a:solidFill>
                  <a:srgbClr val="FFFFFF"/>
                </a:solidFill>
                <a:latin typeface="Arial"/>
                <a:ea typeface="Arial"/>
                <a:cs typeface="Arial"/>
              </a:rPr>
              <a:t>What error did you encounter or repair?</a:t>
            </a:r>
          </a:p>
        </p:txBody>
      </p:sp>
      <p:sp>
        <p:nvSpPr>
          <p:cNvPr id="7" name="">
            <a:extLst xmlns:a="http://schemas.openxmlformats.org/drawingml/2006/main">
              <a:ext uri="{FF2B5EF4-FFF2-40B4-BE49-F238E27FC236}">
                <a16:creationId xmlns:a16="http://schemas.microsoft.com/office/drawing/2014/main" id="{4B4FAECE-32BD-4BDF-AA1E-D50C31D495EB}"/>
              </a:ext>
            </a:extLst>
          </p:cNvPr>
          <p:cNvSpPr>
            <a:spLocks xmlns:a="http://schemas.openxmlformats.org/drawingml/2006/main" noGrp="1"/>
          </p:cNvSpPr>
          <p:nvPr/>
        </p:nvSpPr>
        <p:spPr>
          <a:xfrm xmlns:a="http://schemas.openxmlformats.org/drawingml/2006/main">
            <a:off x="838200" y="4286250"/>
            <a:ext cx="66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i="0">
                <a:solidFill>
                  <a:srgbClr val="7FC6D1"/>
                </a:solidFill>
                <a:latin typeface="Arial"/>
                <a:ea typeface="Arial"/>
                <a:cs typeface="Arial"/>
              </a:defRPr>
            </a:pPr>
            <a:r>
              <a:rPr sz="3600" b="1" i="0">
                <a:solidFill>
                  <a:srgbClr val="7FC6D1"/>
                </a:solidFill>
                <a:latin typeface="Arial"/>
                <a:ea typeface="Arial"/>
                <a:cs typeface="Arial"/>
              </a:rPr>
              <a:t>3</a:t>
            </a:r>
          </a:p>
        </p:txBody>
      </p:sp>
      <p:sp>
        <p:nvSpPr>
          <p:cNvPr id="8" name="">
            <a:extLst xmlns:a="http://schemas.openxmlformats.org/drawingml/2006/main">
              <a:ext uri="{FF2B5EF4-FFF2-40B4-BE49-F238E27FC236}">
                <a16:creationId xmlns:a16="http://schemas.microsoft.com/office/drawing/2014/main" id="{6E734038-9C87-4403-9ABF-0E77BC4E379E}"/>
              </a:ext>
            </a:extLst>
          </p:cNvPr>
          <p:cNvSpPr>
            <a:spLocks xmlns:a="http://schemas.openxmlformats.org/drawingml/2006/main" noGrp="1"/>
          </p:cNvSpPr>
          <p:nvPr/>
        </p:nvSpPr>
        <p:spPr>
          <a:xfrm xmlns:a="http://schemas.openxmlformats.org/drawingml/2006/main">
            <a:off x="1714500" y="4286250"/>
            <a:ext cx="885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i="0">
                <a:solidFill>
                  <a:srgbClr val="FFFFFF"/>
                </a:solidFill>
                <a:latin typeface="Arial"/>
                <a:ea typeface="Arial"/>
                <a:cs typeface="Arial"/>
              </a:defRPr>
            </a:pPr>
            <a:r>
              <a:rPr sz="2325" b="0" i="0">
                <a:solidFill>
                  <a:srgbClr val="FFFFFF"/>
                </a:solidFill>
                <a:latin typeface="Arial"/>
                <a:ea typeface="Arial"/>
                <a:cs typeface="Arial"/>
              </a:rPr>
              <a:t>What support do you need next Saturday?</a:t>
            </a:r>
          </a:p>
        </p:txBody>
      </p:sp>
      <p:sp>
        <p:nvSpPr>
          <p:cNvPr id="9" name="">
            <a:extLst xmlns:a="http://schemas.openxmlformats.org/drawingml/2006/main">
              <a:ext uri="{FF2B5EF4-FFF2-40B4-BE49-F238E27FC236}">
                <a16:creationId xmlns:a16="http://schemas.microsoft.com/office/drawing/2014/main" id="{4D719E78-5919-4C0C-A615-AF4F4AD7673B}"/>
              </a:ext>
            </a:extLst>
          </p:cNvPr>
          <p:cNvSpPr>
            <a:spLocks xmlns:a="http://schemas.openxmlformats.org/drawingml/2006/main" noGrp="1"/>
          </p:cNvSpPr>
          <p:nvPr/>
        </p:nvSpPr>
        <p:spPr>
          <a:xfrm xmlns:a="http://schemas.openxmlformats.org/drawingml/2006/main">
            <a:off x="952500" y="567690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i="0">
                <a:solidFill>
                  <a:srgbClr val="FFFFFF"/>
                </a:solidFill>
                <a:latin typeface="Arial"/>
                <a:ea typeface="Arial"/>
                <a:cs typeface="Arial"/>
              </a:defRPr>
            </a:pPr>
            <a:r>
              <a:rPr sz="1800" b="0" i="0">
                <a:solidFill>
                  <a:srgbClr val="FFFFFF"/>
                </a:solidFill>
                <a:latin typeface="Arial"/>
                <a:ea typeface="Arial"/>
                <a:cs typeface="Arial"/>
              </a:rPr>
              <a:t>Save your work and show your instructor the exit ticket.</a:t>
            </a:r>
          </a:p>
        </p:txBody>
      </p:sp>
    </p:spTree>
    <p:extLst>
      <p:ext uri="{BB962C8B-B14F-4D97-AF65-F5344CB8AC3E}">
        <p14:creationId xmlns:p14="http://schemas.microsoft.com/office/powerpoint/2010/main" val="5668519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2026-10-03T01:14:59.2190000Z</dcterms:created>
  <dcterms:modified xsi:type="dcterms:W3CDTF">2026-10-03T01:14:59.2190000Z</dcterms:modified>
</coreProperties>
</file>